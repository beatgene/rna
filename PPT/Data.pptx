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9" r:id="rId3"/>
    <p:sldId id="260" r:id="rId4"/>
    <p:sldId id="264" r:id="rId5"/>
    <p:sldId id="261" r:id="rId6"/>
    <p:sldId id="265" r:id="rId7"/>
    <p:sldId id="268" r:id="rId8"/>
    <p:sldId id="262" r:id="rId9"/>
    <p:sldId id="263" r:id="rId10"/>
    <p:sldId id="267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632" autoAdjust="0"/>
  </p:normalViewPr>
  <p:slideViewPr>
    <p:cSldViewPr snapToGrid="0">
      <p:cViewPr varScale="1">
        <p:scale>
          <a:sx n="122" d="100"/>
          <a:sy n="122" d="100"/>
        </p:scale>
        <p:origin x="1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1A416A-5BE7-4FA7-A9B8-7F4E880BB61D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9A364-1080-4FF3-83B3-242A2827F5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39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下载脚本在</a:t>
            </a:r>
            <a:r>
              <a:rPr lang="en-US" altLang="zh-CN" dirty="0"/>
              <a:t>RNA\Code\</a:t>
            </a:r>
            <a:r>
              <a:rPr lang="en-US" altLang="zh-CN" dirty="0" err="1"/>
              <a:t>Download_PDB_RAW</a:t>
            </a:r>
            <a:r>
              <a:rPr lang="zh-CN" altLang="en-US" dirty="0"/>
              <a:t>中，第一次</a:t>
            </a:r>
            <a:r>
              <a:rPr lang="en-US" altLang="zh-CN" dirty="0"/>
              <a:t>1979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 后来筛去</a:t>
            </a:r>
            <a:r>
              <a:rPr lang="en-US" altLang="zh-CN" dirty="0"/>
              <a:t>5</a:t>
            </a:r>
            <a:r>
              <a:rPr lang="zh-CN" altLang="en-US" dirty="0"/>
              <a:t>个 最终</a:t>
            </a:r>
            <a:r>
              <a:rPr lang="en-US" altLang="zh-CN" dirty="0"/>
              <a:t>2241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2241+5</a:t>
            </a:r>
            <a:r>
              <a:rPr lang="zh-CN" altLang="en-US" dirty="0"/>
              <a:t>，储存在实验室服务器</a:t>
            </a:r>
            <a:r>
              <a:rPr lang="en-US" altLang="zh-CN" dirty="0"/>
              <a:t>~/</a:t>
            </a:r>
            <a:r>
              <a:rPr lang="en-US" altLang="zh-CN" dirty="0" err="1"/>
              <a:t>pdb_data</a:t>
            </a:r>
            <a:r>
              <a:rPr lang="zh-CN" altLang="en-US" dirty="0"/>
              <a:t>路径下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下载的日志本地储存在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en-US" altLang="zh-CN" dirty="0"/>
              <a:t>\PDB_RAW</a:t>
            </a:r>
            <a:r>
              <a:rPr lang="zh-CN" altLang="en-US" dirty="0"/>
              <a:t>下，实验室服务器储存在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en-US" altLang="zh-CN" dirty="0"/>
              <a:t>/PDB_RAW</a:t>
            </a:r>
            <a:r>
              <a:rPr lang="zh-CN" altLang="en-US" dirty="0"/>
              <a:t>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另外还下载了</a:t>
            </a:r>
            <a:r>
              <a:rPr lang="en-US" altLang="zh-CN" dirty="0"/>
              <a:t>77</a:t>
            </a:r>
            <a:r>
              <a:rPr lang="zh-CN" altLang="en-US" dirty="0"/>
              <a:t>个混合的</a:t>
            </a:r>
            <a:r>
              <a:rPr lang="en-US" altLang="zh-CN" dirty="0" err="1"/>
              <a:t>cif</a:t>
            </a:r>
            <a:r>
              <a:rPr lang="zh-CN" altLang="en-US" dirty="0"/>
              <a:t>文件 不相干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2319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22DD-048B-3104-F5CC-756F7942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A3A786-C05B-1107-CB88-7107B1195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0AE549B-5A50-C93A-5E9D-6A8875BC0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先按</a:t>
            </a:r>
            <a:r>
              <a:rPr lang="en-US" altLang="zh-CN" dirty="0" err="1"/>
              <a:t>cif</a:t>
            </a:r>
            <a:r>
              <a:rPr lang="zh-CN" altLang="en-US" dirty="0"/>
              <a:t>文件发布时间分训练集、验证集和测试集，之后测试集对训练集与验证集进行去除同源序列，之后内部去冗余。最终训练集</a:t>
            </a:r>
            <a:r>
              <a:rPr lang="en-US" altLang="zh-CN" dirty="0"/>
              <a:t>:1795  </a:t>
            </a:r>
            <a:r>
              <a:rPr lang="zh-CN" altLang="en-US" dirty="0"/>
              <a:t>验证集</a:t>
            </a:r>
            <a:r>
              <a:rPr lang="en-US" altLang="zh-CN" dirty="0"/>
              <a:t>:116   </a:t>
            </a:r>
            <a:r>
              <a:rPr lang="zh-CN" altLang="en-US" dirty="0"/>
              <a:t>测试集</a:t>
            </a:r>
            <a:r>
              <a:rPr lang="en-US" altLang="zh-CN" dirty="0"/>
              <a:t>:101   </a:t>
            </a:r>
            <a:r>
              <a:rPr lang="zh-CN" altLang="en-US" dirty="0"/>
              <a:t>注意</a:t>
            </a:r>
            <a:r>
              <a:rPr lang="en-US" altLang="zh-CN" dirty="0"/>
              <a:t>:</a:t>
            </a:r>
            <a:r>
              <a:rPr lang="zh-CN" altLang="en-US" dirty="0"/>
              <a:t>去除同源序列有这种情况</a:t>
            </a:r>
            <a:r>
              <a:rPr lang="en-US" altLang="zh-CN" dirty="0"/>
              <a:t>:</a:t>
            </a:r>
            <a:r>
              <a:rPr lang="zh-CN" altLang="en-US" dirty="0"/>
              <a:t>一个</a:t>
            </a:r>
            <a:r>
              <a:rPr lang="en-US" altLang="zh-CN" dirty="0" err="1"/>
              <a:t>cif</a:t>
            </a:r>
            <a:r>
              <a:rPr lang="zh-CN" altLang="en-US" dirty="0"/>
              <a:t>文件中两条</a:t>
            </a:r>
            <a:r>
              <a:rPr lang="en-US" altLang="zh-CN" dirty="0"/>
              <a:t>RNA</a:t>
            </a:r>
            <a:r>
              <a:rPr lang="zh-CN" altLang="en-US" dirty="0"/>
              <a:t>链 一条去除了 另一条没有去除。最后比较的时候没有去除的还可以比较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分类脚本在</a:t>
            </a:r>
            <a:r>
              <a:rPr lang="en-US" altLang="zh-CN" dirty="0"/>
              <a:t>RNA\Code\</a:t>
            </a:r>
            <a:r>
              <a:rPr lang="en-US" altLang="zh-CN" dirty="0" err="1"/>
              <a:t>Split_RNA_dataset</a:t>
            </a:r>
            <a:r>
              <a:rPr lang="zh-CN" altLang="en-US" dirty="0"/>
              <a:t>路径下  最终结果储存在实验室服务器</a:t>
            </a:r>
            <a:r>
              <a:rPr lang="en-US" altLang="zh-CN" dirty="0"/>
              <a:t>~/Data</a:t>
            </a:r>
            <a:r>
              <a:rPr lang="zh-CN" altLang="en-US" dirty="0"/>
              <a:t>中，以</a:t>
            </a:r>
            <a:r>
              <a:rPr lang="en-US" altLang="zh-CN" dirty="0" err="1"/>
              <a:t>PDB_id</a:t>
            </a:r>
            <a:r>
              <a:rPr lang="zh-CN" altLang="en-US" dirty="0"/>
              <a:t>当作文件夹名字保存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分类日志本地在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zh-CN" altLang="en-US" dirty="0"/>
              <a:t>中，实验室服务器在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8028EA-CE8D-BF13-C5DF-9E5E24C5A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4169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6E6C-F8F0-8C44-204A-59F9F33A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D48925-D089-ED44-E3C2-21B5FB06BC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490BFF-E6A7-70DC-4F24-2F0E7E4E5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这一步主要包括两步</a:t>
            </a:r>
            <a:r>
              <a:rPr lang="en-US" altLang="zh-CN" dirty="0"/>
              <a:t>:1.</a:t>
            </a:r>
            <a:r>
              <a:rPr lang="zh-CN" altLang="en-US" dirty="0"/>
              <a:t>生成简单的</a:t>
            </a:r>
            <a:r>
              <a:rPr lang="en-US" altLang="zh-CN" dirty="0"/>
              <a:t>Json</a:t>
            </a:r>
            <a:r>
              <a:rPr lang="zh-CN" altLang="en-US" dirty="0"/>
              <a:t>文件 这一步已经完成 生成</a:t>
            </a:r>
            <a:r>
              <a:rPr lang="en-US" altLang="zh-CN" dirty="0"/>
              <a:t>2241(</a:t>
            </a:r>
            <a:r>
              <a:rPr lang="zh-CN" altLang="en-US" dirty="0"/>
              <a:t>实际</a:t>
            </a:r>
            <a:r>
              <a:rPr lang="en-US" altLang="zh-CN" dirty="0"/>
              <a:t>2241+5)</a:t>
            </a:r>
            <a:r>
              <a:rPr lang="zh-CN" altLang="en-US" dirty="0"/>
              <a:t>个</a:t>
            </a:r>
            <a:r>
              <a:rPr lang="en-US" altLang="zh-CN" dirty="0"/>
              <a:t>Json</a:t>
            </a:r>
            <a:r>
              <a:rPr lang="zh-CN" altLang="en-US" dirty="0"/>
              <a:t>文件 保存在实验室服务器的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Simple_json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en-US" altLang="zh-CN" dirty="0"/>
              <a:t>                               2.</a:t>
            </a:r>
            <a:r>
              <a:rPr lang="zh-CN" altLang="en-US" dirty="0"/>
              <a:t>生成</a:t>
            </a:r>
            <a:r>
              <a:rPr lang="en-US" altLang="zh-CN" dirty="0"/>
              <a:t>final-updated</a:t>
            </a:r>
            <a:r>
              <a:rPr lang="zh-CN" altLang="en-US" dirty="0"/>
              <a:t>的</a:t>
            </a:r>
            <a:r>
              <a:rPr lang="en-US" altLang="zh-CN" dirty="0"/>
              <a:t>Json</a:t>
            </a:r>
            <a:r>
              <a:rPr lang="zh-CN" altLang="en-US" dirty="0"/>
              <a:t>文件和对应的</a:t>
            </a:r>
            <a:r>
              <a:rPr lang="en-US" altLang="zh-CN" dirty="0"/>
              <a:t>prep</a:t>
            </a:r>
            <a:r>
              <a:rPr lang="zh-CN" altLang="en-US" dirty="0"/>
              <a:t>文件夹，</a:t>
            </a:r>
            <a:r>
              <a:rPr lang="en-US" altLang="zh-CN" dirty="0"/>
              <a:t>final-updated</a:t>
            </a:r>
            <a:r>
              <a:rPr lang="zh-CN" altLang="en-US" dirty="0"/>
              <a:t>的</a:t>
            </a:r>
            <a:r>
              <a:rPr lang="en-US" altLang="zh-CN" dirty="0"/>
              <a:t>Json</a:t>
            </a:r>
            <a:r>
              <a:rPr lang="zh-CN" altLang="en-US" dirty="0"/>
              <a:t>文件保存在实验室服务器的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Simple_json</a:t>
            </a:r>
            <a:r>
              <a:rPr lang="en-US" altLang="zh-CN" dirty="0"/>
              <a:t> </a:t>
            </a:r>
            <a:r>
              <a:rPr lang="zh-CN" altLang="en-US" dirty="0"/>
              <a:t>已经生成</a:t>
            </a:r>
            <a:r>
              <a:rPr lang="en-US" altLang="zh-CN" dirty="0"/>
              <a:t>2232</a:t>
            </a:r>
            <a:r>
              <a:rPr lang="zh-CN" altLang="en-US" dirty="0"/>
              <a:t>个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2227+5)</a:t>
            </a:r>
          </a:p>
          <a:p>
            <a:r>
              <a:rPr lang="en-US" altLang="zh-CN" dirty="0"/>
              <a:t>                                                                                                                  prep</a:t>
            </a:r>
            <a:r>
              <a:rPr lang="zh-CN" altLang="en-US" dirty="0"/>
              <a:t>文件夹保存在实验室服务器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Complex_json</a:t>
            </a:r>
            <a:r>
              <a:rPr lang="en-US" altLang="zh-CN" dirty="0"/>
              <a:t> </a:t>
            </a:r>
            <a:r>
              <a:rPr lang="zh-CN" altLang="en-US" dirty="0"/>
              <a:t>已经生成</a:t>
            </a:r>
            <a:r>
              <a:rPr lang="en-US" altLang="zh-CN" dirty="0"/>
              <a:t>2232</a:t>
            </a:r>
            <a:r>
              <a:rPr lang="zh-CN" altLang="en-US" dirty="0"/>
              <a:t>个</a:t>
            </a:r>
            <a:r>
              <a:rPr lang="en-US" altLang="zh-CN" dirty="0"/>
              <a:t>(</a:t>
            </a:r>
            <a:r>
              <a:rPr lang="zh-CN" altLang="en-US" dirty="0"/>
              <a:t>实际</a:t>
            </a:r>
            <a:r>
              <a:rPr lang="en-US" altLang="zh-CN" dirty="0"/>
              <a:t>2227+5)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F24754-195B-49CE-B6B5-C7D9DE92A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322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30B51-D5FD-28B4-301A-6507A9B8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16F1CA-FE81-CC8C-3ECB-B93B6B057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281781-9AFF-1D2B-173E-6BDF5532B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</a:t>
            </a:r>
            <a:r>
              <a:rPr lang="en-US" altLang="zh-CN" dirty="0"/>
              <a:t>14</a:t>
            </a:r>
            <a:r>
              <a:rPr lang="zh-CN" altLang="en-US" dirty="0"/>
              <a:t>个</a:t>
            </a:r>
            <a:r>
              <a:rPr lang="en-US" altLang="zh-CN" dirty="0"/>
              <a:t>PDB</a:t>
            </a:r>
            <a:r>
              <a:rPr lang="zh-CN" altLang="en-US" dirty="0"/>
              <a:t>所涉及的链过长 </a:t>
            </a:r>
            <a:r>
              <a:rPr lang="en-US" altLang="zh-CN" dirty="0"/>
              <a:t>prep</a:t>
            </a:r>
            <a:r>
              <a:rPr lang="zh-CN" altLang="en-US" dirty="0"/>
              <a:t>时间过长 放弃  </a:t>
            </a:r>
            <a:r>
              <a:rPr lang="en-US" altLang="zh-CN" dirty="0"/>
              <a:t>2241-14=2227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399523-235E-F3C6-2A36-B180A3ED0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19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C9034-4BFD-F55A-7EA2-3F52D0FEF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07E430-58DE-0399-F55A-965DE7F80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77B5D4-30A2-72D2-60FB-B678A92D0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Protenix+foldbench</a:t>
            </a:r>
            <a:r>
              <a:rPr lang="zh-CN" altLang="en-US" dirty="0"/>
              <a:t>标准参数做法 将生成的构象与</a:t>
            </a:r>
            <a:r>
              <a:rPr lang="en-US" altLang="zh-CN" dirty="0" err="1"/>
              <a:t>groundtruth</a:t>
            </a:r>
            <a:r>
              <a:rPr lang="zh-CN" altLang="en-US" dirty="0"/>
              <a:t>比较并计算</a:t>
            </a:r>
            <a:r>
              <a:rPr lang="en-US" altLang="zh-CN" dirty="0" err="1"/>
              <a:t>rmsd</a:t>
            </a:r>
            <a:r>
              <a:rPr lang="zh-CN" altLang="en-US" dirty="0"/>
              <a:t>，确定当前</a:t>
            </a:r>
            <a:r>
              <a:rPr lang="en-US" altLang="zh-CN" dirty="0"/>
              <a:t>folding</a:t>
            </a:r>
            <a:r>
              <a:rPr lang="zh-CN" altLang="en-US" dirty="0"/>
              <a:t>模型的</a:t>
            </a:r>
            <a:r>
              <a:rPr lang="en-US" altLang="zh-CN" dirty="0" err="1"/>
              <a:t>rna</a:t>
            </a:r>
            <a:r>
              <a:rPr lang="zh-CN" altLang="en-US" dirty="0"/>
              <a:t>预测水平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foldbench</a:t>
            </a:r>
            <a:r>
              <a:rPr lang="zh-CN" altLang="en-US" dirty="0"/>
              <a:t>标准参数做法</a:t>
            </a:r>
            <a:r>
              <a:rPr lang="en-US" altLang="zh-CN" dirty="0"/>
              <a:t>: </a:t>
            </a:r>
            <a:r>
              <a:rPr lang="it-IT" altLang="zh-CN" dirty="0"/>
              <a:t> </a:t>
            </a:r>
            <a:r>
              <a:rPr lang="zh-CN" altLang="it-IT" dirty="0"/>
              <a:t>模型  </a:t>
            </a:r>
            <a:r>
              <a:rPr lang="it-IT" altLang="zh-CN" dirty="0"/>
              <a:t>protenix_base_default_v1.0.0 ; </a:t>
            </a:r>
            <a:r>
              <a:rPr lang="en-US" altLang="zh-CN" dirty="0"/>
              <a:t>5 seeds(42</a:t>
            </a:r>
            <a:r>
              <a:rPr lang="zh-CN" altLang="en-US" dirty="0"/>
              <a:t>，</a:t>
            </a:r>
            <a:r>
              <a:rPr lang="en-US" altLang="zh-CN" dirty="0"/>
              <a:t>66</a:t>
            </a:r>
            <a:r>
              <a:rPr lang="zh-CN" altLang="en-US" dirty="0"/>
              <a:t>，</a:t>
            </a:r>
            <a:r>
              <a:rPr lang="en-US" altLang="zh-CN" dirty="0"/>
              <a:t>101</a:t>
            </a:r>
            <a:r>
              <a:rPr lang="zh-CN" altLang="en-US" dirty="0"/>
              <a:t>，</a:t>
            </a:r>
            <a:r>
              <a:rPr lang="en-US" altLang="zh-CN" dirty="0"/>
              <a:t>2024</a:t>
            </a:r>
            <a:r>
              <a:rPr lang="zh-CN" altLang="en-US" dirty="0"/>
              <a:t>，</a:t>
            </a:r>
            <a:r>
              <a:rPr lang="en-US" altLang="zh-CN" dirty="0"/>
              <a:t>8888) × 5 samples  </a:t>
            </a:r>
            <a:r>
              <a:rPr lang="zh-CN" altLang="en-US" dirty="0"/>
              <a:t>；</a:t>
            </a:r>
            <a:r>
              <a:rPr lang="en-US" altLang="zh-CN" dirty="0"/>
              <a:t>Diffusion steps:200  </a:t>
            </a:r>
            <a:r>
              <a:rPr lang="zh-CN" altLang="en-US" dirty="0"/>
              <a:t>；</a:t>
            </a:r>
            <a:r>
              <a:rPr lang="en-US" altLang="zh-CN" dirty="0" err="1"/>
              <a:t>Pairformer</a:t>
            </a:r>
            <a:r>
              <a:rPr lang="en-US" altLang="zh-CN" dirty="0"/>
              <a:t> cycles :10  ;</a:t>
            </a:r>
            <a:r>
              <a:rPr lang="zh-CN" altLang="en-US" dirty="0"/>
              <a:t>精度   </a:t>
            </a:r>
            <a:r>
              <a:rPr lang="en-US" altLang="zh-CN" dirty="0"/>
              <a:t>BF16;</a:t>
            </a:r>
            <a:r>
              <a:rPr lang="zh-CN" altLang="en-US" dirty="0"/>
              <a:t>主结果选择  </a:t>
            </a:r>
            <a:r>
              <a:rPr lang="en-US" altLang="zh-CN" dirty="0"/>
              <a:t>:25 </a:t>
            </a:r>
            <a:r>
              <a:rPr lang="zh-CN" altLang="en-US" dirty="0"/>
              <a:t>个候选中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最高者  </a:t>
            </a:r>
            <a:r>
              <a:rPr lang="en-US" altLang="zh-CN" dirty="0"/>
              <a:t>;</a:t>
            </a:r>
            <a:r>
              <a:rPr lang="zh-CN" altLang="en-US" dirty="0"/>
              <a:t>主评测  该候选相对 </a:t>
            </a:r>
            <a:r>
              <a:rPr lang="en-US" altLang="zh-CN" dirty="0"/>
              <a:t>GT </a:t>
            </a:r>
            <a:r>
              <a:rPr lang="zh-CN" altLang="en-US" dirty="0"/>
              <a:t>的 </a:t>
            </a:r>
            <a:r>
              <a:rPr lang="en-US" altLang="zh-CN" dirty="0"/>
              <a:t>RMSD/LDDT/TM-score  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这些参数来自</a:t>
            </a:r>
            <a:r>
              <a:rPr lang="en-US" altLang="zh-CN" dirty="0" err="1"/>
              <a:t>FoldBench</a:t>
            </a:r>
            <a:r>
              <a:rPr lang="zh-CN" altLang="en-US" dirty="0"/>
              <a:t>的官方</a:t>
            </a:r>
            <a:r>
              <a:rPr lang="en-US" altLang="zh-CN" dirty="0" err="1"/>
              <a:t>Protenix</a:t>
            </a:r>
            <a:r>
              <a:rPr lang="zh-CN" altLang="en-US" dirty="0"/>
              <a:t>推理脚本</a:t>
            </a:r>
            <a:r>
              <a:rPr lang="en-US" altLang="zh-CN" dirty="0"/>
              <a:t>(https://github.com/BEAM-Labs/FoldBench/blob/main/algorithms/Protenix/make_predictions.sh)</a:t>
            </a:r>
            <a:r>
              <a:rPr lang="zh-CN" altLang="en-US" dirty="0"/>
              <a:t>；其 </a:t>
            </a:r>
            <a:r>
              <a:rPr lang="en-US" altLang="zh-CN" dirty="0"/>
              <a:t>rank</a:t>
            </a:r>
            <a:r>
              <a:rPr lang="zh-CN" altLang="en-US" dirty="0"/>
              <a:t>评测明确按每个目标最高</a:t>
            </a:r>
            <a:r>
              <a:rPr lang="en-US" altLang="zh-CN" dirty="0" err="1"/>
              <a:t>ranking_score</a:t>
            </a:r>
            <a:r>
              <a:rPr lang="zh-CN" altLang="en-US" dirty="0"/>
              <a:t>选结果，而不是根据 </a:t>
            </a:r>
            <a:r>
              <a:rPr lang="en-US" altLang="zh-CN" dirty="0"/>
              <a:t>GT </a:t>
            </a:r>
            <a:r>
              <a:rPr lang="zh-CN" altLang="en-US" dirty="0"/>
              <a:t>挑最小 </a:t>
            </a:r>
            <a:r>
              <a:rPr lang="en-US" altLang="zh-CN" dirty="0"/>
              <a:t>RMSD</a:t>
            </a:r>
            <a:r>
              <a:rPr lang="zh-CN" altLang="en-US" dirty="0"/>
              <a:t>。评测汇总代码</a:t>
            </a:r>
            <a:r>
              <a:rPr lang="en-US" altLang="zh-CN" dirty="0"/>
              <a:t>(https://raw.githubusercontent.com/BEAM-Labs/FoldBench/main/task_score_summary.py)</a:t>
            </a:r>
          </a:p>
          <a:p>
            <a:endParaRPr lang="en-US" altLang="zh-CN" dirty="0"/>
          </a:p>
          <a:p>
            <a:r>
              <a:rPr lang="en-US" altLang="zh-CN" dirty="0"/>
              <a:t>### RMSD </a:t>
            </a:r>
            <a:r>
              <a:rPr lang="zh-CN" altLang="en-US" dirty="0"/>
              <a:t>应怎样算</a:t>
            </a:r>
          </a:p>
          <a:p>
            <a:endParaRPr lang="zh-CN" altLang="en-US" dirty="0"/>
          </a:p>
          <a:p>
            <a:r>
              <a:rPr lang="zh-CN" altLang="en-US" dirty="0"/>
              <a:t>  主报告建议同时保留三类结果：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1. ranked_top1_rmsd</a:t>
            </a:r>
            <a:r>
              <a:rPr lang="zh-CN" altLang="en-US" dirty="0"/>
              <a:t>：</a:t>
            </a:r>
            <a:r>
              <a:rPr lang="en-US" altLang="zh-CN" dirty="0"/>
              <a:t>25</a:t>
            </a:r>
            <a:r>
              <a:rPr lang="zh-CN" altLang="en-US" dirty="0"/>
              <a:t>个候选中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最高者的 </a:t>
            </a:r>
            <a:r>
              <a:rPr lang="en-US" altLang="zh-CN" dirty="0"/>
              <a:t>RMSD</a:t>
            </a:r>
            <a:r>
              <a:rPr lang="zh-CN" altLang="en-US" dirty="0"/>
              <a:t>；这是 </a:t>
            </a:r>
            <a:r>
              <a:rPr lang="en-US" altLang="zh-CN" dirty="0" err="1"/>
              <a:t>FoldBench</a:t>
            </a:r>
            <a:r>
              <a:rPr lang="en-US" altLang="zh-CN" dirty="0"/>
              <a:t>-compatible </a:t>
            </a:r>
            <a:r>
              <a:rPr lang="zh-CN" altLang="en-US" dirty="0"/>
              <a:t>主结果。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2. best_of_25_rmsd</a:t>
            </a:r>
            <a:r>
              <a:rPr lang="zh-CN" altLang="en-US" dirty="0"/>
              <a:t>：</a:t>
            </a:r>
            <a:r>
              <a:rPr lang="en-US" altLang="zh-CN" dirty="0"/>
              <a:t>25</a:t>
            </a:r>
            <a:r>
              <a:rPr lang="zh-CN" altLang="en-US" dirty="0"/>
              <a:t>个候选中的最小 </a:t>
            </a:r>
            <a:r>
              <a:rPr lang="en-US" altLang="zh-CN" dirty="0"/>
              <a:t>RMSD</a:t>
            </a:r>
            <a:r>
              <a:rPr lang="zh-CN" altLang="en-US" dirty="0"/>
              <a:t>；只能表示采样上限，不能当模型真实选择能力。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3. median_25_rmsd</a:t>
            </a:r>
            <a:r>
              <a:rPr lang="zh-CN" altLang="en-US" dirty="0"/>
              <a:t>：反映采样稳定性。</a:t>
            </a:r>
          </a:p>
          <a:p>
            <a:endParaRPr lang="zh-CN" altLang="en-US" dirty="0"/>
          </a:p>
          <a:p>
            <a:r>
              <a:rPr lang="zh-CN" altLang="en-US" dirty="0"/>
              <a:t>  评测建议使用 </a:t>
            </a:r>
            <a:r>
              <a:rPr lang="en-US" altLang="zh-CN" dirty="0" err="1"/>
              <a:t>FoldBench</a:t>
            </a:r>
            <a:r>
              <a:rPr lang="en-US" altLang="zh-CN" dirty="0"/>
              <a:t>/</a:t>
            </a:r>
            <a:r>
              <a:rPr lang="en-US" altLang="zh-CN" dirty="0" err="1"/>
              <a:t>OpenStructure</a:t>
            </a:r>
            <a:r>
              <a:rPr lang="en-US" altLang="zh-CN" dirty="0"/>
              <a:t> </a:t>
            </a:r>
            <a:r>
              <a:rPr lang="zh-CN" altLang="en-US" dirty="0"/>
              <a:t>的：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 err="1"/>
              <a:t>ost</a:t>
            </a:r>
            <a:r>
              <a:rPr lang="en-US" altLang="zh-CN" dirty="0"/>
              <a:t> compare-structures \</a:t>
            </a:r>
          </a:p>
          <a:p>
            <a:r>
              <a:rPr lang="en-US" altLang="zh-CN" dirty="0"/>
              <a:t>    -m </a:t>
            </a:r>
            <a:r>
              <a:rPr lang="en-US" altLang="zh-CN" dirty="0" err="1"/>
              <a:t>prediction.cif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-r </a:t>
            </a:r>
            <a:r>
              <a:rPr lang="en-US" altLang="zh-CN" dirty="0" err="1"/>
              <a:t>groundtruth.cif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--fault-tolerant \</a:t>
            </a:r>
          </a:p>
          <a:p>
            <a:r>
              <a:rPr lang="en-US" altLang="zh-CN" dirty="0"/>
              <a:t>    --min-pep-length 4 \</a:t>
            </a:r>
          </a:p>
          <a:p>
            <a:r>
              <a:rPr lang="en-US" altLang="zh-CN" dirty="0"/>
              <a:t>    --min-</a:t>
            </a:r>
            <a:r>
              <a:rPr lang="en-US" altLang="zh-CN" dirty="0" err="1"/>
              <a:t>nuc</a:t>
            </a:r>
            <a:r>
              <a:rPr lang="en-US" altLang="zh-CN" dirty="0"/>
              <a:t>-length 4 \</a:t>
            </a:r>
          </a:p>
          <a:p>
            <a:r>
              <a:rPr lang="en-US" altLang="zh-CN" dirty="0"/>
              <a:t>    --</a:t>
            </a:r>
            <a:r>
              <a:rPr lang="en-US" altLang="zh-CN" dirty="0" err="1"/>
              <a:t>lddt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--rigid-scores \</a:t>
            </a:r>
          </a:p>
          <a:p>
            <a:r>
              <a:rPr lang="en-US" altLang="zh-CN" dirty="0"/>
              <a:t>    --tm-score \</a:t>
            </a:r>
          </a:p>
          <a:p>
            <a:r>
              <a:rPr lang="en-US" altLang="zh-CN" dirty="0"/>
              <a:t>    --</a:t>
            </a:r>
            <a:r>
              <a:rPr lang="en-US" altLang="zh-CN" dirty="0" err="1"/>
              <a:t>dockq</a:t>
            </a:r>
            <a:r>
              <a:rPr lang="en-US" altLang="zh-CN" dirty="0"/>
              <a:t> \</a:t>
            </a:r>
          </a:p>
          <a:p>
            <a:r>
              <a:rPr lang="en-US" altLang="zh-CN" dirty="0"/>
              <a:t>    -o </a:t>
            </a:r>
            <a:r>
              <a:rPr lang="en-US" altLang="zh-CN" dirty="0" err="1"/>
              <a:t>result.json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</a:t>
            </a:r>
            <a:r>
              <a:rPr lang="zh-CN" altLang="en-US" dirty="0"/>
              <a:t>这与 </a:t>
            </a:r>
            <a:r>
              <a:rPr lang="en-US" altLang="zh-CN" dirty="0" err="1"/>
              <a:t>FoldBench</a:t>
            </a:r>
            <a:r>
              <a:rPr lang="en-US" altLang="zh-CN" dirty="0"/>
              <a:t> </a:t>
            </a:r>
            <a:r>
              <a:rPr lang="zh-CN" altLang="en-US" dirty="0"/>
              <a:t>官方 </a:t>
            </a:r>
            <a:r>
              <a:rPr lang="en-US" altLang="zh-CN" dirty="0"/>
              <a:t>evaluator</a:t>
            </a:r>
          </a:p>
          <a:p>
            <a:r>
              <a:rPr lang="en-US" altLang="zh-CN" dirty="0"/>
              <a:t>  (https://github.com/BEAM-Labs/FoldBench/blob/main/evaluation/eval_by_ost.py)</a:t>
            </a:r>
            <a:r>
              <a:rPr lang="zh-CN" altLang="en-US" dirty="0"/>
              <a:t>一致。对于多链 </a:t>
            </a:r>
            <a:r>
              <a:rPr lang="en-US" altLang="zh-CN" dirty="0"/>
              <a:t>RNA</a:t>
            </a:r>
            <a:r>
              <a:rPr lang="zh-CN" altLang="en-US" dirty="0"/>
              <a:t>，还必须：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按序列建立预测链到 </a:t>
            </a:r>
            <a:r>
              <a:rPr lang="en-US" altLang="zh-CN" dirty="0"/>
              <a:t>GT </a:t>
            </a:r>
            <a:r>
              <a:rPr lang="zh-CN" altLang="en-US" dirty="0"/>
              <a:t>链的映射；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同序列多链枚举</a:t>
            </a:r>
            <a:r>
              <a:rPr lang="en-US" altLang="zh-CN" dirty="0"/>
              <a:t>/</a:t>
            </a:r>
            <a:r>
              <a:rPr lang="zh-CN" altLang="en-US" dirty="0"/>
              <a:t>优化链置换，取最佳合法映射；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只比较双方共同存在、能正确对应的原子；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记录匹配残基数、匹配原子数和覆盖率；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最好额外报告 </a:t>
            </a:r>
            <a:r>
              <a:rPr lang="en-US" altLang="zh-CN" dirty="0"/>
              <a:t>C4′ RMSD</a:t>
            </a:r>
            <a:r>
              <a:rPr lang="zh-CN" altLang="en-US" dirty="0"/>
              <a:t>，降低缺失侧链原子和修饰碱基的影响。</a:t>
            </a:r>
          </a:p>
          <a:p>
            <a:endParaRPr lang="zh-CN" altLang="en-US" dirty="0"/>
          </a:p>
          <a:p>
            <a:r>
              <a:rPr lang="zh-CN" altLang="en-US" dirty="0"/>
              <a:t>  仅给一个全原子 </a:t>
            </a:r>
            <a:r>
              <a:rPr lang="en-US" altLang="zh-CN" dirty="0"/>
              <a:t>RMSD </a:t>
            </a:r>
            <a:r>
              <a:rPr lang="zh-CN" altLang="en-US" dirty="0"/>
              <a:t>均值不足以判断 </a:t>
            </a:r>
            <a:r>
              <a:rPr lang="en-US" altLang="zh-CN" dirty="0"/>
              <a:t>RNA folding </a:t>
            </a:r>
            <a:r>
              <a:rPr lang="zh-CN" altLang="en-US" dirty="0"/>
              <a:t>水平。至少还应报告中位数、四分位数、</a:t>
            </a:r>
            <a:r>
              <a:rPr lang="en-US" altLang="zh-CN" dirty="0"/>
              <a:t>RMSD &lt; 2/5/10 Å </a:t>
            </a:r>
            <a:r>
              <a:rPr lang="zh-CN" altLang="en-US" dirty="0"/>
              <a:t>比例，并按 </a:t>
            </a:r>
            <a:r>
              <a:rPr lang="en-US" altLang="zh-CN" dirty="0"/>
              <a:t>RNA </a:t>
            </a:r>
            <a:r>
              <a:rPr lang="zh-CN" altLang="en-US" dirty="0"/>
              <a:t>长度</a:t>
            </a:r>
          </a:p>
          <a:p>
            <a:r>
              <a:rPr lang="zh-CN" altLang="en-US" dirty="0"/>
              <a:t>  和链数分层；长 </a:t>
            </a:r>
            <a:r>
              <a:rPr lang="en-US" altLang="zh-CN" dirty="0"/>
              <a:t>RNA </a:t>
            </a:r>
            <a:r>
              <a:rPr lang="zh-CN" altLang="en-US" dirty="0"/>
              <a:t>的 </a:t>
            </a:r>
            <a:r>
              <a:rPr lang="en-US" altLang="zh-CN" dirty="0"/>
              <a:t>RMSD</a:t>
            </a:r>
            <a:r>
              <a:rPr lang="zh-CN" altLang="en-US" dirty="0"/>
              <a:t>天然更大。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### </a:t>
            </a:r>
            <a:r>
              <a:rPr lang="zh-CN" altLang="en-US" dirty="0"/>
              <a:t>一个重要的科学问题：训练集泄漏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protenix_base_default_v1.0.0 </a:t>
            </a:r>
            <a:r>
              <a:rPr lang="zh-CN" altLang="en-US" dirty="0"/>
              <a:t>的结构训练截止日期是</a:t>
            </a:r>
            <a:r>
              <a:rPr lang="en-US" altLang="zh-CN" dirty="0"/>
              <a:t>2021-09-30</a:t>
            </a:r>
            <a:r>
              <a:rPr lang="zh-CN" altLang="en-US" dirty="0"/>
              <a:t>。</a:t>
            </a:r>
            <a:r>
              <a:rPr lang="en-US" altLang="zh-CN" dirty="0" err="1"/>
              <a:t>Protenix</a:t>
            </a:r>
            <a:r>
              <a:rPr lang="en-US" altLang="zh-CN" dirty="0"/>
              <a:t> </a:t>
            </a:r>
            <a:r>
              <a:rPr lang="zh-CN" altLang="en-US" dirty="0"/>
              <a:t>官方说明 </a:t>
            </a:r>
            <a:r>
              <a:rPr lang="en-US" altLang="zh-CN" dirty="0"/>
              <a:t>(https://github.com/bytedance/Protenix)</a:t>
            </a:r>
          </a:p>
          <a:p>
            <a:endParaRPr lang="en-US" altLang="zh-CN" dirty="0"/>
          </a:p>
          <a:p>
            <a:r>
              <a:rPr lang="en-US" altLang="zh-CN" dirty="0"/>
              <a:t>  2241</a:t>
            </a:r>
            <a:r>
              <a:rPr lang="zh-CN" altLang="en-US" dirty="0"/>
              <a:t>个结构中包含许多早期 </a:t>
            </a:r>
            <a:r>
              <a:rPr lang="en-US" altLang="zh-CN" dirty="0"/>
              <a:t>PDB</a:t>
            </a:r>
            <a:r>
              <a:rPr lang="zh-CN" altLang="en-US" dirty="0"/>
              <a:t>，例如</a:t>
            </a:r>
            <a:r>
              <a:rPr lang="en-US" altLang="zh-CN" dirty="0"/>
              <a:t>1AFX</a:t>
            </a:r>
            <a:r>
              <a:rPr lang="zh-CN" altLang="en-US" dirty="0"/>
              <a:t>，因此“全部</a:t>
            </a:r>
            <a:r>
              <a:rPr lang="en-US" altLang="zh-CN" dirty="0"/>
              <a:t>2241</a:t>
            </a:r>
            <a:r>
              <a:rPr lang="zh-CN" altLang="en-US" dirty="0"/>
              <a:t>个结果”会混入模型训练期结构，不能直接视为无偏泛化水平。建议最终同</a:t>
            </a:r>
          </a:p>
          <a:p>
            <a:r>
              <a:rPr lang="zh-CN" altLang="en-US" dirty="0"/>
              <a:t>  时报告：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全部</a:t>
            </a:r>
            <a:r>
              <a:rPr lang="en-US" altLang="zh-CN" dirty="0"/>
              <a:t>2241</a:t>
            </a:r>
            <a:r>
              <a:rPr lang="zh-CN" altLang="en-US" dirty="0"/>
              <a:t>：描述性结果；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- 2021-09-30</a:t>
            </a:r>
            <a:r>
              <a:rPr lang="zh-CN" altLang="en-US" dirty="0"/>
              <a:t>之后发布的结构：主要泛化结果；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如果条件允许，再做与训练集低同源的严格子集。</a:t>
            </a:r>
          </a:p>
          <a:p>
            <a:endParaRPr lang="zh-CN" altLang="en-US" dirty="0"/>
          </a:p>
          <a:p>
            <a:r>
              <a:rPr lang="zh-CN" altLang="en-US" dirty="0"/>
              <a:t>  关闭 </a:t>
            </a:r>
            <a:r>
              <a:rPr lang="en-US" altLang="zh-CN" dirty="0"/>
              <a:t>template </a:t>
            </a:r>
            <a:r>
              <a:rPr lang="zh-CN" altLang="en-US" dirty="0"/>
              <a:t>只能避免推理时直接模板使用，不能消除模型训练期泄漏。</a:t>
            </a:r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  核心配置固定为：</a:t>
            </a:r>
          </a:p>
          <a:p>
            <a:endParaRPr lang="zh-CN" altLang="en-US" dirty="0"/>
          </a:p>
          <a:p>
            <a:r>
              <a:rPr lang="zh-CN" altLang="en-US" dirty="0"/>
              <a:t>  </a:t>
            </a:r>
            <a:r>
              <a:rPr lang="en-US" altLang="zh-CN" dirty="0"/>
              <a:t>- 2241 </a:t>
            </a:r>
            <a:r>
              <a:rPr lang="zh-CN" altLang="en-US" dirty="0"/>
              <a:t>个目标，排除 </a:t>
            </a:r>
            <a:r>
              <a:rPr lang="en-US" altLang="zh-CN" dirty="0"/>
              <a:t>3OK2</a:t>
            </a:r>
            <a:r>
              <a:rPr lang="zh-CN" altLang="en-US" dirty="0"/>
              <a:t>、</a:t>
            </a:r>
            <a:r>
              <a:rPr lang="en-US" altLang="zh-CN" dirty="0"/>
              <a:t>3OK4</a:t>
            </a:r>
            <a:r>
              <a:rPr lang="zh-CN" altLang="en-US" dirty="0"/>
              <a:t>、</a:t>
            </a:r>
            <a:r>
              <a:rPr lang="en-US" altLang="zh-CN" dirty="0"/>
              <a:t>5EME</a:t>
            </a:r>
            <a:r>
              <a:rPr lang="zh-CN" altLang="en-US" dirty="0"/>
              <a:t>、</a:t>
            </a:r>
            <a:r>
              <a:rPr lang="en-US" altLang="zh-CN" dirty="0"/>
              <a:t>176D</a:t>
            </a:r>
            <a:r>
              <a:rPr lang="zh-CN" altLang="en-US" dirty="0"/>
              <a:t>、</a:t>
            </a:r>
            <a:r>
              <a:rPr lang="en-US" altLang="zh-CN" dirty="0"/>
              <a:t>5EMF</a:t>
            </a:r>
          </a:p>
          <a:p>
            <a:r>
              <a:rPr lang="en-US" altLang="zh-CN" dirty="0"/>
              <a:t>  - </a:t>
            </a:r>
            <a:r>
              <a:rPr lang="en-US" altLang="zh-CN" dirty="0" err="1"/>
              <a:t>Protenix</a:t>
            </a:r>
            <a:r>
              <a:rPr lang="en-US" altLang="zh-CN" dirty="0"/>
              <a:t> 1.0.5</a:t>
            </a:r>
          </a:p>
          <a:p>
            <a:r>
              <a:rPr lang="en-US" altLang="zh-CN" dirty="0"/>
              <a:t>  - protenix_base_default_v1.0.0</a:t>
            </a:r>
          </a:p>
          <a:p>
            <a:r>
              <a:rPr lang="en-US" altLang="zh-CN" dirty="0"/>
              <a:t>  - seeds</a:t>
            </a:r>
            <a:r>
              <a:rPr lang="zh-CN" altLang="en-US" dirty="0"/>
              <a:t>：</a:t>
            </a:r>
            <a:r>
              <a:rPr lang="en-US" altLang="zh-CN" dirty="0"/>
              <a:t>42,66,101,2024,8888</a:t>
            </a:r>
          </a:p>
          <a:p>
            <a:r>
              <a:rPr lang="en-US" altLang="zh-CN" dirty="0"/>
              <a:t>  - </a:t>
            </a:r>
            <a:r>
              <a:rPr lang="zh-CN" altLang="en-US" dirty="0"/>
              <a:t>每 </a:t>
            </a:r>
            <a:r>
              <a:rPr lang="en-US" altLang="zh-CN" dirty="0"/>
              <a:t>seed 5 samples</a:t>
            </a:r>
          </a:p>
          <a:p>
            <a:r>
              <a:rPr lang="en-US" altLang="zh-CN" dirty="0"/>
              <a:t>  - 200 steps</a:t>
            </a:r>
            <a:r>
              <a:rPr lang="zh-CN" altLang="en-US" dirty="0"/>
              <a:t>、</a:t>
            </a:r>
            <a:r>
              <a:rPr lang="en-US" altLang="zh-CN" dirty="0"/>
              <a:t>10 cycles</a:t>
            </a:r>
            <a:r>
              <a:rPr lang="zh-CN" altLang="en-US" dirty="0"/>
              <a:t>、</a:t>
            </a:r>
            <a:r>
              <a:rPr lang="en-US" altLang="zh-CN" dirty="0"/>
              <a:t>BF16</a:t>
            </a:r>
          </a:p>
          <a:p>
            <a:r>
              <a:rPr lang="en-US" altLang="zh-CN" dirty="0"/>
              <a:t>  - RNA MSA </a:t>
            </a:r>
            <a:r>
              <a:rPr lang="zh-CN" altLang="en-US" dirty="0"/>
              <a:t>开、</a:t>
            </a:r>
            <a:r>
              <a:rPr lang="en-US" altLang="zh-CN" dirty="0"/>
              <a:t>template </a:t>
            </a:r>
            <a:r>
              <a:rPr lang="zh-CN" altLang="en-US" dirty="0"/>
              <a:t>关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共 </a:t>
            </a:r>
            <a:r>
              <a:rPr lang="en-US" altLang="zh-CN" dirty="0"/>
              <a:t>56,025 </a:t>
            </a:r>
            <a:r>
              <a:rPr lang="zh-CN" altLang="en-US" dirty="0"/>
              <a:t>个主预测 </a:t>
            </a:r>
            <a:r>
              <a:rPr lang="en-US" altLang="zh-CN" dirty="0"/>
              <a:t>CIF</a:t>
            </a:r>
          </a:p>
          <a:p>
            <a:r>
              <a:rPr lang="en-US" altLang="zh-CN" dirty="0"/>
              <a:t>  - </a:t>
            </a:r>
            <a:r>
              <a:rPr lang="zh-CN" altLang="en-US" dirty="0"/>
              <a:t>新预测目录与旧 </a:t>
            </a:r>
            <a:r>
              <a:rPr lang="en-US" altLang="zh-CN" dirty="0"/>
              <a:t>4×50 </a:t>
            </a:r>
            <a:r>
              <a:rPr lang="zh-CN" altLang="en-US" dirty="0"/>
              <a:t>结果完全隔离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每个 </a:t>
            </a:r>
            <a:r>
              <a:rPr lang="en-US" altLang="zh-CN" dirty="0"/>
              <a:t>confidence JSON </a:t>
            </a:r>
            <a:r>
              <a:rPr lang="zh-CN" altLang="en-US" dirty="0"/>
              <a:t>必须包含有效 </a:t>
            </a:r>
            <a:r>
              <a:rPr lang="en-US" altLang="zh-CN" dirty="0" err="1"/>
              <a:t>ranking_score</a:t>
            </a:r>
            <a:r>
              <a:rPr lang="en-US" altLang="zh-CN" dirty="0"/>
              <a:t> </a:t>
            </a:r>
            <a:r>
              <a:rPr lang="zh-CN" altLang="en-US" dirty="0"/>
              <a:t>才算完成</a:t>
            </a:r>
          </a:p>
          <a:p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支持断点续跑和 </a:t>
            </a:r>
            <a:r>
              <a:rPr lang="en-US" altLang="zh-CN" dirty="0"/>
              <a:t>8 </a:t>
            </a:r>
            <a:r>
              <a:rPr lang="zh-CN" altLang="en-US" dirty="0"/>
              <a:t>卡并行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DD861B-BB29-0186-DC52-8ADA8A496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597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59D9D-630B-47CC-BB4B-8EE78291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50BE17-E878-39EB-7BD0-0296623F4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9933CE-98C1-1133-0AF0-6C36FD867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结果储存在实验室服务器的</a:t>
            </a:r>
            <a:r>
              <a:rPr lang="en-US" altLang="zh-CN" dirty="0"/>
              <a:t>~/</a:t>
            </a:r>
            <a:r>
              <a:rPr lang="en-US" altLang="zh-CN" dirty="0" err="1"/>
              <a:t>Json_data</a:t>
            </a:r>
            <a:r>
              <a:rPr lang="en-US" altLang="zh-CN" dirty="0"/>
              <a:t>/</a:t>
            </a:r>
            <a:r>
              <a:rPr lang="en-US" altLang="zh-CN" dirty="0" err="1"/>
              <a:t>Foldbench_predictions</a:t>
            </a:r>
            <a:r>
              <a:rPr lang="zh-CN" altLang="en-US" dirty="0"/>
              <a:t>中 以文件名</a:t>
            </a:r>
            <a:r>
              <a:rPr lang="en-US" altLang="zh-CN" dirty="0" err="1"/>
              <a:t>pred_output_XXXX_seed_XXXX</a:t>
            </a:r>
            <a:r>
              <a:rPr lang="zh-CN" altLang="en-US" dirty="0"/>
              <a:t>的文件为单位储存，每个文件夹有</a:t>
            </a:r>
            <a:r>
              <a:rPr lang="en-US" altLang="zh-CN" dirty="0"/>
              <a:t>5</a:t>
            </a:r>
            <a:r>
              <a:rPr lang="zh-CN" altLang="en-US" dirty="0"/>
              <a:t>个</a:t>
            </a:r>
            <a:r>
              <a:rPr lang="en-US" altLang="zh-CN" dirty="0"/>
              <a:t>sample  </a:t>
            </a:r>
            <a:r>
              <a:rPr lang="zh-CN" altLang="en-US" dirty="0"/>
              <a:t>理论上有</a:t>
            </a:r>
            <a:r>
              <a:rPr lang="en-US" altLang="zh-CN" dirty="0"/>
              <a:t>2202</a:t>
            </a:r>
            <a:r>
              <a:rPr lang="zh-CN" altLang="en-US" dirty="0"/>
              <a:t>个</a:t>
            </a:r>
            <a:r>
              <a:rPr lang="en-US" altLang="zh-CN" dirty="0" err="1"/>
              <a:t>cif</a:t>
            </a:r>
            <a:r>
              <a:rPr lang="zh-CN" altLang="en-US" dirty="0"/>
              <a:t>文件最终成功进行了</a:t>
            </a:r>
            <a:r>
              <a:rPr lang="en-US" altLang="zh-CN" dirty="0"/>
              <a:t>5*5</a:t>
            </a:r>
            <a:r>
              <a:rPr lang="zh-CN" altLang="en-US" dirty="0"/>
              <a:t>的</a:t>
            </a:r>
            <a:r>
              <a:rPr lang="en-US" altLang="zh-CN" dirty="0"/>
              <a:t>pred  12</a:t>
            </a:r>
            <a:r>
              <a:rPr lang="zh-CN" altLang="en-US" dirty="0"/>
              <a:t>个输入</a:t>
            </a:r>
            <a:r>
              <a:rPr lang="en-US" altLang="zh-CN" dirty="0"/>
              <a:t>/CCD</a:t>
            </a:r>
            <a:r>
              <a:rPr lang="zh-CN" altLang="en-US" dirty="0"/>
              <a:t>不兼容  </a:t>
            </a:r>
            <a:r>
              <a:rPr lang="en-US" altLang="zh-CN" dirty="0"/>
              <a:t>13</a:t>
            </a:r>
            <a:r>
              <a:rPr lang="zh-CN" altLang="en-US" dirty="0"/>
              <a:t>个单卡显存不足  </a:t>
            </a:r>
            <a:r>
              <a:rPr lang="en-US" altLang="zh-CN" dirty="0"/>
              <a:t>2227-12-13=2202    </a:t>
            </a:r>
            <a:r>
              <a:rPr lang="zh-CN" altLang="en-US" dirty="0"/>
              <a:t>实际</a:t>
            </a:r>
            <a:r>
              <a:rPr lang="en-US" altLang="zh-CN" dirty="0"/>
              <a:t>2199 </a:t>
            </a:r>
            <a:r>
              <a:rPr lang="zh-CN" altLang="en-US" dirty="0"/>
              <a:t>有三个失败了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43D0F4-7C49-FCD2-3EB3-06307A33F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018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24B0-51BF-9EEF-6CF1-FBFA4E58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B4E431-803A-4C25-6E51-C2F74E579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0E497C-90B4-75F0-83A8-5168B1A6C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RMSD</a:t>
            </a:r>
            <a:r>
              <a:rPr lang="zh-CN" altLang="en-US" dirty="0"/>
              <a:t>只涉及到</a:t>
            </a:r>
            <a:r>
              <a:rPr lang="en-US" altLang="zh-CN" dirty="0"/>
              <a:t>C3</a:t>
            </a:r>
            <a:r>
              <a:rPr lang="zh-CN" altLang="en-US" dirty="0"/>
              <a:t>‘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2199-32=2167</a:t>
            </a:r>
          </a:p>
          <a:p>
            <a:endParaRPr lang="en-US" altLang="zh-CN" dirty="0"/>
          </a:p>
          <a:p>
            <a:r>
              <a:rPr lang="en-US" altLang="zh-CN" dirty="0"/>
              <a:t>2199</a:t>
            </a:r>
            <a:r>
              <a:rPr lang="zh-CN" altLang="en-US" dirty="0"/>
              <a:t>个目标中，</a:t>
            </a:r>
            <a:r>
              <a:rPr lang="en-US" altLang="zh-CN" dirty="0"/>
              <a:t>2167</a:t>
            </a:r>
            <a:r>
              <a:rPr lang="zh-CN" altLang="en-US" dirty="0"/>
              <a:t>个获得有效的严格</a:t>
            </a:r>
            <a:r>
              <a:rPr lang="en-US" altLang="zh-CN" dirty="0"/>
              <a:t>rank-1 C3′ RMSD</a:t>
            </a:r>
            <a:r>
              <a:rPr lang="zh-CN" altLang="en-US" dirty="0"/>
              <a:t>，评测覆盖率为</a:t>
            </a:r>
            <a:r>
              <a:rPr lang="en-US" altLang="zh-CN" dirty="0"/>
              <a:t>98.54%</a:t>
            </a:r>
            <a:r>
              <a:rPr lang="zh-CN" altLang="en-US" dirty="0"/>
              <a:t>；</a:t>
            </a:r>
            <a:r>
              <a:rPr lang="en-US" altLang="zh-CN" dirty="0"/>
              <a:t>32</a:t>
            </a:r>
            <a:r>
              <a:rPr lang="zh-CN" altLang="en-US" dirty="0"/>
              <a:t>个目标因</a:t>
            </a:r>
            <a:r>
              <a:rPr lang="en-US" altLang="zh-CN" dirty="0" err="1"/>
              <a:t>OpenStructure</a:t>
            </a:r>
            <a:r>
              <a:rPr lang="zh-CN" altLang="en-US" dirty="0"/>
              <a:t>评测失败而不纳入</a:t>
            </a:r>
            <a:r>
              <a:rPr lang="en-US" altLang="zh-CN" dirty="0"/>
              <a:t>RMSD</a:t>
            </a:r>
            <a:r>
              <a:rPr lang="zh-CN" altLang="en-US" dirty="0"/>
              <a:t>分布统计。排除目标及原因见补充表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46053C-FB30-B901-952A-42A619D69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325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3421-CFF2-4858-3356-7E23634A9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EDC961-DB7A-1A74-E111-9F35E185D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2D8AAF-F1E7-533F-E6F2-85C3A2CA7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训练数据：训练数据跑一下</a:t>
            </a:r>
            <a:r>
              <a:rPr lang="en-US" altLang="zh-CN" dirty="0" err="1"/>
              <a:t>protenix</a:t>
            </a:r>
            <a:r>
              <a:rPr lang="zh-CN" altLang="en-US" dirty="0"/>
              <a:t>，</a:t>
            </a:r>
            <a:r>
              <a:rPr lang="en-US" altLang="zh-CN" dirty="0"/>
              <a:t>50*4</a:t>
            </a:r>
            <a:r>
              <a:rPr lang="zh-CN" altLang="en-US" dirty="0"/>
              <a:t>，采样出有多样性的</a:t>
            </a:r>
            <a:r>
              <a:rPr lang="en-US" altLang="zh-CN" dirty="0"/>
              <a:t>decoys</a:t>
            </a:r>
            <a:r>
              <a:rPr lang="zh-CN" altLang="en-US" dirty="0"/>
              <a:t>；</a:t>
            </a:r>
            <a:r>
              <a:rPr lang="en-US" altLang="zh-CN" dirty="0"/>
              <a:t>2</a:t>
            </a:r>
            <a:r>
              <a:rPr lang="zh-CN" altLang="en-US" dirty="0"/>
              <a:t>，选择一些锚点，跑一段短</a:t>
            </a:r>
            <a:r>
              <a:rPr lang="en-US" altLang="zh-CN" dirty="0"/>
              <a:t>md</a:t>
            </a:r>
            <a:r>
              <a:rPr lang="zh-CN" altLang="en-US" dirty="0"/>
              <a:t>并采样，得到更具有多样性的</a:t>
            </a:r>
            <a:r>
              <a:rPr lang="en-US" altLang="zh-CN" dirty="0"/>
              <a:t>decoys   </a:t>
            </a:r>
          </a:p>
          <a:p>
            <a:endParaRPr lang="en-US" altLang="zh-CN" dirty="0"/>
          </a:p>
          <a:p>
            <a:r>
              <a:rPr lang="zh-CN" altLang="en-US" dirty="0"/>
              <a:t>最终</a:t>
            </a:r>
            <a:r>
              <a:rPr lang="en-US" altLang="zh-CN" dirty="0"/>
              <a:t>:</a:t>
            </a:r>
            <a:r>
              <a:rPr lang="zh-CN" altLang="en-US" dirty="0"/>
              <a:t>训练集</a:t>
            </a:r>
            <a:r>
              <a:rPr lang="en-US" altLang="zh-CN" dirty="0"/>
              <a:t>: 1778  </a:t>
            </a:r>
            <a:r>
              <a:rPr lang="zh-CN" altLang="en-US" dirty="0"/>
              <a:t>验证集</a:t>
            </a:r>
            <a:r>
              <a:rPr lang="en-US" altLang="zh-CN" dirty="0"/>
              <a:t>:115  </a:t>
            </a:r>
            <a:r>
              <a:rPr lang="zh-CN" altLang="en-US" dirty="0"/>
              <a:t>测试集</a:t>
            </a:r>
            <a:r>
              <a:rPr lang="en-US" altLang="zh-CN" dirty="0"/>
              <a:t>:92  </a:t>
            </a:r>
            <a:r>
              <a:rPr lang="zh-CN" altLang="en-US" dirty="0"/>
              <a:t>剔除了无法</a:t>
            </a:r>
            <a:r>
              <a:rPr lang="en-US" altLang="zh-CN" dirty="0"/>
              <a:t>prep</a:t>
            </a:r>
            <a:r>
              <a:rPr lang="zh-CN" altLang="en-US" dirty="0"/>
              <a:t>的</a:t>
            </a:r>
            <a:r>
              <a:rPr lang="en-US" altLang="zh-CN" dirty="0"/>
              <a:t>14</a:t>
            </a:r>
            <a:r>
              <a:rPr lang="zh-CN" altLang="en-US" dirty="0"/>
              <a:t>个 </a:t>
            </a:r>
            <a:r>
              <a:rPr lang="en-US" altLang="zh-CN" dirty="0"/>
              <a:t>12</a:t>
            </a:r>
            <a:r>
              <a:rPr lang="zh-CN" altLang="en-US" dirty="0"/>
              <a:t>个输入</a:t>
            </a:r>
            <a:r>
              <a:rPr lang="en-US" altLang="zh-CN" dirty="0"/>
              <a:t>/CCD</a:t>
            </a:r>
            <a:r>
              <a:rPr lang="zh-CN" altLang="en-US" dirty="0"/>
              <a:t>不兼容  </a:t>
            </a:r>
            <a:r>
              <a:rPr lang="en-US" altLang="zh-CN" dirty="0"/>
              <a:t>13</a:t>
            </a:r>
            <a:r>
              <a:rPr lang="zh-CN" altLang="en-US" dirty="0"/>
              <a:t>个单卡显存不足 失败的几个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BE9AF6-2310-237C-864E-86D855CEE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937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9FB9F-9905-2EC3-A24B-BB59DB639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6C80AD-B235-1539-9D98-BC1573B48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97B86-EA85-8EDF-2636-3A2E9B190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RNA-FM</a:t>
            </a:r>
            <a:r>
              <a:rPr lang="zh-CN" altLang="en-US" dirty="0"/>
              <a:t>生成残基嵌入向量 以</a:t>
            </a:r>
            <a:r>
              <a:rPr lang="en-US" altLang="zh-CN" dirty="0"/>
              <a:t>.pt</a:t>
            </a:r>
            <a:r>
              <a:rPr lang="zh-CN" altLang="en-US" dirty="0"/>
              <a:t>的形式存储在</a:t>
            </a:r>
            <a:r>
              <a:rPr lang="en-US" altLang="zh-CN" dirty="0"/>
              <a:t>~/</a:t>
            </a:r>
            <a:r>
              <a:rPr lang="en-US" altLang="zh-CN" dirty="0" err="1"/>
              <a:t>Data_FM</a:t>
            </a:r>
            <a:r>
              <a:rPr lang="en-US" altLang="zh-CN" dirty="0"/>
              <a:t>/</a:t>
            </a:r>
            <a:r>
              <a:rPr lang="en-US" altLang="zh-CN" dirty="0" err="1"/>
              <a:t>RNA_FM_embeddings</a:t>
            </a:r>
            <a:r>
              <a:rPr lang="zh-CN" altLang="en-US" dirty="0"/>
              <a:t>中</a:t>
            </a:r>
            <a:r>
              <a:rPr lang="en-US" altLang="zh-CN" dirty="0"/>
              <a:t>,</a:t>
            </a:r>
            <a:r>
              <a:rPr lang="zh-CN" altLang="en-US" dirty="0"/>
              <a:t>该路径下一共</a:t>
            </a:r>
            <a:r>
              <a:rPr lang="en-US" altLang="zh-CN" dirty="0"/>
              <a:t>2241</a:t>
            </a:r>
            <a:r>
              <a:rPr lang="zh-CN" altLang="en-US" dirty="0"/>
              <a:t>个文件夹，每个文件夹里面有一个</a:t>
            </a:r>
            <a:r>
              <a:rPr lang="en-US" altLang="zh-CN" dirty="0"/>
              <a:t>.pt</a:t>
            </a:r>
            <a:r>
              <a:rPr lang="zh-CN" altLang="en-US" dirty="0"/>
              <a:t>文件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生成嵌入向量的脚本本地在</a:t>
            </a:r>
            <a:r>
              <a:rPr lang="en-US" altLang="zh-CN" dirty="0"/>
              <a:t>RNA\Code\</a:t>
            </a:r>
            <a:r>
              <a:rPr lang="en-US" altLang="zh-CN" dirty="0" err="1"/>
              <a:t>RNA_FM_pipeline</a:t>
            </a:r>
            <a:r>
              <a:rPr lang="zh-CN" altLang="en-US" dirty="0"/>
              <a:t>中，实验室服务器上在</a:t>
            </a:r>
            <a:r>
              <a:rPr lang="en-US" altLang="zh-CN" dirty="0"/>
              <a:t>~/Code/</a:t>
            </a:r>
            <a:r>
              <a:rPr lang="en-US" altLang="zh-CN" dirty="0" err="1"/>
              <a:t>RNA_FM_pipeline</a:t>
            </a:r>
            <a:r>
              <a:rPr lang="zh-CN" altLang="en-US" dirty="0"/>
              <a:t>中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生成过程的日志本地在</a:t>
            </a:r>
            <a:r>
              <a:rPr lang="en-US" altLang="zh-CN" dirty="0"/>
              <a:t>RNA\Code\</a:t>
            </a:r>
            <a:r>
              <a:rPr lang="en-US" altLang="zh-CN" dirty="0" err="1"/>
              <a:t>New_Data_pipeline_reports</a:t>
            </a:r>
            <a:r>
              <a:rPr lang="zh-CN" altLang="en-US" dirty="0"/>
              <a:t>中，实验室服务器在</a:t>
            </a:r>
            <a:r>
              <a:rPr lang="en-US" altLang="zh-CN" dirty="0"/>
              <a:t>~/Code/</a:t>
            </a:r>
            <a:r>
              <a:rPr lang="en-US" altLang="zh-CN" dirty="0" err="1"/>
              <a:t>pipeline_reports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5375AB-051D-05AD-EBF8-E11AEC49B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8883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5885-B970-483D-4EDA-BAF55488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BCEFD2-C4D0-AEC0-5711-13C857BC5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0B470A-3943-774E-AA9E-87AF7C2D4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3B4C7A-9032-BD7E-2E7B-899FBE718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9A364-1080-4FF3-83B3-242A2827F50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846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CBF0D-EA40-C9D7-7EC7-8B55BAD9D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2181ED-CBD0-FE13-2DF8-1F2CFFBC2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56CE1-BA60-CB30-8571-CEC77FDD6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A94AB6-BA27-0A46-EC8A-CF0FFE0B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EF3C3-6227-12A6-3B9F-332A79D9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26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4ED42-B096-681E-364D-E05EE242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7E81F-851D-1255-2265-E9A83DEEE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877C8F-6613-1120-21D1-FF61FAE90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EE6AD7-A364-C8E1-A8A5-8ED6A953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082393-4119-BD6B-2B4F-976E126C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99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2757FC-088B-716D-28D8-D92EBF22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8FBADC-5F04-32A4-63B2-CB3D4512B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3BCF5C-316A-D8B4-2A34-AD0063DC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2BA15C-8643-8F44-8446-081D9E308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2C2ADD-208C-D795-F459-3916C36D2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5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594A53-7675-45E6-CEB4-656DF78B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A4D49-A60D-2234-E105-67599001F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D3D9AE-8888-A691-BD4F-2B46AA342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703DA8-1F01-4177-67A3-007DB8240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672096-5F59-ACC8-AEF3-F8C91240B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DA3B7E-147A-D4E2-ECF4-27BCC488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784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DBAD7B-7704-E92C-2C92-05C3EB12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0FEA1-0B65-0A9C-A6E3-8761751AB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4B40AB-86D1-6915-6829-5DE1D74DB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7C38AC-D6D0-CC54-A889-094BB78DB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F25DEE-A7AA-5F4F-E1ED-9D6A1FDBC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3E74B1-C505-C923-8C59-66BDB2D6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CB7BA7-209C-C6AB-BFDC-7C810C19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F7DF35-A2D1-73A4-2018-FD8AC7F0A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87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CFCBC-80BB-3A23-88D4-24B0C006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96B25D-96C0-A006-616B-EB75CB92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B76520-EEA9-580B-2FF1-F7F326D8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5603051-8346-F2FF-9A39-EC96509A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74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287413-50BD-261E-0BE6-DDFF08E66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C99519-9958-E240-6EFE-13178DF1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71C33-01B9-64F2-BBBA-E11305E7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2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4F647-C3A2-28F0-4238-DF7381F0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1CC60-EF46-4667-44EE-A257565060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92074E-4062-60A4-5C33-D3AA685D2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FAE4C1-0843-E0C9-D489-F3AEA8F6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1C04E-408A-3B1E-449F-97DF2347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1BC1EA-FBF8-01CE-173C-00E9FFC9C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8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8D1DA-0AAE-E5A9-47E5-48EE45D81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864BF4-47FD-FAB1-34F8-F0C83260E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65642-0A6C-C2AB-C5B7-92579B99A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D7537E-5C31-648C-1228-BFA77D537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81DFD5-7D13-2B38-B948-7C8AAD73F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EBB1C-00EB-3D54-C328-031B568C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5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92AD3-B0B9-D686-919A-1477902C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00DDD8-2FFB-CC85-BD78-ED1CDC66A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0E32B1-2BF3-B09F-5BC5-CF07FE22E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A0AE37-3E9A-845B-AAB3-E61A2548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27239-3450-A1F7-BC72-84C80E66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84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7C841B-38C5-DDAC-DBF1-756AFA473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C18AD5-4330-C028-2B33-C4B897ABE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373C80-9E4F-0C81-1D96-93427EA0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CBE0F4-B954-67A9-7856-EB0C0117F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5B205C-E3A2-F7B0-8F00-A970587C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71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749B657-9133-CA4B-E6A9-ABEB2AEF1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081C0B-4198-EB00-6C4D-9E6F9ECE0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77721A-2E83-8E52-0234-841D3EE457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CBDE1-3259-472A-BBCB-F44EE1D75891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4B699B-501B-6AF3-0E1A-EA8185645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B28D6-AC55-5BFC-8538-DC25AD7F1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26064-801F-43E0-B6ED-1E01F7CC2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47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1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14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31AA9-E189-71E6-DE08-1700EA6F8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CC73AB-2842-A8FC-DCAB-4B5C6BCFA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下载原始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4F46C319-AF5C-C508-85E0-43F4B3B5D8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261CD8-114F-DB69-CD5F-C422DEE11319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A037AD8-B7EB-9E71-7AC6-CB035895DD7D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D5B09DE0-2A54-F078-03E9-C5191C98DA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92761591-5FC3-EA45-B48D-FEACD035F644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7EAE1335-D44C-2EE1-C4E6-56D8F4B8C9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6754BAAE-9C52-B933-F711-B105B3C23C26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F45BC5-F0A3-206E-0D61-83A3C9388DCC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367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DFD44-F13A-0171-E618-ACF36B351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CA73AB-ADD6-D839-2EB9-C74CB10A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031F06-BFDF-D532-C200-73D871200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分训练集、验证集与测试集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A595E334-06F2-386C-76C4-54E1FBE18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E375A8A-A0EA-A893-FB80-A2A8646E90CB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223361E-30C9-9B0F-A35A-EDB6832670D7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17C34622-0887-1107-89A2-47D69311B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4B6A6A3-52C1-1075-CC1F-0976CE16DC3B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277C1E6D-A193-7C3E-83BF-967F1D975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5C16EDC-5CA7-CE42-5541-0DE93445FDF2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C1EEA7B-86CC-CE44-A6D8-1E3BEFACC446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60EA4418-94E3-DDC6-AD58-80EFBA546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4D85DEAF-0B45-D0CB-3EE8-295DEBEA7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715AED67-F238-1823-EDAD-0539D4BD8B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B61D717-803B-DA35-1562-A26C9A669087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A254D8-A010-6252-FABA-CDC37FDE6F51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031778-656E-352E-CA67-30288879A8DB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图形 24" descr="筛选 纯色填充">
            <a:extLst>
              <a:ext uri="{FF2B5EF4-FFF2-40B4-BE49-F238E27FC236}">
                <a16:creationId xmlns:a16="http://schemas.microsoft.com/office/drawing/2014/main" id="{6B457918-365A-B78E-FD72-7CF7B62ADC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4FA0173-53F2-4014-935A-41D165A064E8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4A3B2E-C2FB-5DD6-5E3B-4E672EAA6B0A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4477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B741-AE39-5EFA-D50E-CB7E3B39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67C9DD-E6F8-FA07-D856-54E79EFD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42B2BC-1E92-374C-16D5-323977ACE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对剩余的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208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25F61EC5-AF72-A7C4-FB5E-EDB51C7BB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2A0DD8F-9B87-422B-1FE7-959176F83DE4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2F3DCD5-A21D-10C2-98F6-69A3FB5DB09C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7C833243-FC9D-5E87-DDE3-8CA329F8F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2DFBDEE-49E3-33CB-0D05-130DE2BE70D5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E89DAC88-314A-D17B-6942-B021F3E962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B03A32B1-3C4C-3221-8A67-784AE818060C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075F69DB-C044-FF1E-3463-62CC23C32015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7A81B1A4-51F6-C736-85D1-ED9518810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6647939D-1C27-9325-D25E-42C588F08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4286ED1C-08B0-002D-04EA-E271DF2F3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7AF18523-E43E-1216-F453-6FD197A0617A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4FFDF47-B04C-2D89-F52F-EC14E2153301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7F68C7-9CEF-4537-2E86-9AC155F94F81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076EBEF-670C-F02A-7950-76C8C4D2F67F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ACAD31EB-2BDF-06C5-C540-E6309513B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7E25F360-8950-5EB7-A7D0-D3DFE94D27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DDF010AA-4B5C-7799-164F-A765AC253A1A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2B125C-4AF2-3A4C-289E-DA8D6372F71E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2" name="图形 11" descr="数据库 轮廓">
            <a:extLst>
              <a:ext uri="{FF2B5EF4-FFF2-40B4-BE49-F238E27FC236}">
                <a16:creationId xmlns:a16="http://schemas.microsoft.com/office/drawing/2014/main" id="{C9B58FBE-8E03-1640-92E8-70253F714E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986" y="4184315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115247A-8E44-8E35-E893-1BDE6A697582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44C8E0D-0375-E0DB-1172-63494F585C1B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6FCC968-0C94-1AF1-8C66-CD6AC3C13649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275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C95EF-4B64-4C28-689A-0622DFD2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D5EF5-BD79-DBC8-66CC-763F8471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F4756-B539-7336-6C71-8504CD566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对剩余的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208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B04B365-8208-0499-D150-110DABA8F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00" y="2308857"/>
            <a:ext cx="6520224" cy="43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72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F9A5D-1BD5-F066-F183-07144876D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8CF73-EDAE-7D32-1832-75EB901B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ACC86C-4EC4-875D-A294-8DDE68E1D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参数做法对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文件进行构象预测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1397717B-A177-D7D0-1945-DB2B31AA6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1FCECBD-00A2-FE9B-4046-E93BE2AE8FDD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94942F8-467A-2886-975A-B2E1A97751FD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3C313793-312A-E533-4ABA-F469A962AE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2AAABF7-76F8-FA1A-1DEB-5133B4B054E1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4E2E0DFD-9A0E-0CDC-6D4D-CD933CE84D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12CF91C6-E6A1-A614-F3CE-8D7C1E276750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B74FC9E-ABA3-97F9-ADFF-A602F8626239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4B024892-A819-3DDA-4A37-218D897C2A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7524AE02-2F72-5D6F-DF6B-2E007BF91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0592C0ED-B484-D741-AC3C-2EF8D049D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690E5CD-6D15-2E0B-7E48-DE74E6D971B3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8B94-0FA8-A46A-6EED-508A89513515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9AFA3C-A87A-4757-8B47-636DC6DCC53F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DA1545E-7516-FB0E-2A8E-6D5EF3FBD804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68C13377-FBF9-75CE-64D8-65866FE37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E0CA3E29-4853-0F2B-B4D3-A8D83BCF53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CB57F0E-4AE5-8D24-C594-EA915FC28734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CF7C72DC-4AF6-F44E-27BD-2AA112ADE2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95261CE-197B-60D1-310E-477DA127AAB0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425AC2C0-C6F0-D9F9-676E-46140366AF82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75CAA289-A0E0-FA13-E007-D1A6CBDF1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6808CE6E-7C7D-B87B-7515-E50E7B599E09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17E6678-9142-0C32-B2B5-EC5F01EE678C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F588135-BDE2-3757-7D54-E15746B61409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49D16C9-D43A-8FD9-BDF4-984E69AA2D4A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429FB89-283A-7AE9-8F45-766C602EAA2E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881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F20E-E8F8-0C3E-6447-C5370793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B84814-B96D-3705-F906-B836D56A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8C9133-50F7-05FE-B5AC-D3E2AFA14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96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en-US" altLang="zh-CN" dirty="0" err="1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foldbench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参数做法，最终成功对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cif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文件进行了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5*5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pred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EB404BBD-3A5F-D709-6620-F704720C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1" y="2528958"/>
            <a:ext cx="6058469" cy="2567647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0252AE6-DAE0-2D5C-4989-27F652ABC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378" y="2528958"/>
            <a:ext cx="5943118" cy="282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8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84D2-E69E-F4C3-86D5-CA50BA70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CB322-5DDF-DD5B-B23F-61EC328F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5FD0C-E276-1932-12A1-7ED0D3130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6858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5*5pred Metrics</a:t>
            </a:r>
          </a:p>
          <a:p>
            <a:pPr marL="0" indent="0">
              <a:buNone/>
            </a:pP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B1277CFB-190F-270D-9E3D-7A66863A9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791" y="2361764"/>
            <a:ext cx="6355053" cy="424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56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B1E60-6151-082C-600A-D6F686A5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26A86D-F31B-EB11-ED48-C037EB05F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A35C6-A44E-7861-5FD3-FFC479EB0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protenix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跑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decoys(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跑完了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35AE7CC6-8631-B840-E9E7-FEFD0E96C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B9F1D43-0D32-6246-6914-1643CA5863A5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5CFF255-A372-6613-7EA5-88271A52EC6A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30A768E6-A9B9-9720-F3F2-6F5C4EFA3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258D818-49A7-5905-FDCF-A58B66BAFF47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EC62F9CE-BF6A-5CAB-BED1-382B041F4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5F02E27-B96F-093F-503D-5F4CABED3F6E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D48F19A7-B714-C491-360A-684F3370743B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B0C6EB8D-54FC-0C23-6BAD-8987602479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2A13B6DD-9131-6C84-316A-26416EE4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0EAA19D5-83C0-1AE6-DD2C-3479988723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739B23C-707E-FED2-CBB1-D43FA9C6D07F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FC214A-2E66-8C15-8B2E-3BC30A064F2B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568474-970A-8568-D824-7C7A576F16F1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8B88F62E-77C1-7290-B7A5-5AB51854DB38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B52C689F-8A39-D4C6-F2F7-9C610AC694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6E21F3B5-74EC-05A6-DAC3-491DF0C86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ADA6C5C4-3D41-5779-C167-6AF5EFEDD1CC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13C98A6C-D7F1-3D97-7FA7-C20B3AAE6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949EE13E-B11B-709C-8AE2-CBF702DE9DB1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673BA329-4033-9CFC-6496-3F06B2084D26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EF5405A6-B381-0CE8-0F83-399E74340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B29F6787-83F7-9C32-18E2-E25EE5A1B814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C6F773D-EF55-D903-F500-AEFDD361D54B}"/>
              </a:ext>
            </a:extLst>
          </p:cNvPr>
          <p:cNvCxnSpPr/>
          <p:nvPr/>
        </p:nvCxnSpPr>
        <p:spPr>
          <a:xfrm>
            <a:off x="7409505" y="3072468"/>
            <a:ext cx="738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49CFBC31-F217-9587-4127-B4391B68A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7845" y="2615268"/>
            <a:ext cx="914400" cy="9144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EAD08B7D-2AB3-241D-305D-3BD72ACAF8B0}"/>
              </a:ext>
            </a:extLst>
          </p:cNvPr>
          <p:cNvSpPr txBox="1"/>
          <p:nvPr/>
        </p:nvSpPr>
        <p:spPr>
          <a:xfrm>
            <a:off x="8097845" y="177577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seeds×4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跑完了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9FF523-AF19-F993-B7D5-EE7C040D340B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98F7567-4F1E-4654-F712-52A2C41E5FCD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4232D43-37A8-6B78-ABCB-CDB1AA0F539E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3222E33-5F06-848C-FDC3-22CC72F8544F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7172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6063-175C-6E28-3595-947B5B063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866763-C7AA-EB49-E044-5EAB2A8E9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813790-9BBE-5174-6FAB-B184CB27F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RNA-FM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生成残基嵌入向量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7" name="图形 6" descr="数据库 轮廓">
            <a:extLst>
              <a:ext uri="{FF2B5EF4-FFF2-40B4-BE49-F238E27FC236}">
                <a16:creationId xmlns:a16="http://schemas.microsoft.com/office/drawing/2014/main" id="{3F5F9663-DBC5-ABBF-98CA-7D69DFCE91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574" y="2615268"/>
            <a:ext cx="914400" cy="9144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09CAB8F-80C7-A200-4F01-DCC8ED1FDFF8}"/>
              </a:ext>
            </a:extLst>
          </p:cNvPr>
          <p:cNvSpPr txBox="1"/>
          <p:nvPr/>
        </p:nvSpPr>
        <p:spPr>
          <a:xfrm>
            <a:off x="917931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PDB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8B17D92-EBBA-57C0-C468-0898BC73C6CA}"/>
              </a:ext>
            </a:extLst>
          </p:cNvPr>
          <p:cNvCxnSpPr>
            <a:cxnSpLocks/>
          </p:cNvCxnSpPr>
          <p:nvPr/>
        </p:nvCxnSpPr>
        <p:spPr>
          <a:xfrm>
            <a:off x="1737895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图形 12" descr="筛选 轮廓">
            <a:extLst>
              <a:ext uri="{FF2B5EF4-FFF2-40B4-BE49-F238E27FC236}">
                <a16:creationId xmlns:a16="http://schemas.microsoft.com/office/drawing/2014/main" id="{0241FA24-04BD-A50D-587A-AC12B2F9C2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64226" y="3155879"/>
            <a:ext cx="629653" cy="629653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D2BF90A-656B-E9D8-D8EF-ADFB532DF627}"/>
              </a:ext>
            </a:extLst>
          </p:cNvPr>
          <p:cNvSpPr txBox="1"/>
          <p:nvPr/>
        </p:nvSpPr>
        <p:spPr>
          <a:xfrm>
            <a:off x="1570122" y="2857024"/>
            <a:ext cx="28468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是纯</a:t>
            </a:r>
            <a:r>
              <a:rPr lang="en-US" altLang="zh-CN" sz="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链且有实验数据</a:t>
            </a:r>
          </a:p>
        </p:txBody>
      </p:sp>
      <p:pic>
        <p:nvPicPr>
          <p:cNvPr id="16" name="图形 15" descr="数据库 轮廓">
            <a:extLst>
              <a:ext uri="{FF2B5EF4-FFF2-40B4-BE49-F238E27FC236}">
                <a16:creationId xmlns:a16="http://schemas.microsoft.com/office/drawing/2014/main" id="{0FF922CC-EBBC-2B9A-E941-BCD9DE903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6463" y="2615268"/>
            <a:ext cx="914400" cy="91440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8F680964-CD97-79C7-2A4D-6BC88342966E}"/>
              </a:ext>
            </a:extLst>
          </p:cNvPr>
          <p:cNvSpPr txBox="1"/>
          <p:nvPr/>
        </p:nvSpPr>
        <p:spPr>
          <a:xfrm>
            <a:off x="2811807" y="3503336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69CA4EE-BD29-79F6-FDE6-5C676D78A918}"/>
              </a:ext>
            </a:extLst>
          </p:cNvPr>
          <p:cNvCxnSpPr>
            <a:cxnSpLocks/>
          </p:cNvCxnSpPr>
          <p:nvPr/>
        </p:nvCxnSpPr>
        <p:spPr>
          <a:xfrm>
            <a:off x="3630863" y="3072468"/>
            <a:ext cx="882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图形 5" descr="打开文件夹 轮廓">
            <a:extLst>
              <a:ext uri="{FF2B5EF4-FFF2-40B4-BE49-F238E27FC236}">
                <a16:creationId xmlns:a16="http://schemas.microsoft.com/office/drawing/2014/main" id="{6BFCDB11-EDCC-185A-25D3-685DB3A69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62889" y="2588936"/>
            <a:ext cx="914400" cy="914400"/>
          </a:xfrm>
          <a:prstGeom prst="rect">
            <a:avLst/>
          </a:prstGeom>
        </p:spPr>
      </p:pic>
      <p:pic>
        <p:nvPicPr>
          <p:cNvPr id="11" name="图形 10" descr="打开文件夹 轮廓">
            <a:extLst>
              <a:ext uri="{FF2B5EF4-FFF2-40B4-BE49-F238E27FC236}">
                <a16:creationId xmlns:a16="http://schemas.microsoft.com/office/drawing/2014/main" id="{6AF016E7-38D9-AD84-51E1-9D187949E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7034" y="2584479"/>
            <a:ext cx="914400" cy="914400"/>
          </a:xfrm>
          <a:prstGeom prst="rect">
            <a:avLst/>
          </a:prstGeom>
        </p:spPr>
      </p:pic>
      <p:pic>
        <p:nvPicPr>
          <p:cNvPr id="15" name="图形 14" descr="打开文件夹 轮廓">
            <a:extLst>
              <a:ext uri="{FF2B5EF4-FFF2-40B4-BE49-F238E27FC236}">
                <a16:creationId xmlns:a16="http://schemas.microsoft.com/office/drawing/2014/main" id="{EFE9C952-C728-71DA-A0B4-C85F940AB9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2768" y="2588936"/>
            <a:ext cx="914400" cy="9144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1F2DCE3-49EA-B827-68FD-CA60547F545C}"/>
              </a:ext>
            </a:extLst>
          </p:cNvPr>
          <p:cNvSpPr txBox="1"/>
          <p:nvPr/>
        </p:nvSpPr>
        <p:spPr>
          <a:xfrm>
            <a:off x="4697539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3670CE-E224-D9C0-3CB1-A70A17A29D7A}"/>
              </a:ext>
            </a:extLst>
          </p:cNvPr>
          <p:cNvSpPr txBox="1"/>
          <p:nvPr/>
        </p:nvSpPr>
        <p:spPr>
          <a:xfrm>
            <a:off x="5739178" y="3498798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A68B76-2C75-0FAC-9101-8E4BBB76F56E}"/>
              </a:ext>
            </a:extLst>
          </p:cNvPr>
          <p:cNvSpPr txBox="1"/>
          <p:nvPr/>
        </p:nvSpPr>
        <p:spPr>
          <a:xfrm>
            <a:off x="6685794" y="3498492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34E15AF-92A6-F393-EA7A-1BC47A2E441F}"/>
              </a:ext>
            </a:extLst>
          </p:cNvPr>
          <p:cNvCxnSpPr>
            <a:cxnSpLocks/>
          </p:cNvCxnSpPr>
          <p:nvPr/>
        </p:nvCxnSpPr>
        <p:spPr>
          <a:xfrm>
            <a:off x="3170989" y="4031916"/>
            <a:ext cx="1245939" cy="609600"/>
          </a:xfrm>
          <a:prstGeom prst="bentConnector3">
            <a:avLst>
              <a:gd name="adj1" fmla="val 64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图形 23" descr="筛选 纯色填充">
            <a:extLst>
              <a:ext uri="{FF2B5EF4-FFF2-40B4-BE49-F238E27FC236}">
                <a16:creationId xmlns:a16="http://schemas.microsoft.com/office/drawing/2014/main" id="{FFE7328A-86E5-8059-0EE7-5CF2AA4174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6713" y="3184558"/>
            <a:ext cx="572294" cy="572294"/>
          </a:xfrm>
          <a:prstGeom prst="rect">
            <a:avLst/>
          </a:prstGeom>
        </p:spPr>
      </p:pic>
      <p:pic>
        <p:nvPicPr>
          <p:cNvPr id="26" name="图形 25" descr="数据库 轮廓">
            <a:extLst>
              <a:ext uri="{FF2B5EF4-FFF2-40B4-BE49-F238E27FC236}">
                <a16:creationId xmlns:a16="http://schemas.microsoft.com/office/drawing/2014/main" id="{74FC3EA7-CE82-BE43-BF52-58F6ED046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9390" y="4200705"/>
            <a:ext cx="914400" cy="9144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C5B89C1C-16AC-984D-4BD3-D1F1622F27BD}"/>
              </a:ext>
            </a:extLst>
          </p:cNvPr>
          <p:cNvSpPr txBox="1"/>
          <p:nvPr/>
        </p:nvSpPr>
        <p:spPr>
          <a:xfrm>
            <a:off x="5069972" y="4473239"/>
            <a:ext cx="2862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简单的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1" name="图形 30" descr="数据库 轮廓">
            <a:extLst>
              <a:ext uri="{FF2B5EF4-FFF2-40B4-BE49-F238E27FC236}">
                <a16:creationId xmlns:a16="http://schemas.microsoft.com/office/drawing/2014/main" id="{1094287E-5F43-ABBD-B332-E3C4E35BE6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40580" y="4184316"/>
            <a:ext cx="914400" cy="914400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4DE3EA0A-9258-DB90-1F84-9A4E01B091B6}"/>
              </a:ext>
            </a:extLst>
          </p:cNvPr>
          <p:cNvSpPr txBox="1"/>
          <p:nvPr/>
        </p:nvSpPr>
        <p:spPr>
          <a:xfrm>
            <a:off x="8663477" y="4503016"/>
            <a:ext cx="28629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复杂的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文件与</a:t>
            </a:r>
            <a:r>
              <a:rPr lang="en-US" altLang="zh-CN" sz="1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prep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文件夹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已完成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E394AC13-DF4B-CDA6-FF47-D3E2DCC3AB3E}"/>
              </a:ext>
            </a:extLst>
          </p:cNvPr>
          <p:cNvCxnSpPr/>
          <p:nvPr/>
        </p:nvCxnSpPr>
        <p:spPr>
          <a:xfrm>
            <a:off x="3170989" y="4641516"/>
            <a:ext cx="1208018" cy="1074821"/>
          </a:xfrm>
          <a:prstGeom prst="bentConnector3">
            <a:avLst>
              <a:gd name="adj1" fmla="val 42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图形 21" descr="数据库 轮廓">
            <a:extLst>
              <a:ext uri="{FF2B5EF4-FFF2-40B4-BE49-F238E27FC236}">
                <a16:creationId xmlns:a16="http://schemas.microsoft.com/office/drawing/2014/main" id="{9813F221-38D8-295E-9349-686D6B005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9390" y="5342773"/>
            <a:ext cx="914400" cy="9144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00EE57F-CA02-4CDC-437B-7E71D8D6187E}"/>
              </a:ext>
            </a:extLst>
          </p:cNvPr>
          <p:cNvSpPr txBox="1"/>
          <p:nvPr/>
        </p:nvSpPr>
        <p:spPr>
          <a:xfrm>
            <a:off x="5069972" y="559110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seeds×5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确定当前</a:t>
            </a:r>
            <a:r>
              <a:rPr lang="en-US" altLang="zh-CN" sz="1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folding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模型的</a:t>
            </a:r>
            <a:r>
              <a:rPr lang="en-US" altLang="zh-CN" sz="14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rna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rPr>
              <a:t>预测水平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5F6EB50-25EA-AA1E-7361-B3D5B2449E14}"/>
              </a:ext>
            </a:extLst>
          </p:cNvPr>
          <p:cNvCxnSpPr/>
          <p:nvPr/>
        </p:nvCxnSpPr>
        <p:spPr>
          <a:xfrm>
            <a:off x="7409505" y="3072468"/>
            <a:ext cx="7388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" name="图形 29" descr="数据库 轮廓">
            <a:extLst>
              <a:ext uri="{FF2B5EF4-FFF2-40B4-BE49-F238E27FC236}">
                <a16:creationId xmlns:a16="http://schemas.microsoft.com/office/drawing/2014/main" id="{E2970C37-FAC5-B717-8A53-58BEBABC85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97845" y="2615268"/>
            <a:ext cx="914400" cy="9144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B145CFA1-B7EA-8F32-13D0-DCEBBB01535C}"/>
              </a:ext>
            </a:extLst>
          </p:cNvPr>
          <p:cNvSpPr txBox="1"/>
          <p:nvPr/>
        </p:nvSpPr>
        <p:spPr>
          <a:xfrm>
            <a:off x="8097845" y="1775778"/>
            <a:ext cx="67624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protenix_base_default_v1.0.0;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 seeds×4 samples;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steps:200;</a:t>
            </a:r>
          </a:p>
          <a:p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Pairformer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cycles :10;</a:t>
            </a:r>
          </a:p>
          <a:p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精度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BF16;(</a:t>
            </a:r>
            <a:r>
              <a:rPr lang="zh-CN" altLang="en-US" sz="14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跑完了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1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5CBDF80-E98E-318E-055D-F04E1452C0F8}"/>
              </a:ext>
            </a:extLst>
          </p:cNvPr>
          <p:cNvCxnSpPr/>
          <p:nvPr/>
        </p:nvCxnSpPr>
        <p:spPr>
          <a:xfrm flipH="1">
            <a:off x="2493879" y="5716337"/>
            <a:ext cx="6771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9" name="图形 28" descr="数据库 轮廓">
            <a:extLst>
              <a:ext uri="{FF2B5EF4-FFF2-40B4-BE49-F238E27FC236}">
                <a16:creationId xmlns:a16="http://schemas.microsoft.com/office/drawing/2014/main" id="{169A9194-770D-2E38-EB19-435ACA550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63453" y="5313076"/>
            <a:ext cx="914400" cy="9144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B0EA27D6-F6F6-E855-E38F-8EFBC3DAC8BA}"/>
              </a:ext>
            </a:extLst>
          </p:cNvPr>
          <p:cNvSpPr txBox="1"/>
          <p:nvPr/>
        </p:nvSpPr>
        <p:spPr>
          <a:xfrm>
            <a:off x="1015821" y="6395796"/>
            <a:ext cx="2326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原始残基嵌入向量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FD1CD0-BE84-2180-4E50-D945B46384B6}"/>
              </a:ext>
            </a:extLst>
          </p:cNvPr>
          <p:cNvSpPr txBox="1"/>
          <p:nvPr/>
        </p:nvSpPr>
        <p:spPr>
          <a:xfrm>
            <a:off x="2811807" y="3855283"/>
            <a:ext cx="72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2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D5D09CE-1ACF-2AC4-84FB-56F8A5E5B722}"/>
              </a:ext>
            </a:extLst>
          </p:cNvPr>
          <p:cNvSpPr txBox="1"/>
          <p:nvPr/>
        </p:nvSpPr>
        <p:spPr>
          <a:xfrm>
            <a:off x="4711615" y="3860508"/>
            <a:ext cx="308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1795     116     101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12A37D6-87A5-5011-CCC5-DC0F0DB93A0A}"/>
              </a:ext>
            </a:extLst>
          </p:cNvPr>
          <p:cNvSpPr txBox="1"/>
          <p:nvPr/>
        </p:nvSpPr>
        <p:spPr>
          <a:xfrm>
            <a:off x="4459343" y="5040933"/>
            <a:ext cx="67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r>
              <a:rPr lang="en-US" altLang="zh-CN" dirty="0"/>
              <a:t>                                                  </a:t>
            </a:r>
            <a:r>
              <a:rPr lang="en-US" altLang="zh-CN" dirty="0">
                <a:solidFill>
                  <a:schemeClr val="tx2">
                    <a:lumMod val="90000"/>
                    <a:lumOff val="1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2227</a:t>
            </a:r>
            <a:endParaRPr lang="zh-CN" altLang="en-US" dirty="0">
              <a:solidFill>
                <a:schemeClr val="tx2">
                  <a:lumMod val="90000"/>
                  <a:lumOff val="1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9492747-372E-B508-6289-F517A1EA2838}"/>
              </a:ext>
            </a:extLst>
          </p:cNvPr>
          <p:cNvSpPr txBox="1"/>
          <p:nvPr/>
        </p:nvSpPr>
        <p:spPr>
          <a:xfrm>
            <a:off x="4450470" y="6207741"/>
            <a:ext cx="6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2199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DEDBE11-A1B0-2AF1-D6CF-99EBD6DC23AA}"/>
              </a:ext>
            </a:extLst>
          </p:cNvPr>
          <p:cNvSpPr txBox="1"/>
          <p:nvPr/>
        </p:nvSpPr>
        <p:spPr>
          <a:xfrm>
            <a:off x="1653794" y="6157678"/>
            <a:ext cx="733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3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2241</a:t>
            </a:r>
            <a:endParaRPr lang="zh-CN" altLang="en-US" dirty="0">
              <a:solidFill>
                <a:schemeClr val="accent3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63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AB9F-D5C2-B60C-8051-E477C440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55E15-AD76-1798-A33C-D981AEC73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4EA13-EC12-E112-B3A8-F1600E089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1170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decoy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中的原子与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ground_truth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中的原子进行严格对齐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53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1456</TotalTime>
  <Words>2449</Words>
  <Application>Microsoft Office PowerPoint</Application>
  <PresentationFormat>宽屏</PresentationFormat>
  <Paragraphs>209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黑体</vt:lpstr>
      <vt:lpstr>Arial</vt:lpstr>
      <vt:lpstr>Times New Roman</vt:lpstr>
      <vt:lpstr>Office 主题​​</vt:lpstr>
      <vt:lpstr>Data</vt:lpstr>
      <vt:lpstr>Data</vt:lpstr>
      <vt:lpstr>Data</vt:lpstr>
      <vt:lpstr>Data</vt:lpstr>
      <vt:lpstr>Data</vt:lpstr>
      <vt:lpstr>Data</vt:lpstr>
      <vt:lpstr>Data</vt:lpstr>
      <vt:lpstr>Data</vt:lpstr>
      <vt:lpstr>Data</vt:lpstr>
      <vt:lpstr>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177</cp:revision>
  <dcterms:created xsi:type="dcterms:W3CDTF">2026-08-12T07:21:45Z</dcterms:created>
  <dcterms:modified xsi:type="dcterms:W3CDTF">2026-08-19T17:04:04Z</dcterms:modified>
</cp:coreProperties>
</file>