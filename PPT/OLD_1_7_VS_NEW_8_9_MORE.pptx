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63" r:id="rId6"/>
    <p:sldId id="262" r:id="rId7"/>
    <p:sldId id="258" r:id="rId8"/>
    <p:sldId id="25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001" autoAdjust="0"/>
  </p:normalViewPr>
  <p:slideViewPr>
    <p:cSldViewPr snapToGrid="0" showGuides="1">
      <p:cViewPr varScale="1">
        <p:scale>
          <a:sx n="127" d="100"/>
          <a:sy n="127" d="100"/>
        </p:scale>
        <p:origin x="137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78150-9DA1-46F4-906F-54CC8E23C8F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A3546-587C-424D-978B-56E62FA27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231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A3360-E8EF-6F79-A2DB-89CA9E31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2DDA94-6DDF-8577-D7C0-E744FA4F3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BE348-F4CA-230F-2F83-A9962E6EE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A04A-B487-4927-AFFB-C8FBC805A469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DF457D-30C9-A772-A65F-0A736103D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5089EB-ABEB-B91E-4633-1955D66CC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6B64C-807F-478D-B420-96EAFB2F97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714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177E3-33F1-1D0E-1C1E-515C8C94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25CEBA-8655-4835-D59E-C76814C03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CF7EA-D82E-EB4C-AD64-54CD0913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A04A-B487-4927-AFFB-C8FBC805A469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753E0C-22C6-F501-1841-5DAB9C8D8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27A992-81C4-541A-7EBE-374A39963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6B64C-807F-478D-B420-96EAFB2F97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656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B87E9-3821-5A79-46B6-D286A46EF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DAE395-2135-348E-3B03-1B6E544A7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E74F57-5BA7-C781-5ABA-C92FD1EF4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A04A-B487-4927-AFFB-C8FBC805A469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69F571-3809-9675-BE55-EA03533DC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A850BA-4C61-7137-DFF9-39060A9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6B64C-807F-478D-B420-96EAFB2F97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63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0805A-83B9-D6AF-1D9A-6E3243EB0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7B85A9-9EFA-3EBD-AE9D-DCBB36DA2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CEDF5F-8E5C-09E9-17A0-28FDE0DD6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3FD270-1A4C-5697-EF6B-627F14225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A04A-B487-4927-AFFB-C8FBC805A469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809643-CCC1-AE3A-BEBE-26F68490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1842F2-0A97-8A31-F856-2147AF37D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6B64C-807F-478D-B420-96EAFB2F97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304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99530-90C3-B7F2-4431-18D84BE9C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4C35A8-ADFE-56D2-47E7-66A9C4B5F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EFD6E0-BF8F-3A78-0FE0-D39FB4CB4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2F1CD6-F7AE-6BCE-2F1D-0FC4C14F3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DD8142-DD46-5A7E-AB6B-F0E26B1A5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7208FE2-F9AE-32E5-CE7E-CD19DF73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A04A-B487-4927-AFFB-C8FBC805A469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F56AE7B-B309-71B0-A722-F22C62637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BBFAEE-F969-2B48-27C7-649854C7F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6B64C-807F-478D-B420-96EAFB2F97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1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578ECF-466A-D46E-15A4-0ED164068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F4A1C2-A2C7-CC09-78F2-2F354361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A04A-B487-4927-AFFB-C8FBC805A469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D93A4B-801B-9BD4-9D36-25365109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C10D52-A711-8C70-F8A7-99198F1FC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6B64C-807F-478D-B420-96EAFB2F97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935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CF96BD-8A24-A4FD-2179-5CC3A8C34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A04A-B487-4927-AFFB-C8FBC805A469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90132D-F374-A473-DEAA-6AEC9131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A7ADB9-7583-7050-905C-442F16082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6B64C-807F-478D-B420-96EAFB2F97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811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9E0CA-B237-399F-0C7B-753B7522A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6CB27A-1F20-3FBF-049C-AEAB70DC6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7EE6D3-E09B-221E-0899-709A4D444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A9BA28-246D-E89F-549F-E6F01693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A04A-B487-4927-AFFB-C8FBC805A469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975554-BA64-522C-B261-3F160AA7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55B233-23DF-77B9-E771-E22E2870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6B64C-807F-478D-B420-96EAFB2F97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452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8FC36-DC92-12DB-6F9A-CD6DF407A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1F4B2F-4660-1F44-1944-E5F4DD772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992418-F8BC-04CD-9F9E-DD12CAC30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1F3D70-D6FD-DA7E-E75C-CEDD4B2F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A04A-B487-4927-AFFB-C8FBC805A469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9BF28E-244A-AA12-08C6-38FD5BF0D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CD8CBF-CDD7-360D-040D-80713338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6B64C-807F-478D-B420-96EAFB2F97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41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FF4163-2DD3-95D8-376B-B68DF453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0C5A36-987F-867A-526D-0273AD6F2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DF9644-A5AB-0007-42C4-3D478B3ED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A04A-B487-4927-AFFB-C8FBC805A469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253BCA-9185-BF2A-B907-535FC2FF8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C96C51-CA3F-EE9A-0C87-8B04A961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6B64C-807F-478D-B420-96EAFB2F97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058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EA5748-1B47-4049-3457-A14EA51953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8C379D-C8BF-4BD3-65F0-25423F3E7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9A511B-C0F5-5B9C-8767-AC45D62E3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A04A-B487-4927-AFFB-C8FBC805A469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5E1A6A-1626-5AC4-AA4B-5604B024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C2A368-B330-02E1-5920-D8E273C9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6B64C-807F-478D-B420-96EAFB2F97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98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EA677A-C60C-E976-E528-75D96CB57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380BB7-D311-45CC-A7C9-49E5E6C80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66C067-5831-FF19-7AEE-767C2C566A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DA04A-B487-4927-AFFB-C8FBC805A469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CEE79F-7177-8B6D-546C-4FB5F14206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BC597-7BA5-6D60-9ED8-A025FEF8B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6B64C-807F-478D-B420-96EAFB2F97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01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41006C-B3E6-CBCB-4205-3F8EF30DE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OLD</a:t>
            </a:r>
            <a:r>
              <a:rPr lang="en-US" altLang="zh-CN" dirty="0"/>
              <a:t> VS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NEW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38898A-C22D-88A5-16AB-980266447E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050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012FC-8D6B-5D67-F983-1D5D32865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60666" cy="1321674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数据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_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原始数据与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decoy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生成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形 4" descr="数据库 轮廓">
            <a:extLst>
              <a:ext uri="{FF2B5EF4-FFF2-40B4-BE49-F238E27FC236}">
                <a16:creationId xmlns:a16="http://schemas.microsoft.com/office/drawing/2014/main" id="{0B0CFDFC-257E-34DA-E6C1-C8B2FF816D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568" y="2971800"/>
            <a:ext cx="914400" cy="9144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A1D02A7-81B7-3F76-BDF0-C64A7D2AD459}"/>
              </a:ext>
            </a:extLst>
          </p:cNvPr>
          <p:cNvSpPr txBox="1"/>
          <p:nvPr/>
        </p:nvSpPr>
        <p:spPr>
          <a:xfrm>
            <a:off x="334861" y="3886200"/>
            <a:ext cx="73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72911777-C8AF-BAD3-1A83-B0E90E9014F4}"/>
              </a:ext>
            </a:extLst>
          </p:cNvPr>
          <p:cNvCxnSpPr>
            <a:cxnSpLocks/>
          </p:cNvCxnSpPr>
          <p:nvPr/>
        </p:nvCxnSpPr>
        <p:spPr>
          <a:xfrm flipV="1">
            <a:off x="1066101" y="2722228"/>
            <a:ext cx="1991686" cy="706773"/>
          </a:xfrm>
          <a:prstGeom prst="bentConnector3">
            <a:avLst>
              <a:gd name="adj1" fmla="val -123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E3E2BEC0-02E2-B059-2C34-56C85C65E3DA}"/>
              </a:ext>
            </a:extLst>
          </p:cNvPr>
          <p:cNvSpPr txBox="1"/>
          <p:nvPr/>
        </p:nvSpPr>
        <p:spPr>
          <a:xfrm>
            <a:off x="845887" y="2399250"/>
            <a:ext cx="2189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至少包含一个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聚合物实体</a:t>
            </a:r>
          </a:p>
        </p:txBody>
      </p:sp>
      <p:pic>
        <p:nvPicPr>
          <p:cNvPr id="17" name="图形 16" descr="数据库 轮廓">
            <a:extLst>
              <a:ext uri="{FF2B5EF4-FFF2-40B4-BE49-F238E27FC236}">
                <a16:creationId xmlns:a16="http://schemas.microsoft.com/office/drawing/2014/main" id="{604692C3-6978-976F-95B8-72814AABB1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1920" y="2219050"/>
            <a:ext cx="914400" cy="914400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92291FD-E744-F5DE-EA23-7ECDB6FC4340}"/>
              </a:ext>
            </a:extLst>
          </p:cNvPr>
          <p:cNvCxnSpPr/>
          <p:nvPr/>
        </p:nvCxnSpPr>
        <p:spPr>
          <a:xfrm>
            <a:off x="3946320" y="2722384"/>
            <a:ext cx="9276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1153C4EB-1295-F9D0-FC27-8DE4249D26C1}"/>
              </a:ext>
            </a:extLst>
          </p:cNvPr>
          <p:cNvSpPr txBox="1"/>
          <p:nvPr/>
        </p:nvSpPr>
        <p:spPr>
          <a:xfrm>
            <a:off x="3905073" y="2429494"/>
            <a:ext cx="5494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分类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5" name="图形 24" descr="数据库 轮廓">
            <a:extLst>
              <a:ext uri="{FF2B5EF4-FFF2-40B4-BE49-F238E27FC236}">
                <a16:creationId xmlns:a16="http://schemas.microsoft.com/office/drawing/2014/main" id="{E949399E-6986-F2A3-AC91-BC2A1D5D1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4853" y="2219049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25A26444-C18D-3E50-44D8-D63A50FE1BA3}"/>
              </a:ext>
            </a:extLst>
          </p:cNvPr>
          <p:cNvSpPr txBox="1"/>
          <p:nvPr/>
        </p:nvSpPr>
        <p:spPr>
          <a:xfrm>
            <a:off x="4880993" y="3075614"/>
            <a:ext cx="822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1979.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2FB69A8B-7BFC-2BFE-98EC-54F2472AF8E6}"/>
              </a:ext>
            </a:extLst>
          </p:cNvPr>
          <p:cNvCxnSpPr/>
          <p:nvPr/>
        </p:nvCxnSpPr>
        <p:spPr>
          <a:xfrm>
            <a:off x="1066101" y="3429000"/>
            <a:ext cx="3768752" cy="706772"/>
          </a:xfrm>
          <a:prstGeom prst="bentConnector3">
            <a:avLst>
              <a:gd name="adj1" fmla="val -84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8F31208-6EB2-4118-6BBD-C59C7A4B4E3E}"/>
              </a:ext>
            </a:extLst>
          </p:cNvPr>
          <p:cNvCxnSpPr>
            <a:stCxn id="27" idx="2"/>
          </p:cNvCxnSpPr>
          <p:nvPr/>
        </p:nvCxnSpPr>
        <p:spPr>
          <a:xfrm>
            <a:off x="5292053" y="3352613"/>
            <a:ext cx="0" cy="284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CBC48489-D53A-AC5D-1953-3BB93F3161BB}"/>
              </a:ext>
            </a:extLst>
          </p:cNvPr>
          <p:cNvSpPr txBox="1"/>
          <p:nvPr/>
        </p:nvSpPr>
        <p:spPr>
          <a:xfrm>
            <a:off x="1091968" y="3840065"/>
            <a:ext cx="2189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迁移一部分旧的，新增新的</a:t>
            </a:r>
          </a:p>
        </p:txBody>
      </p:sp>
      <p:pic>
        <p:nvPicPr>
          <p:cNvPr id="36" name="图形 35" descr="数据库 轮廓">
            <a:extLst>
              <a:ext uri="{FF2B5EF4-FFF2-40B4-BE49-F238E27FC236}">
                <a16:creationId xmlns:a16="http://schemas.microsoft.com/office/drawing/2014/main" id="{17BE6FDA-DD02-8216-F4F6-CD0C943909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4853" y="3754081"/>
            <a:ext cx="914400" cy="914400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6BAAC428-5C76-19A7-F3A5-2845F1AF500D}"/>
              </a:ext>
            </a:extLst>
          </p:cNvPr>
          <p:cNvSpPr txBox="1"/>
          <p:nvPr/>
        </p:nvSpPr>
        <p:spPr>
          <a:xfrm>
            <a:off x="4471326" y="4668481"/>
            <a:ext cx="1641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2241.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(1979-5+267)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1A28D52-01E5-6893-C836-636687FE3E44}"/>
              </a:ext>
            </a:extLst>
          </p:cNvPr>
          <p:cNvCxnSpPr/>
          <p:nvPr/>
        </p:nvCxnSpPr>
        <p:spPr>
          <a:xfrm>
            <a:off x="5749253" y="2726577"/>
            <a:ext cx="12891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31EE000-AE82-E2DA-C8BE-85CF437B1342}"/>
              </a:ext>
            </a:extLst>
          </p:cNvPr>
          <p:cNvSpPr txBox="1"/>
          <p:nvPr/>
        </p:nvSpPr>
        <p:spPr>
          <a:xfrm>
            <a:off x="6205747" y="2435056"/>
            <a:ext cx="480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719AB926-95DB-15C4-416E-ECD2CFB3C976}"/>
              </a:ext>
            </a:extLst>
          </p:cNvPr>
          <p:cNvCxnSpPr>
            <a:cxnSpLocks/>
          </p:cNvCxnSpPr>
          <p:nvPr/>
        </p:nvCxnSpPr>
        <p:spPr>
          <a:xfrm>
            <a:off x="6455328" y="2971800"/>
            <a:ext cx="0" cy="1006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9C09F660-CE3F-D978-3ADA-2A97924A87CA}"/>
              </a:ext>
            </a:extLst>
          </p:cNvPr>
          <p:cNvSpPr txBox="1"/>
          <p:nvPr/>
        </p:nvSpPr>
        <p:spPr>
          <a:xfrm>
            <a:off x="6434348" y="3214113"/>
            <a:ext cx="3083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共享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prep(</a:t>
            </a:r>
            <a:r>
              <a:rPr lang="zh-CN" altLang="en-US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新增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zh-CN" altLang="en-US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使用相同的数据库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23275A02-C4D0-BACB-5C06-6449DA67300C}"/>
              </a:ext>
            </a:extLst>
          </p:cNvPr>
          <p:cNvCxnSpPr/>
          <p:nvPr/>
        </p:nvCxnSpPr>
        <p:spPr>
          <a:xfrm>
            <a:off x="5703113" y="4165134"/>
            <a:ext cx="14065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4C0A22E8-7554-E8EF-3A94-55DA25902694}"/>
              </a:ext>
            </a:extLst>
          </p:cNvPr>
          <p:cNvSpPr txBox="1"/>
          <p:nvPr/>
        </p:nvSpPr>
        <p:spPr>
          <a:xfrm>
            <a:off x="6205748" y="4211281"/>
            <a:ext cx="522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2" name="图形 51" descr="数据库 轮廓">
            <a:extLst>
              <a:ext uri="{FF2B5EF4-FFF2-40B4-BE49-F238E27FC236}">
                <a16:creationId xmlns:a16="http://schemas.microsoft.com/office/drawing/2014/main" id="{BBFF1A59-2C5B-9063-6BEC-894D525B2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59343" y="2219049"/>
            <a:ext cx="914400" cy="914400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C14C4C1F-EF57-4BB9-A2E9-AA7186B2AEB6}"/>
              </a:ext>
            </a:extLst>
          </p:cNvPr>
          <p:cNvSpPr txBox="1"/>
          <p:nvPr/>
        </p:nvSpPr>
        <p:spPr>
          <a:xfrm>
            <a:off x="7257182" y="3035282"/>
            <a:ext cx="5187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1979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6" name="图形 55" descr="数据库 轮廓">
            <a:extLst>
              <a:ext uri="{FF2B5EF4-FFF2-40B4-BE49-F238E27FC236}">
                <a16:creationId xmlns:a16="http://schemas.microsoft.com/office/drawing/2014/main" id="{F9C45B14-73E4-7359-14AA-7E86DA129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9343" y="3678572"/>
            <a:ext cx="914400" cy="914400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FF795831-8F27-A7BA-7B6B-D7710B254E32}"/>
              </a:ext>
            </a:extLst>
          </p:cNvPr>
          <p:cNvSpPr txBox="1"/>
          <p:nvPr/>
        </p:nvSpPr>
        <p:spPr>
          <a:xfrm>
            <a:off x="6940505" y="4612337"/>
            <a:ext cx="1641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(2241-14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13B2657-CCB8-F883-9577-87020C001E34}"/>
              </a:ext>
            </a:extLst>
          </p:cNvPr>
          <p:cNvCxnSpPr>
            <a:cxnSpLocks/>
          </p:cNvCxnSpPr>
          <p:nvPr/>
        </p:nvCxnSpPr>
        <p:spPr>
          <a:xfrm>
            <a:off x="7973743" y="2722228"/>
            <a:ext cx="31710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AC363FC0-B676-752C-8FDD-E75250BBE1B5}"/>
              </a:ext>
            </a:extLst>
          </p:cNvPr>
          <p:cNvSpPr txBox="1"/>
          <p:nvPr/>
        </p:nvSpPr>
        <p:spPr>
          <a:xfrm>
            <a:off x="7843720" y="2031589"/>
            <a:ext cx="3535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it-IT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rotenix_base_default_v1.0.0;    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seeds×50 samples;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steps:200;Pairformer cycles:10;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 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use_msa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use_rna_msa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use_template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:False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" name="图形 66" descr="数据库 轮廓">
            <a:extLst>
              <a:ext uri="{FF2B5EF4-FFF2-40B4-BE49-F238E27FC236}">
                <a16:creationId xmlns:a16="http://schemas.microsoft.com/office/drawing/2014/main" id="{191A4C16-A047-ADF4-5322-4AE63DDDC6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0032" y="2219049"/>
            <a:ext cx="914400" cy="914400"/>
          </a:xfrm>
          <a:prstGeom prst="rect">
            <a:avLst/>
          </a:prstGeom>
        </p:spPr>
      </p:pic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0AD6DCC-A113-6627-87FA-D5CF65822806}"/>
              </a:ext>
            </a:extLst>
          </p:cNvPr>
          <p:cNvCxnSpPr/>
          <p:nvPr/>
        </p:nvCxnSpPr>
        <p:spPr>
          <a:xfrm>
            <a:off x="7973743" y="4165134"/>
            <a:ext cx="32591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738DF26C-E132-4975-0256-509273704B34}"/>
              </a:ext>
            </a:extLst>
          </p:cNvPr>
          <p:cNvSpPr txBox="1"/>
          <p:nvPr/>
        </p:nvSpPr>
        <p:spPr>
          <a:xfrm>
            <a:off x="7899646" y="4243005"/>
            <a:ext cx="3535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it-IT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rotenix_base_default_v1.0.0;    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seeds×4 samples;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steps:200;Pairformer cycles:10;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 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use_msa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use_rna_msa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use_template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:False</a:t>
            </a:r>
          </a:p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包含置信度</a:t>
            </a:r>
            <a:endParaRPr lang="zh-CN" altLang="zh-CN" sz="1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4" name="图形 73" descr="数据库 轮廓">
            <a:extLst>
              <a:ext uri="{FF2B5EF4-FFF2-40B4-BE49-F238E27FC236}">
                <a16:creationId xmlns:a16="http://schemas.microsoft.com/office/drawing/2014/main" id="{FB7D6D28-9E8C-41CF-0041-AA2518BB1E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44788" y="367495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61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54D26-6725-C979-9E2B-21DB03091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B7DB82-A037-B32D-36E5-EBC25FF23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578051" cy="1321674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数据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_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三集划分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B315F166-CA2A-6C6E-3159-6A416F99A1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2923724"/>
            <a:ext cx="914400" cy="914400"/>
          </a:xfrm>
          <a:prstGeom prst="rect">
            <a:avLst/>
          </a:prstGeom>
        </p:spPr>
      </p:pic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B67CC85C-D54F-C54D-441E-7B2ACE76CB38}"/>
              </a:ext>
            </a:extLst>
          </p:cNvPr>
          <p:cNvCxnSpPr>
            <a:cxnSpLocks/>
          </p:cNvCxnSpPr>
          <p:nvPr/>
        </p:nvCxnSpPr>
        <p:spPr>
          <a:xfrm flipV="1">
            <a:off x="1295400" y="2730617"/>
            <a:ext cx="4800600" cy="698383"/>
          </a:xfrm>
          <a:prstGeom prst="bentConnector3">
            <a:avLst>
              <a:gd name="adj1" fmla="val 109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FAA2439-38F5-0C4F-6BCD-5BC78746DACA}"/>
              </a:ext>
            </a:extLst>
          </p:cNvPr>
          <p:cNvSpPr txBox="1"/>
          <p:nvPr/>
        </p:nvSpPr>
        <p:spPr>
          <a:xfrm>
            <a:off x="1208015" y="2409575"/>
            <a:ext cx="5905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把</a:t>
            </a:r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中所有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链拼接，聚类，按簇划分到三集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贪心算法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，按照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8:1:1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6" name="图形 25" descr="打开文件夹 轮廓">
            <a:extLst>
              <a:ext uri="{FF2B5EF4-FFF2-40B4-BE49-F238E27FC236}">
                <a16:creationId xmlns:a16="http://schemas.microsoft.com/office/drawing/2014/main" id="{24402EED-D566-8CFC-5D42-EDE8B8BAAC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9465" y="2229374"/>
            <a:ext cx="914400" cy="914400"/>
          </a:xfrm>
          <a:prstGeom prst="rect">
            <a:avLst/>
          </a:prstGeom>
        </p:spPr>
      </p:pic>
      <p:pic>
        <p:nvPicPr>
          <p:cNvPr id="30" name="图形 29" descr="打开文件夹 轮廓">
            <a:extLst>
              <a:ext uri="{FF2B5EF4-FFF2-40B4-BE49-F238E27FC236}">
                <a16:creationId xmlns:a16="http://schemas.microsoft.com/office/drawing/2014/main" id="{B37DA689-75FC-C7A7-9724-761DDF3C1D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5619" y="2209261"/>
            <a:ext cx="914400" cy="914400"/>
          </a:xfrm>
          <a:prstGeom prst="rect">
            <a:avLst/>
          </a:prstGeom>
        </p:spPr>
      </p:pic>
      <p:pic>
        <p:nvPicPr>
          <p:cNvPr id="33" name="图形 32" descr="打开文件夹 轮廓">
            <a:extLst>
              <a:ext uri="{FF2B5EF4-FFF2-40B4-BE49-F238E27FC236}">
                <a16:creationId xmlns:a16="http://schemas.microsoft.com/office/drawing/2014/main" id="{8842B489-7401-B539-2705-DE248702B2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7542" y="2209261"/>
            <a:ext cx="914400" cy="914400"/>
          </a:xfrm>
          <a:prstGeom prst="rect">
            <a:avLst/>
          </a:prstGeom>
        </p:spPr>
      </p:pic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0A11766A-826C-4634-AA71-D82100FF5936}"/>
              </a:ext>
            </a:extLst>
          </p:cNvPr>
          <p:cNvCxnSpPr/>
          <p:nvPr/>
        </p:nvCxnSpPr>
        <p:spPr>
          <a:xfrm>
            <a:off x="1295400" y="3429000"/>
            <a:ext cx="4800600" cy="702578"/>
          </a:xfrm>
          <a:prstGeom prst="bentConnector3">
            <a:avLst>
              <a:gd name="adj1" fmla="val 109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EA7D5F69-DDEA-C9D4-E764-102379C241F5}"/>
              </a:ext>
            </a:extLst>
          </p:cNvPr>
          <p:cNvSpPr txBox="1"/>
          <p:nvPr/>
        </p:nvSpPr>
        <p:spPr>
          <a:xfrm>
            <a:off x="571851" y="4223524"/>
            <a:ext cx="58541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V1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只关心包含一条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链的</a:t>
            </a:r>
            <a:r>
              <a:rPr lang="en-US" altLang="zh-CN" sz="1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文件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按照时间划分三集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测试集对其他两集去除同源序列，内部去冗余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训练集去除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ranking_score_1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RMSD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大于等于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15Å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1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文件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生成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pt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时去除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RMSD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大于等于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30Å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pt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去除难生成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pt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文件的</a:t>
            </a:r>
            <a:r>
              <a:rPr lang="en-US" altLang="zh-CN" sz="1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文件</a:t>
            </a:r>
            <a:endParaRPr lang="en-US" altLang="zh-CN" sz="10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10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V2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只关心包含一条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链的</a:t>
            </a:r>
            <a:r>
              <a:rPr lang="en-US" altLang="zh-CN" sz="1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文件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按照时间划分三集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测试集对其他两集去除同源序列，内部去冗余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训练集不再去除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ranking_score_1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RMSD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大于等于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15Å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1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文件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Å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生成</a:t>
            </a:r>
            <a:r>
              <a:rPr lang="en-US" altLang="zh-CN" sz="1000" dirty="0"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pt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时不去除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RMSD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大于等于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30Å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pt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，但是它们不进入数据集，并且探究其与</a:t>
            </a:r>
            <a:r>
              <a:rPr lang="en-US" altLang="zh-CN" sz="1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ranking_score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的关系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希望可以通过</a:t>
            </a:r>
            <a:r>
              <a:rPr lang="en-US" altLang="zh-CN" sz="1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ranking_score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把这类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pt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剔除掉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);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把</a:t>
            </a:r>
            <a:r>
              <a:rPr lang="en-US" altLang="zh-CN" sz="1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foldbench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中的测试集全部聚集到本测试集中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希望能刷高</a:t>
            </a:r>
            <a:r>
              <a:rPr lang="en-US" altLang="zh-CN" sz="1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foldbench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的分数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，包括验证集的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个，现在已经在测试集中的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个以及被测试集内部去冗余排除掉的</a:t>
            </a:r>
            <a:r>
              <a:rPr lang="en-US" altLang="zh-CN" sz="1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endParaRPr lang="zh-CN" altLang="en-US" sz="1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7" name="图形 46" descr="打开文件夹 轮廓">
            <a:extLst>
              <a:ext uri="{FF2B5EF4-FFF2-40B4-BE49-F238E27FC236}">
                <a16:creationId xmlns:a16="http://schemas.microsoft.com/office/drawing/2014/main" id="{A2D66D02-FA3F-C539-7D2D-7C0476ECF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9586" y="3674378"/>
            <a:ext cx="914400" cy="914400"/>
          </a:xfrm>
          <a:prstGeom prst="rect">
            <a:avLst/>
          </a:prstGeom>
        </p:spPr>
      </p:pic>
      <p:pic>
        <p:nvPicPr>
          <p:cNvPr id="51" name="图形 50" descr="打开文件夹 轮廓">
            <a:extLst>
              <a:ext uri="{FF2B5EF4-FFF2-40B4-BE49-F238E27FC236}">
                <a16:creationId xmlns:a16="http://schemas.microsoft.com/office/drawing/2014/main" id="{24D128B9-21E5-9D9A-AD5A-D7086DD2A5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731" y="3669921"/>
            <a:ext cx="914400" cy="914400"/>
          </a:xfrm>
          <a:prstGeom prst="rect">
            <a:avLst/>
          </a:prstGeom>
        </p:spPr>
      </p:pic>
      <p:pic>
        <p:nvPicPr>
          <p:cNvPr id="55" name="图形 54" descr="打开文件夹 轮廓">
            <a:extLst>
              <a:ext uri="{FF2B5EF4-FFF2-40B4-BE49-F238E27FC236}">
                <a16:creationId xmlns:a16="http://schemas.microsoft.com/office/drawing/2014/main" id="{F8CEDB13-2CF5-321F-986A-01A2EF2297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9465" y="3674378"/>
            <a:ext cx="914400" cy="914400"/>
          </a:xfrm>
          <a:prstGeom prst="rect">
            <a:avLst/>
          </a:prstGeom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6E1DF4CC-8487-67DC-26DC-1D1C0EF35134}"/>
              </a:ext>
            </a:extLst>
          </p:cNvPr>
          <p:cNvSpPr txBox="1"/>
          <p:nvPr/>
        </p:nvSpPr>
        <p:spPr>
          <a:xfrm>
            <a:off x="6264236" y="4583934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F59552C-CAD3-5629-06EF-3CE090C0CA10}"/>
              </a:ext>
            </a:extLst>
          </p:cNvPr>
          <p:cNvSpPr txBox="1"/>
          <p:nvPr/>
        </p:nvSpPr>
        <p:spPr>
          <a:xfrm>
            <a:off x="7305875" y="4584240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34C214C-CAA9-74C6-EB79-298C8CBF8E6A}"/>
              </a:ext>
            </a:extLst>
          </p:cNvPr>
          <p:cNvSpPr txBox="1"/>
          <p:nvPr/>
        </p:nvSpPr>
        <p:spPr>
          <a:xfrm>
            <a:off x="8252491" y="4583934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AF428E-70AB-5507-DB57-B56EE462C074}"/>
              </a:ext>
            </a:extLst>
          </p:cNvPr>
          <p:cNvSpPr txBox="1"/>
          <p:nvPr/>
        </p:nvSpPr>
        <p:spPr>
          <a:xfrm>
            <a:off x="6264236" y="298277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DBB99B-2D8A-DCC6-A533-16B5767A898F}"/>
              </a:ext>
            </a:extLst>
          </p:cNvPr>
          <p:cNvSpPr txBox="1"/>
          <p:nvPr/>
        </p:nvSpPr>
        <p:spPr>
          <a:xfrm>
            <a:off x="7305875" y="298308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DBDC7D-9785-B0C1-AA2F-70CEA44A2626}"/>
              </a:ext>
            </a:extLst>
          </p:cNvPr>
          <p:cNvSpPr txBox="1"/>
          <p:nvPr/>
        </p:nvSpPr>
        <p:spPr>
          <a:xfrm>
            <a:off x="8252491" y="298277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28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D352A-54A5-CA15-4312-075D8C5E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F2E232-1AAE-E923-4AE6-B31833953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266363" cy="1321674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数据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_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pt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生成脚本逻辑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形 3" descr="文档 纯色填充">
            <a:extLst>
              <a:ext uri="{FF2B5EF4-FFF2-40B4-BE49-F238E27FC236}">
                <a16:creationId xmlns:a16="http://schemas.microsoft.com/office/drawing/2014/main" id="{51567093-2226-BFC6-05F6-09CEDEDE0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789" y="2175468"/>
            <a:ext cx="640582" cy="64058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3F96AF5-0303-BB01-80EA-1585E96CAAF7}"/>
              </a:ext>
            </a:extLst>
          </p:cNvPr>
          <p:cNvSpPr txBox="1"/>
          <p:nvPr/>
        </p:nvSpPr>
        <p:spPr>
          <a:xfrm>
            <a:off x="0" y="2816050"/>
            <a:ext cx="8641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cif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9CFA798-B67A-28E7-A741-C2DEB6F58B89}"/>
              </a:ext>
            </a:extLst>
          </p:cNvPr>
          <p:cNvCxnSpPr>
            <a:cxnSpLocks/>
          </p:cNvCxnSpPr>
          <p:nvPr/>
        </p:nvCxnSpPr>
        <p:spPr>
          <a:xfrm>
            <a:off x="752371" y="2530928"/>
            <a:ext cx="21763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8C5D3FB-D93D-11F6-9742-B15EC2D834E1}"/>
              </a:ext>
            </a:extLst>
          </p:cNvPr>
          <p:cNvSpPr txBox="1"/>
          <p:nvPr/>
        </p:nvSpPr>
        <p:spPr>
          <a:xfrm>
            <a:off x="1279909" y="2253929"/>
            <a:ext cx="15181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MMCIFParser</a:t>
            </a:r>
            <a:endParaRPr lang="zh-CN" altLang="zh-CN" sz="7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7EDBC3-124D-826C-CE96-D6EA5601254B}"/>
              </a:ext>
            </a:extLst>
          </p:cNvPr>
          <p:cNvSpPr/>
          <p:nvPr/>
        </p:nvSpPr>
        <p:spPr>
          <a:xfrm>
            <a:off x="2936213" y="2441581"/>
            <a:ext cx="720970" cy="20347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seq_dict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E3D12B-4F52-78A0-38D9-39BF6C80547A}"/>
              </a:ext>
            </a:extLst>
          </p:cNvPr>
          <p:cNvSpPr/>
          <p:nvPr/>
        </p:nvSpPr>
        <p:spPr>
          <a:xfrm>
            <a:off x="2936214" y="2155135"/>
            <a:ext cx="876718" cy="221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exact_dict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4CAB4CB-C58F-98D0-043E-7FBB047191C7}"/>
              </a:ext>
            </a:extLst>
          </p:cNvPr>
          <p:cNvSpPr/>
          <p:nvPr/>
        </p:nvSpPr>
        <p:spPr>
          <a:xfrm>
            <a:off x="2928677" y="2714310"/>
            <a:ext cx="648120" cy="20347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seq_str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4C9E7BF-1E28-E19E-45DA-6AFBCEF7A792}"/>
              </a:ext>
            </a:extLst>
          </p:cNvPr>
          <p:cNvSpPr txBox="1"/>
          <p:nvPr/>
        </p:nvSpPr>
        <p:spPr>
          <a:xfrm>
            <a:off x="2754924" y="2962670"/>
            <a:ext cx="2306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取所有</a:t>
            </a:r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res_name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[0]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没有就取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DE676D9-A7D5-AA5A-1741-92A8535BC407}"/>
              </a:ext>
            </a:extLst>
          </p:cNvPr>
          <p:cNvSpPr txBox="1"/>
          <p:nvPr/>
        </p:nvSpPr>
        <p:spPr>
          <a:xfrm>
            <a:off x="2882203" y="1857830"/>
            <a:ext cx="3186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这两个</a:t>
            </a:r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dict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值是一样的，不一样的只有键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FDA19-02F3-1F0A-F716-FD4A223BD073}"/>
              </a:ext>
            </a:extLst>
          </p:cNvPr>
          <p:cNvSpPr txBox="1"/>
          <p:nvPr/>
        </p:nvSpPr>
        <p:spPr>
          <a:xfrm>
            <a:off x="3812932" y="2099436"/>
            <a:ext cx="60968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exact_id = f"{chain.id}_{res_id}_{atom_name}"</a:t>
            </a:r>
            <a:endParaRPr lang="zh-CN" altLang="zh-CN" sz="7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D4D92A-39C2-A3E0-534F-A54252CBFFEF}"/>
              </a:ext>
            </a:extLst>
          </p:cNvPr>
          <p:cNvSpPr txBox="1"/>
          <p:nvPr/>
        </p:nvSpPr>
        <p:spPr>
          <a:xfrm>
            <a:off x="3812932" y="2351398"/>
            <a:ext cx="60968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seq_id = </a:t>
            </a: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f"{global_res_idx}_{atom_name}"</a:t>
            </a:r>
            <a:endParaRPr lang="zh-CN" altLang="zh-CN" sz="7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图形 23" descr="文档 轮廓">
            <a:extLst>
              <a:ext uri="{FF2B5EF4-FFF2-40B4-BE49-F238E27FC236}">
                <a16:creationId xmlns:a16="http://schemas.microsoft.com/office/drawing/2014/main" id="{EB780B68-F05A-07BF-6ADF-80515EB7C2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8101" y="2155135"/>
            <a:ext cx="633046" cy="63304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71EC59C-C54A-82F6-D297-94A275A7F784}"/>
              </a:ext>
            </a:extLst>
          </p:cNvPr>
          <p:cNvSpPr txBox="1"/>
          <p:nvPr/>
        </p:nvSpPr>
        <p:spPr>
          <a:xfrm>
            <a:off x="7546312" y="2826868"/>
            <a:ext cx="1094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protenix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cif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8D74B58-605B-EE67-AC84-997C5CABBEA3}"/>
              </a:ext>
            </a:extLst>
          </p:cNvPr>
          <p:cNvCxnSpPr>
            <a:cxnSpLocks/>
          </p:cNvCxnSpPr>
          <p:nvPr/>
        </p:nvCxnSpPr>
        <p:spPr>
          <a:xfrm>
            <a:off x="8255559" y="2524407"/>
            <a:ext cx="21763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71162073-6E71-0500-C9FE-03220ACF4580}"/>
              </a:ext>
            </a:extLst>
          </p:cNvPr>
          <p:cNvSpPr txBox="1"/>
          <p:nvPr/>
        </p:nvSpPr>
        <p:spPr>
          <a:xfrm>
            <a:off x="8783097" y="2247408"/>
            <a:ext cx="15181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MMCIFParser</a:t>
            </a:r>
            <a:endParaRPr lang="zh-CN" altLang="zh-CN" sz="7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8D26FE4-FB56-3283-6121-866FE75E030B}"/>
              </a:ext>
            </a:extLst>
          </p:cNvPr>
          <p:cNvSpPr/>
          <p:nvPr/>
        </p:nvSpPr>
        <p:spPr>
          <a:xfrm>
            <a:off x="10490061" y="2533854"/>
            <a:ext cx="720970" cy="20347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seq_dict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FC847E9-FE75-EE61-FC95-F59BAFC1C6A0}"/>
              </a:ext>
            </a:extLst>
          </p:cNvPr>
          <p:cNvSpPr/>
          <p:nvPr/>
        </p:nvSpPr>
        <p:spPr>
          <a:xfrm>
            <a:off x="10490062" y="2247408"/>
            <a:ext cx="876718" cy="221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exact_dict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265DB29-2DC2-8E1F-F862-E1BE6B0232B9}"/>
              </a:ext>
            </a:extLst>
          </p:cNvPr>
          <p:cNvSpPr/>
          <p:nvPr/>
        </p:nvSpPr>
        <p:spPr>
          <a:xfrm>
            <a:off x="10482525" y="2806583"/>
            <a:ext cx="648120" cy="20347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seq_str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0857DF0-70BF-E889-2084-C7957FFD9CBE}"/>
              </a:ext>
            </a:extLst>
          </p:cNvPr>
          <p:cNvSpPr txBox="1"/>
          <p:nvPr/>
        </p:nvSpPr>
        <p:spPr>
          <a:xfrm>
            <a:off x="66989" y="3521678"/>
            <a:ext cx="8641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策略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90FD20C-6904-795F-1364-F15EC35A1F70}"/>
              </a:ext>
            </a:extLst>
          </p:cNvPr>
          <p:cNvSpPr txBox="1"/>
          <p:nvPr/>
        </p:nvSpPr>
        <p:spPr>
          <a:xfrm>
            <a:off x="432079" y="3825904"/>
            <a:ext cx="51447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zh-CN" altLang="zh-CN" sz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exact_id = f“{chain.id}_{res_id}_{atom_name}”</a:t>
            </a:r>
            <a:r>
              <a:rPr lang="zh-CN" altLang="en-US" sz="12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匹配</a:t>
            </a:r>
            <a:endParaRPr lang="zh-CN" altLang="zh-CN" sz="700" dirty="0">
              <a:solidFill>
                <a:srgbClr val="080808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EE87EF7-1CFA-E076-62EF-B68068E84212}"/>
              </a:ext>
            </a:extLst>
          </p:cNvPr>
          <p:cNvSpPr txBox="1"/>
          <p:nvPr/>
        </p:nvSpPr>
        <p:spPr>
          <a:xfrm>
            <a:off x="6096000" y="3449908"/>
            <a:ext cx="8641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策略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C8A5D6C-40FD-DBCD-ECA3-1985DF9C2408}"/>
              </a:ext>
            </a:extLst>
          </p:cNvPr>
          <p:cNvSpPr txBox="1"/>
          <p:nvPr/>
        </p:nvSpPr>
        <p:spPr>
          <a:xfrm>
            <a:off x="6461090" y="3754134"/>
            <a:ext cx="51447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seq_id = f"{global_res_idx}_{atom_name}"</a:t>
            </a:r>
            <a:r>
              <a:rPr lang="zh-CN" altLang="en-US" sz="12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匹配</a:t>
            </a:r>
            <a:endParaRPr lang="zh-CN" altLang="zh-CN" sz="700" dirty="0">
              <a:solidFill>
                <a:srgbClr val="080808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89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348A3-B0A0-EE7D-1BAA-14E0DD4BC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E90FE-0E1E-AC27-5AF4-5400ED095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266363" cy="1321674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数据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_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pt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生成脚本逻辑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D6AD5B8-A3F2-E08B-6578-990308FF8257}"/>
              </a:ext>
            </a:extLst>
          </p:cNvPr>
          <p:cNvSpPr/>
          <p:nvPr/>
        </p:nvSpPr>
        <p:spPr>
          <a:xfrm>
            <a:off x="185895" y="1778557"/>
            <a:ext cx="602901" cy="29140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F9F559F-AEAF-4F75-8E08-2C87F51DB660}"/>
              </a:ext>
            </a:extLst>
          </p:cNvPr>
          <p:cNvCxnSpPr>
            <a:stCxn id="3" idx="3"/>
          </p:cNvCxnSpPr>
          <p:nvPr/>
        </p:nvCxnSpPr>
        <p:spPr>
          <a:xfrm>
            <a:off x="788796" y="1924259"/>
            <a:ext cx="698360" cy="5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0F7CF7D-02D2-600C-77AF-638AD0199E6E}"/>
              </a:ext>
            </a:extLst>
          </p:cNvPr>
          <p:cNvSpPr/>
          <p:nvPr/>
        </p:nvSpPr>
        <p:spPr>
          <a:xfrm>
            <a:off x="1489668" y="1778557"/>
            <a:ext cx="1200778" cy="29140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parse_args(argv)</a:t>
            </a:r>
          </a:p>
        </p:txBody>
      </p:sp>
    </p:spTree>
    <p:extLst>
      <p:ext uri="{BB962C8B-B14F-4D97-AF65-F5344CB8AC3E}">
        <p14:creationId xmlns:p14="http://schemas.microsoft.com/office/powerpoint/2010/main" val="3568312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1AA35-C0B6-5130-A769-879E27BAA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085F5-B103-7E08-5629-FC8FEDFE8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17006"/>
            <a:ext cx="2708868" cy="1286189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数据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_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schema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118239-39A1-EEC4-5139-EB75EA78F718}"/>
              </a:ext>
            </a:extLst>
          </p:cNvPr>
          <p:cNvSpPr txBox="1"/>
          <p:nvPr/>
        </p:nvSpPr>
        <p:spPr>
          <a:xfrm>
            <a:off x="120580" y="2736502"/>
            <a:ext cx="25924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[N,3]      </a:t>
            </a:r>
            <a:br>
              <a:rPr lang="zh-CN" altLang="zh-CN" sz="12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pos_pred</a:t>
            </a:r>
            <a:r>
              <a:rPr lang="en-US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[N,3]</a:t>
            </a:r>
            <a:br>
              <a:rPr lang="zh-CN" altLang="zh-CN" sz="12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[N]</a:t>
            </a:r>
            <a:br>
              <a:rPr lang="zh-CN" altLang="zh-CN" sz="12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r>
              <a:rPr lang="en-US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[2,E]</a:t>
            </a:r>
            <a:br>
              <a:rPr lang="zh-CN" altLang="zh-CN" sz="12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en-US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str</a:t>
            </a:r>
            <a:br>
              <a:rPr lang="zh-CN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pdb_id</a:t>
            </a:r>
            <a:r>
              <a:rPr lang="en-US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str</a:t>
            </a:r>
            <a:br>
              <a:rPr lang="zh-CN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alignment_ratio</a:t>
            </a:r>
            <a:r>
              <a:rPr lang="en-US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int</a:t>
            </a:r>
            <a:endParaRPr lang="zh-CN" altLang="en-US" sz="12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B7BAAA-5669-0C59-4B16-DD227821AD51}"/>
              </a:ext>
            </a:extLst>
          </p:cNvPr>
          <p:cNvSpPr txBox="1"/>
          <p:nvPr/>
        </p:nvSpPr>
        <p:spPr>
          <a:xfrm>
            <a:off x="6096000" y="989761"/>
            <a:ext cx="2642715" cy="2215991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[N,3]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pos_pred 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[N,3]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target_mask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[N,3]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atomic_numbers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[N]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str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[2,E]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edge_attr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[E,7] 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node_attr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[N,674]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geometry_bond_index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[2,E_g]</a:t>
            </a:r>
          </a:p>
          <a:p>
            <a:b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5866DB-63CA-0207-2DAA-5280326A58D6}"/>
              </a:ext>
            </a:extLst>
          </p:cNvPr>
          <p:cNvSpPr txBox="1"/>
          <p:nvPr/>
        </p:nvSpPr>
        <p:spPr>
          <a:xfrm>
            <a:off x="9316496" y="1065124"/>
            <a:ext cx="26427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ideal_bond_length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[</a:t>
            </a:r>
            <a:r>
              <a:rPr lang="en-US" altLang="zh-CN" sz="12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E_g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residue_index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[N]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atom_name_id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[N]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clash_exclusion_index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[2,E_]</a:t>
            </a:r>
            <a:br>
              <a:rPr lang="zh-CN" altLang="zh-CN" sz="1200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atom_plddt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[N]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atom_to_token_idx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[N]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token_pair_confidence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[T*T,4]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num_tokens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[1]</a:t>
            </a:r>
            <a:endParaRPr lang="en-US" altLang="zh-CN" sz="1200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atom_mobility_attr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[N,4]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B686AE-9FA8-1F75-26B8-5629F9848E51}"/>
              </a:ext>
            </a:extLst>
          </p:cNvPr>
          <p:cNvSpPr txBox="1"/>
          <p:nvPr/>
        </p:nvSpPr>
        <p:spPr>
          <a:xfrm>
            <a:off x="6096000" y="4121497"/>
            <a:ext cx="2642715" cy="203132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[N,3]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pos_pred 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[N,3]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target_mask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[N,3]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atomic_numbers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[N]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[2,E]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edge_attr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[E,7] 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node_attr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[N,674]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geometry_bond_index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[2,E_g]</a:t>
            </a:r>
          </a:p>
          <a:p>
            <a:b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C3E54F-6F32-3CD4-5673-033DE11BA921}"/>
              </a:ext>
            </a:extLst>
          </p:cNvPr>
          <p:cNvSpPr txBox="1"/>
          <p:nvPr/>
        </p:nvSpPr>
        <p:spPr>
          <a:xfrm>
            <a:off x="9316496" y="4121497"/>
            <a:ext cx="26427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ideal_bond_length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[</a:t>
            </a:r>
            <a:r>
              <a:rPr lang="en-US" altLang="zh-CN" sz="12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E_g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residue_index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[N]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atom_name_id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[N]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clash_exclusion_index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[2,E_]</a:t>
            </a:r>
            <a:br>
              <a:rPr lang="zh-CN" altLang="zh-CN" sz="1200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atom_plddt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[N]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atom_to_token_idx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[N]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token_pair_confidence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[T*T,4]</a:t>
            </a:r>
            <a:b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num_tokens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[1]</a:t>
            </a:r>
            <a:endParaRPr lang="en-US" altLang="zh-CN" sz="1200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atom_mobility_attr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[N,4]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711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5CC71-25DC-D410-F1A0-87CB70A1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184A37-B210-1395-0956-98E5F0029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252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ABE9E-BC67-0394-3FE0-29C7F49D2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训练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63B981-82C3-9A26-18F0-12CDE336C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761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1570</Words>
  <Application>Microsoft Office PowerPoint</Application>
  <PresentationFormat>宽屏</PresentationFormat>
  <Paragraphs>63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黑体</vt:lpstr>
      <vt:lpstr>Arial</vt:lpstr>
      <vt:lpstr>Times New Roman</vt:lpstr>
      <vt:lpstr>Office 主题​​</vt:lpstr>
      <vt:lpstr>OLD VS NEW</vt:lpstr>
      <vt:lpstr>数据_原始数据与decoy生成</vt:lpstr>
      <vt:lpstr>数据_三集划分</vt:lpstr>
      <vt:lpstr>数据_pt生成脚本逻辑</vt:lpstr>
      <vt:lpstr>数据_pt生成脚本逻辑</vt:lpstr>
      <vt:lpstr>数据_schema</vt:lpstr>
      <vt:lpstr>模型</vt:lpstr>
      <vt:lpstr>训练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102</cp:revision>
  <dcterms:created xsi:type="dcterms:W3CDTF">2026-09-24T06:41:48Z</dcterms:created>
  <dcterms:modified xsi:type="dcterms:W3CDTF">2026-09-28T10:45:43Z</dcterms:modified>
</cp:coreProperties>
</file>