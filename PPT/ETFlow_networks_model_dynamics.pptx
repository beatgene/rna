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61" r:id="rId3"/>
    <p:sldId id="262" r:id="rId4"/>
    <p:sldId id="258" r:id="rId5"/>
    <p:sldId id="259" r:id="rId6"/>
    <p:sldId id="260" r:id="rId7"/>
    <p:sldId id="263" r:id="rId8"/>
    <p:sldId id="266" r:id="rId9"/>
    <p:sldId id="264" r:id="rId10"/>
    <p:sldId id="265" r:id="rId11"/>
    <p:sldId id="268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158" autoAdjust="0"/>
  </p:normalViewPr>
  <p:slideViewPr>
    <p:cSldViewPr snapToGrid="0">
      <p:cViewPr>
        <p:scale>
          <a:sx n="400" d="100"/>
          <a:sy n="400" d="100"/>
        </p:scale>
        <p:origin x="-13548" y="-10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3EA8A-3BA8-4137-B651-F2EE62D695B0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E6C7E-7D24-46BE-BF93-383979678C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536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优化器类型  </a:t>
            </a:r>
            <a:r>
              <a:rPr lang="en-US" altLang="zh-CN" dirty="0"/>
              <a:t>|   </a:t>
            </a:r>
            <a:r>
              <a:rPr lang="zh-CN" altLang="en-US" dirty="0"/>
              <a:t>学习率  </a:t>
            </a:r>
            <a:r>
              <a:rPr lang="en-US" altLang="zh-CN" dirty="0"/>
              <a:t>|   </a:t>
            </a:r>
            <a:r>
              <a:rPr lang="en-US" altLang="zh-CN" dirty="0" err="1"/>
              <a:t>opt_betas</a:t>
            </a:r>
            <a:r>
              <a:rPr lang="en-US" altLang="zh-CN" dirty="0"/>
              <a:t>   |   </a:t>
            </a:r>
            <a:r>
              <a:rPr lang="zh-CN" altLang="en-US" dirty="0"/>
              <a:t>权重衰减</a:t>
            </a:r>
            <a:r>
              <a:rPr lang="en-US" altLang="zh-CN" dirty="0"/>
              <a:t>(L2</a:t>
            </a:r>
            <a:r>
              <a:rPr lang="zh-CN" altLang="en-US" dirty="0"/>
              <a:t>正则化</a:t>
            </a:r>
            <a:r>
              <a:rPr lang="en-US" altLang="zh-CN" dirty="0"/>
              <a:t>)  |  </a:t>
            </a:r>
            <a:r>
              <a:rPr lang="en-US" altLang="zh-CN" dirty="0" err="1"/>
              <a:t>ams_grad</a:t>
            </a:r>
            <a:r>
              <a:rPr lang="en-US" altLang="zh-CN" dirty="0"/>
              <a:t>   |   </a:t>
            </a:r>
            <a:r>
              <a:rPr lang="zh-CN" altLang="en-US" dirty="0"/>
              <a:t>梯度裁剪最大范数</a:t>
            </a:r>
            <a:endParaRPr lang="en-US" altLang="zh-CN" dirty="0"/>
          </a:p>
          <a:p>
            <a:r>
              <a:rPr lang="zh-CN" altLang="en-US" dirty="0"/>
              <a:t>学习率调度器类型  </a:t>
            </a:r>
            <a:r>
              <a:rPr lang="en-US" altLang="zh-CN" dirty="0"/>
              <a:t>|   </a:t>
            </a:r>
            <a:r>
              <a:rPr lang="zh-CN" altLang="en-US" dirty="0"/>
              <a:t>学习率衰减系数   </a:t>
            </a:r>
            <a:r>
              <a:rPr lang="en-US" altLang="zh-CN" dirty="0"/>
              <a:t>|    </a:t>
            </a:r>
            <a:r>
              <a:rPr lang="zh-CN" altLang="en-US" dirty="0"/>
              <a:t>耐心值   </a:t>
            </a:r>
            <a:r>
              <a:rPr lang="en-US" altLang="zh-CN" dirty="0"/>
              <a:t>|   </a:t>
            </a:r>
            <a:r>
              <a:rPr lang="zh-CN" altLang="en-US" dirty="0"/>
              <a:t>余弦退火初始周期步数   </a:t>
            </a:r>
            <a:r>
              <a:rPr lang="en-US" altLang="zh-CN" dirty="0"/>
              <a:t>|   </a:t>
            </a:r>
            <a:r>
              <a:rPr lang="zh-CN" altLang="en-US" dirty="0"/>
              <a:t>余弦周期倍数  </a:t>
            </a:r>
            <a:r>
              <a:rPr lang="en-US" altLang="zh-CN" dirty="0"/>
              <a:t>|    </a:t>
            </a:r>
            <a:r>
              <a:rPr lang="zh-CN" altLang="en-US" dirty="0"/>
              <a:t>学习率最大值   </a:t>
            </a:r>
            <a:r>
              <a:rPr lang="en-US" altLang="zh-CN" dirty="0"/>
              <a:t>|   </a:t>
            </a:r>
            <a:r>
              <a:rPr lang="zh-CN" altLang="en-US" dirty="0"/>
              <a:t>学习率最小值    </a:t>
            </a:r>
            <a:r>
              <a:rPr lang="en-US" altLang="zh-CN" dirty="0"/>
              <a:t>|    </a:t>
            </a:r>
            <a:r>
              <a:rPr lang="zh-CN" altLang="en-US" dirty="0"/>
              <a:t>学习率预热步数    </a:t>
            </a:r>
            <a:r>
              <a:rPr lang="en-US" altLang="zh-CN" dirty="0"/>
              <a:t>|   </a:t>
            </a:r>
            <a:r>
              <a:rPr lang="zh-CN" altLang="en-US" dirty="0"/>
              <a:t>步长衰减系数   </a:t>
            </a:r>
            <a:r>
              <a:rPr lang="en-US" altLang="zh-CN" dirty="0"/>
              <a:t>|    </a:t>
            </a:r>
            <a:r>
              <a:rPr lang="zh-CN" altLang="en-US" dirty="0"/>
              <a:t>恢复训练标记   </a:t>
            </a:r>
            <a:r>
              <a:rPr lang="en-US" altLang="zh-CN" dirty="0"/>
              <a:t>|   </a:t>
            </a:r>
            <a:r>
              <a:rPr lang="zh-CN" altLang="en-US" dirty="0"/>
              <a:t>监控指标  </a:t>
            </a:r>
            <a:r>
              <a:rPr lang="en-US" altLang="zh-CN" dirty="0"/>
              <a:t>| 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lr_scheduler_interval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lr_scheduler_frequency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E6C7E-7D24-46BE-BF93-383979678C6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38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网络  </a:t>
            </a:r>
            <a:r>
              <a:rPr lang="en-US" altLang="zh-CN" dirty="0"/>
              <a:t>| 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E6C7E-7D24-46BE-BF93-383979678C6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596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隐藏层特征维度  </a:t>
            </a:r>
            <a:r>
              <a:rPr lang="en-US" altLang="zh-CN" dirty="0"/>
              <a:t>|   </a:t>
            </a:r>
            <a:r>
              <a:rPr lang="zh-CN" altLang="en-US" dirty="0"/>
              <a:t>等变注意力层堆叠层数   </a:t>
            </a:r>
            <a:r>
              <a:rPr lang="en-US" altLang="zh-CN" dirty="0"/>
              <a:t>|   </a:t>
            </a:r>
            <a:r>
              <a:rPr lang="zh-CN" altLang="en-US" dirty="0"/>
              <a:t>把连续距离拆分成</a:t>
            </a:r>
            <a:r>
              <a:rPr lang="en-US" altLang="zh-CN" dirty="0" err="1"/>
              <a:t>num_rbf</a:t>
            </a:r>
            <a:r>
              <a:rPr lang="zh-CN" altLang="en-US" dirty="0"/>
              <a:t>维度可学习的向量  </a:t>
            </a:r>
            <a:r>
              <a:rPr lang="en-US" altLang="zh-CN" dirty="0"/>
              <a:t>|   </a:t>
            </a:r>
            <a:r>
              <a:rPr lang="zh-CN" altLang="en-US" dirty="0"/>
              <a:t>径向基函数类型 用什么来编码原子间的距离  </a:t>
            </a:r>
            <a:r>
              <a:rPr lang="en-US" altLang="zh-CN" dirty="0"/>
              <a:t>|    RBF</a:t>
            </a:r>
            <a:r>
              <a:rPr lang="zh-CN" altLang="en-US" dirty="0"/>
              <a:t>的参数是否接受训练  </a:t>
            </a:r>
            <a:r>
              <a:rPr lang="en-US" altLang="zh-CN" dirty="0"/>
              <a:t>|   </a:t>
            </a:r>
            <a:r>
              <a:rPr lang="zh-CN" altLang="en-US" dirty="0"/>
              <a:t>激活函数类型 </a:t>
            </a:r>
            <a:r>
              <a:rPr lang="en-US" altLang="zh-CN" dirty="0"/>
              <a:t>|  </a:t>
            </a:r>
            <a:r>
              <a:rPr lang="zh-CN" altLang="en-US" dirty="0"/>
              <a:t>注意力机制内部激活函数类型  </a:t>
            </a:r>
            <a:r>
              <a:rPr lang="en-US" altLang="zh-CN" dirty="0"/>
              <a:t>|   </a:t>
            </a:r>
            <a:r>
              <a:rPr lang="zh-CN" altLang="en-US" dirty="0"/>
              <a:t>是否开启邻居初始嵌入  </a:t>
            </a:r>
            <a:r>
              <a:rPr lang="en-US" altLang="zh-CN" dirty="0"/>
              <a:t>|  </a:t>
            </a:r>
            <a:r>
              <a:rPr lang="zh-CN" altLang="en-US" dirty="0"/>
              <a:t>多头注意力头数 </a:t>
            </a:r>
            <a:r>
              <a:rPr lang="en-US" altLang="zh-CN" dirty="0"/>
              <a:t>|   </a:t>
            </a:r>
            <a:r>
              <a:rPr lang="zh-CN" altLang="en-US" dirty="0"/>
              <a:t>控制距离如何影响注意力  </a:t>
            </a:r>
            <a:r>
              <a:rPr lang="en-US" altLang="zh-CN" dirty="0"/>
              <a:t>|   </a:t>
            </a:r>
            <a:r>
              <a:rPr lang="zh-CN" altLang="en-US" dirty="0"/>
              <a:t>原子相互作用最小距离  </a:t>
            </a:r>
            <a:r>
              <a:rPr lang="en-US" altLang="zh-CN" dirty="0"/>
              <a:t>|  </a:t>
            </a:r>
            <a:r>
              <a:rPr lang="zh-CN" altLang="en-US" dirty="0"/>
              <a:t>原子相互作用最大距离  </a:t>
            </a:r>
            <a:r>
              <a:rPr lang="en-US" altLang="zh-CN" dirty="0"/>
              <a:t>|  </a:t>
            </a:r>
            <a:r>
              <a:rPr lang="zh-CN" altLang="en-US" dirty="0"/>
              <a:t>最大原子序数  </a:t>
            </a:r>
            <a:r>
              <a:rPr lang="en-US" altLang="zh-CN" dirty="0"/>
              <a:t>|   </a:t>
            </a:r>
            <a:r>
              <a:rPr lang="zh-CN" altLang="en-US" dirty="0"/>
              <a:t>额外节点特征维度 </a:t>
            </a:r>
            <a:r>
              <a:rPr lang="en-US" altLang="zh-CN" dirty="0"/>
              <a:t> |   </a:t>
            </a:r>
            <a:r>
              <a:rPr lang="zh-CN" altLang="en-US" dirty="0"/>
              <a:t>额外边特征维度  </a:t>
            </a:r>
            <a:r>
              <a:rPr lang="en-US" altLang="zh-CN" dirty="0"/>
              <a:t>|   </a:t>
            </a:r>
            <a:r>
              <a:rPr lang="zh-CN" altLang="en-US" dirty="0"/>
              <a:t>归一化时裁剪梯度数值  </a:t>
            </a:r>
            <a:r>
              <a:rPr lang="en-US" altLang="zh-CN" dirty="0"/>
              <a:t>|   </a:t>
            </a:r>
            <a:r>
              <a:rPr lang="zh-CN" altLang="en-US" dirty="0"/>
              <a:t>激活函数实例  </a:t>
            </a:r>
            <a:r>
              <a:rPr lang="en-US" altLang="zh-CN" dirty="0"/>
              <a:t>|   embedding</a:t>
            </a:r>
            <a:r>
              <a:rPr lang="zh-CN" altLang="en-US" dirty="0"/>
              <a:t>实例  </a:t>
            </a:r>
            <a:r>
              <a:rPr lang="en-US" altLang="zh-CN" dirty="0"/>
              <a:t>|  </a:t>
            </a:r>
            <a:r>
              <a:rPr lang="zh-CN" altLang="en-US" dirty="0"/>
              <a:t>距离编码实例  </a:t>
            </a:r>
            <a:r>
              <a:rPr lang="en-US" altLang="zh-CN" dirty="0"/>
              <a:t>| </a:t>
            </a:r>
            <a:r>
              <a:rPr lang="en-US" altLang="zh-CN" dirty="0" err="1"/>
              <a:t>node_mlp</a:t>
            </a:r>
            <a:r>
              <a:rPr lang="zh-CN" altLang="en-US" dirty="0"/>
              <a:t> </a:t>
            </a:r>
            <a:r>
              <a:rPr lang="en-US" altLang="zh-CN" dirty="0"/>
              <a:t>|  </a:t>
            </a:r>
            <a:r>
              <a:rPr lang="zh-CN" altLang="en-US" dirty="0"/>
              <a:t>注意力层  </a:t>
            </a:r>
            <a:r>
              <a:rPr lang="en-US" altLang="zh-CN" dirty="0"/>
              <a:t>|   </a:t>
            </a:r>
            <a:r>
              <a:rPr lang="zh-CN" altLang="en-US" dirty="0"/>
              <a:t>层归一化       </a:t>
            </a:r>
            <a:br>
              <a:rPr lang="en-US" altLang="zh-CN" dirty="0"/>
            </a:br>
            <a:r>
              <a:rPr lang="en-US" altLang="zh-CN" dirty="0"/>
              <a:t>|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E6C7E-7D24-46BE-BF93-383979678C6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440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x,vec,edge_index,edge_weight,edge_attr,edge_vec,node_attr,t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E6C7E-7D24-46BE-BF93-383979678C6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588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等变图注意力层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E6C7E-7D24-46BE-BF93-383979678C6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716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880013-ED26-A106-FE7C-30BC57930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A3AC4DC-142C-47CD-848B-B4D915B25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5E4638-8CBE-5019-9651-40FB80FE8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FAF-EBD0-40C9-9E99-0D0030A63276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BA74F1-B0CA-23FC-B247-F3F0563E8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18CC49-F7A4-96D7-FB89-C29554CEC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B25DB-6C08-4440-8FE1-08A15EDBC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200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26C8F9-14A0-3627-9C60-D45D0668F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6A696D-24B7-F085-962F-9823019A9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067555-E677-DAD3-FDD5-2C1841170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FAF-EBD0-40C9-9E99-0D0030A63276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C99A8A-C02C-ADA6-3530-C3038B9A4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66FBE3-91ED-5121-B286-3DEF6127F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B25DB-6C08-4440-8FE1-08A15EDBC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62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E4CB18-A660-8274-F948-3F5F07D08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8B11D4-A8C8-4AF3-CA8D-543652473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AA05AD-AD50-91FB-0A92-A3AC993C0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FAF-EBD0-40C9-9E99-0D0030A63276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E9395B-0827-775B-E96E-DE9C6E57C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EDFFEE-CC9D-A029-EE14-EC09CE40D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B25DB-6C08-4440-8FE1-08A15EDBC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115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A7F7FD-2E09-284F-CE18-F878D3563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C35EF0-E543-F1C4-EC36-3C7DBE7D0C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9525C1-9721-A8A8-1574-4681742EF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615E86-C76A-1253-212E-8191D9854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FAF-EBD0-40C9-9E99-0D0030A63276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67FA85-D6B6-F7DC-74CD-3237C9968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B1FF01-EC14-BC70-CFF5-9B97F8AD5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B25DB-6C08-4440-8FE1-08A15EDBC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221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89ED69-3E75-E171-97A8-742A224C6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804A2B-54B7-5B9E-5EC7-7E9F218F2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CD8D81-8224-26B3-116F-52EF3E1FE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571A7A2-AB5C-EF1A-432F-61A4DB3215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C88F5AA-D2AA-ECA2-F91D-858B2A8734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8743B35-FFCA-6402-E5FD-BA67985A3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FAF-EBD0-40C9-9E99-0D0030A63276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67471AF-95B7-8727-2B15-9136C0FF2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8BE94DF-34B0-B1A1-1A2D-78942A823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B25DB-6C08-4440-8FE1-08A15EDBC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966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F7911-6532-3DA5-9C1C-2EDB4A78D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B50C06E-8569-F46E-88DF-7F866CAEA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FAF-EBD0-40C9-9E99-0D0030A63276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CD3909F-D851-D7F4-D7C6-B66A306B7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19CFEB-9A98-81FE-DC46-4B64CC508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B25DB-6C08-4440-8FE1-08A15EDBC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814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0EE523-2F22-C03B-3658-E412AF52F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FAF-EBD0-40C9-9E99-0D0030A63276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86F41E3-C33F-B025-29AF-AE3270747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F957AC-B63C-5990-B55F-01A51D9B0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B25DB-6C08-4440-8FE1-08A15EDBC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975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4BEF05-C8EF-57E0-89C2-529B30884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BA3089-D521-86CC-4931-02B2564E5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4852BF-EE40-DAF6-49E7-478FF223E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6EACF1-9E9B-6839-B1FA-F17062DF9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FAF-EBD0-40C9-9E99-0D0030A63276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902276-DA0C-F6DF-D986-65968F632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80E557-2E6F-DF57-5066-78F5B8916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B25DB-6C08-4440-8FE1-08A15EDBC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573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A3B959-BAB6-AE2E-82F0-B9C58E617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FBAFA36-DD47-6B74-9239-C438489934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F3E1AA-0BFE-C70A-5830-41406B0B3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BAA122-C991-984B-7AC4-F4DA0FA75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FAF-EBD0-40C9-9E99-0D0030A63276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FF3E06-103B-73BA-A761-B7519DC8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9658C7-A473-C1B7-71C3-1B5F87F6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B25DB-6C08-4440-8FE1-08A15EDBC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913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F89697-7B2D-D562-462F-6632C4E89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AAAAF75-DE55-A381-4EC2-130D50773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9A5A55-257E-7D53-AF14-6D60CA94D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FAF-EBD0-40C9-9E99-0D0030A63276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15A2C0-C2EE-8458-C24D-383D6682F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AEB97C-C9F1-5598-00C2-8D1D530B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B25DB-6C08-4440-8FE1-08A15EDBC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297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81C8BC4-D42C-8957-42BA-0764C97EB8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8466D6-3D7E-B9ED-E9AF-FEBB6597C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BB7697-42F7-7C74-E588-4B7F3070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FAF-EBD0-40C9-9E99-0D0030A63276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610E4F-FD1E-AC53-DA76-183645420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A4C7EF-93FA-B8E0-A839-5A33F493E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B25DB-6C08-4440-8FE1-08A15EDBC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266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5414691-E6C5-09E3-6507-04D75B86D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35420E-DF30-069F-01AC-C7EB4E90F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B7E083-CD6E-12DA-915C-8F6E99585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64FAF-EBD0-40C9-9E99-0D0030A63276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1F7BC3-9547-2B1A-03F1-D83EC837A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E65926-2573-AB39-79EB-3CBD8C71E4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CB25DB-6C08-4440-8FE1-08A15EDBC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356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5742B9-6DC9-12C7-9C8C-D4CF2861A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47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Train.py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流程图: 手动输入 3">
            <a:extLst>
              <a:ext uri="{FF2B5EF4-FFF2-40B4-BE49-F238E27FC236}">
                <a16:creationId xmlns:a16="http://schemas.microsoft.com/office/drawing/2014/main" id="{8FC8E858-A71B-3DA3-495E-762AC502E105}"/>
              </a:ext>
            </a:extLst>
          </p:cNvPr>
          <p:cNvSpPr/>
          <p:nvPr/>
        </p:nvSpPr>
        <p:spPr>
          <a:xfrm>
            <a:off x="838200" y="2453780"/>
            <a:ext cx="1505824" cy="801149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--config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--debug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no_logger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E1DE700-0228-3383-05F3-6B94E0C781F0}"/>
              </a:ext>
            </a:extLst>
          </p:cNvPr>
          <p:cNvCxnSpPr>
            <a:stCxn id="4" idx="3"/>
          </p:cNvCxnSpPr>
          <p:nvPr/>
        </p:nvCxnSpPr>
        <p:spPr>
          <a:xfrm flipV="1">
            <a:off x="2344024" y="2854354"/>
            <a:ext cx="107868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" name="图形 9" descr="纸张 轮廓">
            <a:extLst>
              <a:ext uri="{FF2B5EF4-FFF2-40B4-BE49-F238E27FC236}">
                <a16:creationId xmlns:a16="http://schemas.microsoft.com/office/drawing/2014/main" id="{FC1F569B-4785-5446-5090-7D83170F9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26166" y="1901150"/>
            <a:ext cx="914400" cy="9144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6D1931A-9998-0B21-3338-C36EB909A34F}"/>
              </a:ext>
            </a:extLst>
          </p:cNvPr>
          <p:cNvSpPr txBox="1"/>
          <p:nvPr/>
        </p:nvSpPr>
        <p:spPr>
          <a:xfrm>
            <a:off x="2537669" y="217368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yaml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流程图: 过程 14">
            <a:extLst>
              <a:ext uri="{FF2B5EF4-FFF2-40B4-BE49-F238E27FC236}">
                <a16:creationId xmlns:a16="http://schemas.microsoft.com/office/drawing/2014/main" id="{CCC36CE2-9D6B-97BC-DB42-0F434C476D15}"/>
              </a:ext>
            </a:extLst>
          </p:cNvPr>
          <p:cNvSpPr/>
          <p:nvPr/>
        </p:nvSpPr>
        <p:spPr>
          <a:xfrm>
            <a:off x="3452069" y="2707340"/>
            <a:ext cx="1652631" cy="29402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altLang="zh-CN" sz="1800" dirty="0">
                <a:solidFill>
                  <a:srgbClr val="0062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en-US" altLang="zh-CN" sz="18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lang="en-US" altLang="zh-CN" sz="18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1800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dict</a:t>
            </a:r>
            <a:r>
              <a:rPr lang="en-US" altLang="zh-CN" sz="18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2999DF4-C462-F7F3-011E-C95DD6EC6D79}"/>
              </a:ext>
            </a:extLst>
          </p:cNvPr>
          <p:cNvGrpSpPr/>
          <p:nvPr/>
        </p:nvGrpSpPr>
        <p:grpSpPr>
          <a:xfrm>
            <a:off x="6063844" y="784351"/>
            <a:ext cx="1023458" cy="1116799"/>
            <a:chOff x="5729680" y="798704"/>
            <a:chExt cx="1560352" cy="1810272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ED9AE91D-F7F1-0AEE-BC7E-D2C1E310F5E6}"/>
                </a:ext>
              </a:extLst>
            </p:cNvPr>
            <p:cNvGrpSpPr/>
            <p:nvPr/>
          </p:nvGrpSpPr>
          <p:grpSpPr>
            <a:xfrm>
              <a:off x="5729680" y="859872"/>
              <a:ext cx="1560352" cy="1749104"/>
              <a:chOff x="5742264" y="864067"/>
              <a:chExt cx="1560352" cy="1749104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FA07815-2189-11F4-E96F-0F932EF388FE}"/>
                  </a:ext>
                </a:extLst>
              </p:cNvPr>
              <p:cNvSpPr/>
              <p:nvPr/>
            </p:nvSpPr>
            <p:spPr>
              <a:xfrm>
                <a:off x="5742264" y="864067"/>
                <a:ext cx="1560352" cy="17491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D9FFF81D-C16E-C899-6228-14A26EB77D84}"/>
                  </a:ext>
                </a:extLst>
              </p:cNvPr>
              <p:cNvCxnSpPr/>
              <p:nvPr/>
            </p:nvCxnSpPr>
            <p:spPr>
              <a:xfrm>
                <a:off x="5742264" y="1199626"/>
                <a:ext cx="156035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A8132D5-39EC-26EC-B430-26FD31D97B6A}"/>
                </a:ext>
              </a:extLst>
            </p:cNvPr>
            <p:cNvSpPr txBox="1"/>
            <p:nvPr/>
          </p:nvSpPr>
          <p:spPr>
            <a:xfrm>
              <a:off x="6051557" y="798704"/>
              <a:ext cx="1034160" cy="449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logger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D28642E-ACA5-0AB5-432D-4B017E18B9A5}"/>
              </a:ext>
            </a:extLst>
          </p:cNvPr>
          <p:cNvGrpSpPr/>
          <p:nvPr/>
        </p:nvGrpSpPr>
        <p:grpSpPr>
          <a:xfrm>
            <a:off x="6062271" y="4587377"/>
            <a:ext cx="1195433" cy="1079063"/>
            <a:chOff x="5729680" y="840563"/>
            <a:chExt cx="1803146" cy="1768413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33A0B058-BFC4-1BB6-F30C-EAF151E7812B}"/>
                </a:ext>
              </a:extLst>
            </p:cNvPr>
            <p:cNvGrpSpPr/>
            <p:nvPr/>
          </p:nvGrpSpPr>
          <p:grpSpPr>
            <a:xfrm>
              <a:off x="5729680" y="859872"/>
              <a:ext cx="1560352" cy="1749104"/>
              <a:chOff x="5742264" y="864067"/>
              <a:chExt cx="1560352" cy="1749104"/>
            </a:xfrm>
          </p:grpSpPr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CD8DA7AD-E8C9-02A0-A19A-58261344A76C}"/>
                  </a:ext>
                </a:extLst>
              </p:cNvPr>
              <p:cNvSpPr/>
              <p:nvPr/>
            </p:nvSpPr>
            <p:spPr>
              <a:xfrm>
                <a:off x="5742264" y="864067"/>
                <a:ext cx="1560352" cy="17491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2F6AE609-CA10-B91E-3B8C-693D82EEA301}"/>
                  </a:ext>
                </a:extLst>
              </p:cNvPr>
              <p:cNvCxnSpPr/>
              <p:nvPr/>
            </p:nvCxnSpPr>
            <p:spPr>
              <a:xfrm>
                <a:off x="5742264" y="1199626"/>
                <a:ext cx="156035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1A0D1841-182A-0491-B908-8F9B126AA820}"/>
                </a:ext>
              </a:extLst>
            </p:cNvPr>
            <p:cNvSpPr txBox="1"/>
            <p:nvPr/>
          </p:nvSpPr>
          <p:spPr>
            <a:xfrm>
              <a:off x="5804572" y="840563"/>
              <a:ext cx="1728254" cy="3548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datamodule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2999DF4-C462-F7F3-011E-C95DD6EC6D79}"/>
              </a:ext>
            </a:extLst>
          </p:cNvPr>
          <p:cNvGrpSpPr/>
          <p:nvPr/>
        </p:nvGrpSpPr>
        <p:grpSpPr>
          <a:xfrm>
            <a:off x="6062271" y="3314755"/>
            <a:ext cx="1034468" cy="1079062"/>
            <a:chOff x="5729680" y="826099"/>
            <a:chExt cx="1560352" cy="1782877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ED9AE91D-F7F1-0AEE-BC7E-D2C1E310F5E6}"/>
                </a:ext>
              </a:extLst>
            </p:cNvPr>
            <p:cNvGrpSpPr/>
            <p:nvPr/>
          </p:nvGrpSpPr>
          <p:grpSpPr>
            <a:xfrm>
              <a:off x="5729680" y="859872"/>
              <a:ext cx="1560352" cy="1749104"/>
              <a:chOff x="5742264" y="864067"/>
              <a:chExt cx="1560352" cy="1749104"/>
            </a:xfrm>
          </p:grpSpPr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6FA07815-2189-11F4-E96F-0F932EF388FE}"/>
                  </a:ext>
                </a:extLst>
              </p:cNvPr>
              <p:cNvSpPr/>
              <p:nvPr/>
            </p:nvSpPr>
            <p:spPr>
              <a:xfrm>
                <a:off x="5742264" y="864067"/>
                <a:ext cx="1560352" cy="17491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/>
              </a:p>
            </p:txBody>
          </p: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D9FFF81D-C16E-C899-6228-14A26EB77D84}"/>
                  </a:ext>
                </a:extLst>
              </p:cNvPr>
              <p:cNvCxnSpPr/>
              <p:nvPr/>
            </p:nvCxnSpPr>
            <p:spPr>
              <a:xfrm>
                <a:off x="5742264" y="1199626"/>
                <a:ext cx="156035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9" name="文本框 19">
              <a:extLst>
                <a:ext uri="{FF2B5EF4-FFF2-40B4-BE49-F238E27FC236}">
                  <a16:creationId xmlns:a16="http://schemas.microsoft.com/office/drawing/2014/main" id="{CA8132D5-39EC-26EC-B430-26FD31D97B6A}"/>
                </a:ext>
              </a:extLst>
            </p:cNvPr>
            <p:cNvSpPr txBox="1"/>
            <p:nvPr/>
          </p:nvSpPr>
          <p:spPr>
            <a:xfrm>
              <a:off x="6095999" y="826099"/>
              <a:ext cx="868261" cy="4576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F1006BC-48D1-F92C-4C32-E030B21DEC66}"/>
              </a:ext>
            </a:extLst>
          </p:cNvPr>
          <p:cNvGrpSpPr/>
          <p:nvPr/>
        </p:nvGrpSpPr>
        <p:grpSpPr>
          <a:xfrm>
            <a:off x="6062271" y="2062574"/>
            <a:ext cx="1034468" cy="1079062"/>
            <a:chOff x="5729680" y="826099"/>
            <a:chExt cx="1560352" cy="1782877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B027E7ED-5978-AF11-AB6A-8BD9402240E9}"/>
                </a:ext>
              </a:extLst>
            </p:cNvPr>
            <p:cNvGrpSpPr/>
            <p:nvPr/>
          </p:nvGrpSpPr>
          <p:grpSpPr>
            <a:xfrm>
              <a:off x="5729680" y="859872"/>
              <a:ext cx="1560352" cy="1749104"/>
              <a:chOff x="5742264" y="864067"/>
              <a:chExt cx="1560352" cy="1749104"/>
            </a:xfrm>
          </p:grpSpPr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F7429FF7-B63F-07CB-3E58-498D33030BE6}"/>
                  </a:ext>
                </a:extLst>
              </p:cNvPr>
              <p:cNvSpPr/>
              <p:nvPr/>
            </p:nvSpPr>
            <p:spPr>
              <a:xfrm>
                <a:off x="5742264" y="864067"/>
                <a:ext cx="1560352" cy="17491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/>
              </a:p>
            </p:txBody>
          </p: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7F52D57F-16CD-2B18-4E29-BFD1B34FCE2C}"/>
                  </a:ext>
                </a:extLst>
              </p:cNvPr>
              <p:cNvCxnSpPr/>
              <p:nvPr/>
            </p:nvCxnSpPr>
            <p:spPr>
              <a:xfrm>
                <a:off x="5742264" y="1199626"/>
                <a:ext cx="156035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4" name="文本框 19">
              <a:extLst>
                <a:ext uri="{FF2B5EF4-FFF2-40B4-BE49-F238E27FC236}">
                  <a16:creationId xmlns:a16="http://schemas.microsoft.com/office/drawing/2014/main" id="{48C5D27F-A72F-C96B-957E-F5BF7C46DF92}"/>
                </a:ext>
              </a:extLst>
            </p:cNvPr>
            <p:cNvSpPr txBox="1"/>
            <p:nvPr/>
          </p:nvSpPr>
          <p:spPr>
            <a:xfrm>
              <a:off x="5972181" y="826099"/>
              <a:ext cx="1179798" cy="4576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callbacks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88362867-BC8C-486A-3F1C-1244510ECD37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7087302" y="1361619"/>
            <a:ext cx="1714936" cy="59448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26FACE08-2E23-E638-6B55-FD1ED247DD37}"/>
              </a:ext>
            </a:extLst>
          </p:cNvPr>
          <p:cNvCxnSpPr>
            <a:cxnSpLocks/>
          </p:cNvCxnSpPr>
          <p:nvPr/>
        </p:nvCxnSpPr>
        <p:spPr>
          <a:xfrm flipV="1">
            <a:off x="7087302" y="2339573"/>
            <a:ext cx="1714936" cy="50533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7715A8E7-4EF1-B116-FFAF-D56BFA719F84}"/>
              </a:ext>
            </a:extLst>
          </p:cNvPr>
          <p:cNvGrpSpPr/>
          <p:nvPr/>
        </p:nvGrpSpPr>
        <p:grpSpPr>
          <a:xfrm>
            <a:off x="8802238" y="1638942"/>
            <a:ext cx="1034468" cy="1079062"/>
            <a:chOff x="5729680" y="826099"/>
            <a:chExt cx="1560352" cy="1782877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5DDDA3E9-280D-324E-9D29-B3DB47DDD9EC}"/>
                </a:ext>
              </a:extLst>
            </p:cNvPr>
            <p:cNvGrpSpPr/>
            <p:nvPr/>
          </p:nvGrpSpPr>
          <p:grpSpPr>
            <a:xfrm>
              <a:off x="5729680" y="859872"/>
              <a:ext cx="1560352" cy="1749104"/>
              <a:chOff x="5742264" y="864067"/>
              <a:chExt cx="1560352" cy="1749104"/>
            </a:xfrm>
          </p:grpSpPr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230173F0-A325-38C6-FA94-595BEE877A2C}"/>
                  </a:ext>
                </a:extLst>
              </p:cNvPr>
              <p:cNvSpPr/>
              <p:nvPr/>
            </p:nvSpPr>
            <p:spPr>
              <a:xfrm>
                <a:off x="5742264" y="864067"/>
                <a:ext cx="1560352" cy="17491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trainer.fit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F8CB9053-0B73-E726-D07A-94DA183E662D}"/>
                  </a:ext>
                </a:extLst>
              </p:cNvPr>
              <p:cNvCxnSpPr/>
              <p:nvPr/>
            </p:nvCxnSpPr>
            <p:spPr>
              <a:xfrm>
                <a:off x="5742264" y="1199626"/>
                <a:ext cx="156035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5" name="文本框 19">
              <a:extLst>
                <a:ext uri="{FF2B5EF4-FFF2-40B4-BE49-F238E27FC236}">
                  <a16:creationId xmlns:a16="http://schemas.microsoft.com/office/drawing/2014/main" id="{B7D40D6D-D059-BE45-D7F6-A910E6517D68}"/>
                </a:ext>
              </a:extLst>
            </p:cNvPr>
            <p:cNvSpPr txBox="1"/>
            <p:nvPr/>
          </p:nvSpPr>
          <p:spPr>
            <a:xfrm>
              <a:off x="6095998" y="826099"/>
              <a:ext cx="1070794" cy="4576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trainer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3" name="箭头: 右 52">
            <a:extLst>
              <a:ext uri="{FF2B5EF4-FFF2-40B4-BE49-F238E27FC236}">
                <a16:creationId xmlns:a16="http://schemas.microsoft.com/office/drawing/2014/main" id="{3362B8CB-C233-62EB-7280-0916145BC1BE}"/>
              </a:ext>
            </a:extLst>
          </p:cNvPr>
          <p:cNvSpPr/>
          <p:nvPr/>
        </p:nvSpPr>
        <p:spPr>
          <a:xfrm>
            <a:off x="5245783" y="2780846"/>
            <a:ext cx="511729" cy="14701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636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D2BB5-7564-74A2-CD60-1BB90C8BF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datamodule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B18C1C-57A5-A816-740C-2AF7E792FA52}"/>
              </a:ext>
            </a:extLst>
          </p:cNvPr>
          <p:cNvSpPr/>
          <p:nvPr/>
        </p:nvSpPr>
        <p:spPr>
          <a:xfrm>
            <a:off x="880145" y="1382911"/>
            <a:ext cx="1438712" cy="16442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8110656-6E6B-76B6-6234-7A820FA2F891}"/>
              </a:ext>
            </a:extLst>
          </p:cNvPr>
          <p:cNvCxnSpPr>
            <a:cxnSpLocks/>
          </p:cNvCxnSpPr>
          <p:nvPr/>
        </p:nvCxnSpPr>
        <p:spPr>
          <a:xfrm>
            <a:off x="880145" y="1722666"/>
            <a:ext cx="14387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032C754F-5BB8-CE18-C0E5-875F707FA9A4}"/>
              </a:ext>
            </a:extLst>
          </p:cNvPr>
          <p:cNvSpPr txBox="1"/>
          <p:nvPr/>
        </p:nvSpPr>
        <p:spPr>
          <a:xfrm>
            <a:off x="1215704" y="1385833"/>
            <a:ext cx="1921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Dateset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BAD76C1-B441-EDB7-1BFB-FCBBB8BA373D}"/>
              </a:ext>
            </a:extLst>
          </p:cNvPr>
          <p:cNvSpPr/>
          <p:nvPr/>
        </p:nvSpPr>
        <p:spPr>
          <a:xfrm>
            <a:off x="880144" y="3416663"/>
            <a:ext cx="1438712" cy="16442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84B714B-1075-695D-9CAA-0FE8A404F5C5}"/>
              </a:ext>
            </a:extLst>
          </p:cNvPr>
          <p:cNvCxnSpPr>
            <a:cxnSpLocks/>
          </p:cNvCxnSpPr>
          <p:nvPr/>
        </p:nvCxnSpPr>
        <p:spPr>
          <a:xfrm>
            <a:off x="880144" y="3756418"/>
            <a:ext cx="14387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9AD6C3B-4046-E4D5-7F1F-8D43568A00CE}"/>
              </a:ext>
            </a:extLst>
          </p:cNvPr>
          <p:cNvSpPr txBox="1"/>
          <p:nvPr/>
        </p:nvSpPr>
        <p:spPr>
          <a:xfrm>
            <a:off x="934674" y="3442796"/>
            <a:ext cx="1921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EuclideanDataset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B3E45E5-A942-F7CA-EE20-FC852B05E9B6}"/>
              </a:ext>
            </a:extLst>
          </p:cNvPr>
          <p:cNvCxnSpPr>
            <a:cxnSpLocks/>
          </p:cNvCxnSpPr>
          <p:nvPr/>
        </p:nvCxnSpPr>
        <p:spPr>
          <a:xfrm flipH="1">
            <a:off x="1599500" y="3208720"/>
            <a:ext cx="6496" cy="2020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344732B6-D505-5E5C-3235-DCD009B8FEBD}"/>
              </a:ext>
            </a:extLst>
          </p:cNvPr>
          <p:cNvSpPr/>
          <p:nvPr/>
        </p:nvSpPr>
        <p:spPr>
          <a:xfrm>
            <a:off x="1519806" y="3027154"/>
            <a:ext cx="159389" cy="181635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20B4FF-4B5C-C97B-3558-4759B69D0C70}"/>
              </a:ext>
            </a:extLst>
          </p:cNvPr>
          <p:cNvSpPr txBox="1"/>
          <p:nvPr/>
        </p:nvSpPr>
        <p:spPr>
          <a:xfrm>
            <a:off x="934674" y="3955416"/>
            <a:ext cx="609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dirty="0">
                <a:solidFill>
                  <a:srgbClr val="0033B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altLang="zh-CN" sz="1800" dirty="0">
                <a:solidFill>
                  <a:srgbClr val="B200B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zh-CN" sz="1800" dirty="0" err="1">
                <a:solidFill>
                  <a:srgbClr val="B200B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altLang="zh-CN" sz="1800" dirty="0">
                <a:solidFill>
                  <a:srgbClr val="B200B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endParaRPr lang="en-US" altLang="zh-CN" sz="1800" dirty="0">
              <a:solidFill>
                <a:srgbClr val="08080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900318-E0EB-5AE8-28BB-0558BA8EF21C}"/>
              </a:ext>
            </a:extLst>
          </p:cNvPr>
          <p:cNvSpPr txBox="1"/>
          <p:nvPr/>
        </p:nvSpPr>
        <p:spPr>
          <a:xfrm>
            <a:off x="934674" y="4323495"/>
            <a:ext cx="609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dirty="0">
                <a:solidFill>
                  <a:srgbClr val="0033B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altLang="zh-CN" sz="1800" dirty="0" err="1">
                <a:solidFill>
                  <a:srgbClr val="0062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endParaRPr lang="en-US" altLang="zh-CN" sz="1800" dirty="0">
              <a:solidFill>
                <a:srgbClr val="08080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D70EF2-0481-85F5-B801-A35D40650582}"/>
              </a:ext>
            </a:extLst>
          </p:cNvPr>
          <p:cNvSpPr txBox="1"/>
          <p:nvPr/>
        </p:nvSpPr>
        <p:spPr>
          <a:xfrm>
            <a:off x="934674" y="4690948"/>
            <a:ext cx="609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dirty="0">
                <a:solidFill>
                  <a:srgbClr val="0033B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altLang="zh-CN" sz="1800" dirty="0">
                <a:solidFill>
                  <a:srgbClr val="0062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endParaRPr lang="en-US" altLang="zh-CN" sz="1800" dirty="0">
              <a:solidFill>
                <a:srgbClr val="08080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DBA0430-8C9B-2738-9C04-E215E883D204}"/>
              </a:ext>
            </a:extLst>
          </p:cNvPr>
          <p:cNvCxnSpPr/>
          <p:nvPr/>
        </p:nvCxnSpPr>
        <p:spPr>
          <a:xfrm>
            <a:off x="880144" y="4039300"/>
            <a:ext cx="14387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1A8D52D6-AB0A-23B8-BB2A-326D843769B5}"/>
              </a:ext>
            </a:extLst>
          </p:cNvPr>
          <p:cNvSpPr txBox="1"/>
          <p:nvPr/>
        </p:nvSpPr>
        <p:spPr>
          <a:xfrm>
            <a:off x="4072855" y="1027906"/>
            <a:ext cx="65993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mol_feat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MoleculeFeaturizer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data_dir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str   </a:t>
            </a:r>
            <a:r>
              <a:rPr lang="zh-CN" altLang="en-US" dirty="0"/>
              <a:t>数据根目录</a:t>
            </a:r>
            <a:endParaRPr lang="en-US" altLang="zh-CN" dirty="0"/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           str   </a:t>
            </a:r>
            <a:r>
              <a:rPr lang="zh-CN" altLang="en-US" dirty="0"/>
              <a:t>训练集</a:t>
            </a:r>
            <a:r>
              <a:rPr lang="en-US" altLang="zh-CN" dirty="0"/>
              <a:t>/</a:t>
            </a:r>
            <a:r>
              <a:rPr lang="zh-CN" altLang="en-US" dirty="0"/>
              <a:t>验证集</a:t>
            </a:r>
            <a:r>
              <a:rPr lang="en-US" altLang="zh-CN" dirty="0"/>
              <a:t>/</a:t>
            </a:r>
            <a:r>
              <a:rPr lang="zh-CN" altLang="en-US" dirty="0"/>
              <a:t>测试集</a:t>
            </a:r>
            <a:endParaRPr lang="en-US" altLang="zh-CN" dirty="0"/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     str   </a:t>
            </a:r>
            <a:r>
              <a:rPr lang="zh-CN" altLang="en-US" dirty="0"/>
              <a:t>数据分区</a:t>
            </a:r>
            <a:endParaRPr lang="en-US" altLang="zh-CN" dirty="0"/>
          </a:p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data_files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list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4E1800F-93D6-ADFB-2AE2-35CD74C174AB}"/>
              </a:ext>
            </a:extLst>
          </p:cNvPr>
          <p:cNvSpPr txBox="1"/>
          <p:nvPr/>
        </p:nvSpPr>
        <p:spPr>
          <a:xfrm>
            <a:off x="4173522" y="3548543"/>
            <a:ext cx="771787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altLang="zh-CN" dirty="0" err="1">
                <a:solidFill>
                  <a:srgbClr val="0062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dirty="0">
                <a:solidFill>
                  <a:srgbClr val="0062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(self)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62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返回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.pt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文件数量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1800" dirty="0">
                <a:solidFill>
                  <a:srgbClr val="0033B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altLang="zh-CN" sz="1800" dirty="0">
                <a:solidFill>
                  <a:srgbClr val="0062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en-US" altLang="zh-CN" sz="18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800" dirty="0">
                <a:solidFill>
                  <a:srgbClr val="94558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altLang="zh-CN" sz="18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en-US" altLang="zh-CN" sz="18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zh-CN" altLang="en-US" sz="18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返回第</a:t>
            </a:r>
            <a:r>
              <a:rPr lang="en-US" altLang="zh-CN" sz="1800" dirty="0" err="1"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zh-CN" altLang="en-US" sz="18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18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.pt</a:t>
            </a:r>
            <a:r>
              <a:rPr lang="zh-CN" altLang="en-US" sz="18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文件中的数据</a:t>
            </a:r>
            <a:endParaRPr lang="en-US" altLang="zh-CN" sz="1800" dirty="0">
              <a:solidFill>
                <a:srgbClr val="08080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     Data(</a:t>
            </a:r>
            <a:b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	pos=pos,   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分子构象 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原子数目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*3)</a:t>
            </a:r>
            <a:b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	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atomic_numbers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atomic_numbers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原子序数 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[6,6,1,1,1]</a:t>
            </a:r>
            <a:b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	smiles=smiles,   SMILES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字符  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“CCO”</a:t>
            </a:r>
            <a:b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	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edge_index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edge_index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边索引  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(2*</a:t>
            </a:r>
            <a:r>
              <a: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边数量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起点原子索引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终点原子索引</a:t>
            </a:r>
            <a:b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	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chiral_index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chiral_index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所有手性中心原子的索引  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1*</a:t>
            </a:r>
            <a:r>
              <a: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手性中心原子数量</a:t>
            </a:r>
            <a:b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	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chiral_nbr_index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chiral_nbr_index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每个手性原子对应的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个邻居原子的索引 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1*</a:t>
            </a:r>
            <a:r>
              <a: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数目</a:t>
            </a:r>
            <a:b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	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chiral_tag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chiral_tag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立体构型 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R/S</a:t>
            </a:r>
            <a:b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	mol=mol,                          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带坐标的分子构象</a:t>
            </a:r>
            <a:b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	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node_attr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node_attr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原子特征 </a:t>
            </a:r>
            <a:r>
              <a: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原子数目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特征维度</a:t>
            </a:r>
            <a:b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	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edge_attr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edge_attr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边特征 </a:t>
            </a:r>
            <a:r>
              <a: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默认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b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)</a:t>
            </a:r>
            <a:br>
              <a:rPr lang="en-US" altLang="zh-CN" dirty="0"/>
            </a:b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24708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2D671-63D2-359B-809B-29B344FF3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18795F-134D-AADD-74E3-FCC47125A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datamodule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8E4307-BEFF-1DBB-AE65-A867B146DB8E}"/>
              </a:ext>
            </a:extLst>
          </p:cNvPr>
          <p:cNvSpPr/>
          <p:nvPr/>
        </p:nvSpPr>
        <p:spPr>
          <a:xfrm>
            <a:off x="880145" y="1382911"/>
            <a:ext cx="1438712" cy="16442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C3DD584-3921-5C6F-B636-7933857616D9}"/>
              </a:ext>
            </a:extLst>
          </p:cNvPr>
          <p:cNvCxnSpPr>
            <a:cxnSpLocks/>
          </p:cNvCxnSpPr>
          <p:nvPr/>
        </p:nvCxnSpPr>
        <p:spPr>
          <a:xfrm>
            <a:off x="880145" y="1722666"/>
            <a:ext cx="14387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554FB39-1674-0D6C-2A70-CC8A12059EC7}"/>
              </a:ext>
            </a:extLst>
          </p:cNvPr>
          <p:cNvSpPr txBox="1"/>
          <p:nvPr/>
        </p:nvSpPr>
        <p:spPr>
          <a:xfrm>
            <a:off x="766893" y="1394222"/>
            <a:ext cx="2256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pl.LightningDataModule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3608DE-4A65-FD32-ABBE-2551643EC12A}"/>
              </a:ext>
            </a:extLst>
          </p:cNvPr>
          <p:cNvSpPr/>
          <p:nvPr/>
        </p:nvSpPr>
        <p:spPr>
          <a:xfrm>
            <a:off x="880144" y="3416663"/>
            <a:ext cx="1438712" cy="28666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FE24EF9-CBE0-2856-E522-1F2E516AC4E0}"/>
              </a:ext>
            </a:extLst>
          </p:cNvPr>
          <p:cNvCxnSpPr>
            <a:cxnSpLocks/>
          </p:cNvCxnSpPr>
          <p:nvPr/>
        </p:nvCxnSpPr>
        <p:spPr>
          <a:xfrm>
            <a:off x="880144" y="3756418"/>
            <a:ext cx="14387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CB49595-0177-2E86-BC16-ECC052221538}"/>
              </a:ext>
            </a:extLst>
          </p:cNvPr>
          <p:cNvSpPr txBox="1"/>
          <p:nvPr/>
        </p:nvSpPr>
        <p:spPr>
          <a:xfrm>
            <a:off x="892028" y="3435327"/>
            <a:ext cx="1921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BaseDataModule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D0E7242-F9CE-AD21-ADE8-D3AD42D5E683}"/>
              </a:ext>
            </a:extLst>
          </p:cNvPr>
          <p:cNvCxnSpPr>
            <a:cxnSpLocks/>
          </p:cNvCxnSpPr>
          <p:nvPr/>
        </p:nvCxnSpPr>
        <p:spPr>
          <a:xfrm flipH="1">
            <a:off x="1599500" y="3208720"/>
            <a:ext cx="6496" cy="2020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61127A70-2D97-A86C-EC00-452E23DDAE6A}"/>
              </a:ext>
            </a:extLst>
          </p:cNvPr>
          <p:cNvSpPr/>
          <p:nvPr/>
        </p:nvSpPr>
        <p:spPr>
          <a:xfrm>
            <a:off x="1519806" y="3027154"/>
            <a:ext cx="159389" cy="181635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859CDE-30DE-244B-F06C-6023E7288304}"/>
              </a:ext>
            </a:extLst>
          </p:cNvPr>
          <p:cNvSpPr txBox="1"/>
          <p:nvPr/>
        </p:nvSpPr>
        <p:spPr>
          <a:xfrm>
            <a:off x="934674" y="3955416"/>
            <a:ext cx="609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dirty="0">
                <a:solidFill>
                  <a:srgbClr val="0033B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altLang="zh-CN" sz="1800" dirty="0">
                <a:solidFill>
                  <a:srgbClr val="B200B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zh-CN" sz="1800" dirty="0" err="1">
                <a:solidFill>
                  <a:srgbClr val="B200B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altLang="zh-CN" sz="1800" dirty="0">
                <a:solidFill>
                  <a:srgbClr val="B200B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endParaRPr lang="en-US" altLang="zh-CN" sz="1800" dirty="0">
              <a:solidFill>
                <a:srgbClr val="08080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B6403F5-7AE0-2D29-3692-2BB3BB204653}"/>
              </a:ext>
            </a:extLst>
          </p:cNvPr>
          <p:cNvSpPr txBox="1"/>
          <p:nvPr/>
        </p:nvSpPr>
        <p:spPr>
          <a:xfrm>
            <a:off x="934674" y="4323495"/>
            <a:ext cx="609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altLang="zh-CN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zh-CN" dirty="0" err="1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</a:t>
            </a:r>
            <a:r>
              <a:rPr lang="en-US" altLang="zh-CN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6474FD2-651D-C9F0-7292-875F2AAF904A}"/>
              </a:ext>
            </a:extLst>
          </p:cNvPr>
          <p:cNvSpPr txBox="1"/>
          <p:nvPr/>
        </p:nvSpPr>
        <p:spPr>
          <a:xfrm>
            <a:off x="934674" y="4690948"/>
            <a:ext cx="609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dirty="0">
                <a:solidFill>
                  <a:srgbClr val="0033B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altLang="zh-CN" sz="1800" dirty="0">
                <a:solidFill>
                  <a:srgbClr val="0062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AAF8DD3-081A-4C94-0012-02139D54D60C}"/>
              </a:ext>
            </a:extLst>
          </p:cNvPr>
          <p:cNvCxnSpPr/>
          <p:nvPr/>
        </p:nvCxnSpPr>
        <p:spPr>
          <a:xfrm>
            <a:off x="880144" y="4039300"/>
            <a:ext cx="14387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B2866984-A6C8-BCFB-6F58-B5B419DCF148}"/>
              </a:ext>
            </a:extLst>
          </p:cNvPr>
          <p:cNvSpPr txBox="1"/>
          <p:nvPr/>
        </p:nvSpPr>
        <p:spPr>
          <a:xfrm>
            <a:off x="4072855" y="1027906"/>
            <a:ext cx="65993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data_dir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str   </a:t>
            </a:r>
            <a:r>
              <a:rPr lang="zh-CN" altLang="en-US" dirty="0"/>
              <a:t>数据根目录</a:t>
            </a:r>
            <a:endParaRPr lang="en-US" altLang="zh-CN" dirty="0"/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     str   </a:t>
            </a:r>
            <a:r>
              <a:rPr lang="zh-CN" altLang="en-US" dirty="0"/>
              <a:t>数据分区</a:t>
            </a:r>
            <a:endParaRPr lang="en-US" altLang="zh-CN" dirty="0"/>
          </a:p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dataloader_args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list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990902E-ACBD-3CC5-2754-332C53C14181}"/>
              </a:ext>
            </a:extLst>
          </p:cNvPr>
          <p:cNvSpPr txBox="1"/>
          <p:nvPr/>
        </p:nvSpPr>
        <p:spPr>
          <a:xfrm>
            <a:off x="4173522" y="3548543"/>
            <a:ext cx="771787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altLang="zh-CN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zh-CN" dirty="0" err="1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</a:t>
            </a:r>
            <a:r>
              <a:rPr lang="en-US" altLang="zh-CN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62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返回是哪个数据分区的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US" altLang="zh-CN" dirty="0"/>
            </a:br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4A358DE-C77E-86A8-0774-5F6AACFC987E}"/>
              </a:ext>
            </a:extLst>
          </p:cNvPr>
          <p:cNvSpPr txBox="1"/>
          <p:nvPr/>
        </p:nvSpPr>
        <p:spPr>
          <a:xfrm>
            <a:off x="934674" y="5033053"/>
            <a:ext cx="2134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1800" dirty="0">
                <a:solidFill>
                  <a:srgbClr val="0033B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altLang="zh-CN" sz="1800" dirty="0" err="1">
                <a:solidFill>
                  <a:srgbClr val="0062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train_dataloader</a:t>
            </a:r>
            <a:endParaRPr lang="en-US" altLang="zh-CN" sz="1800" dirty="0">
              <a:solidFill>
                <a:srgbClr val="08080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B8D9F1C-FAF3-0C6F-E548-11C89DC2AE26}"/>
              </a:ext>
            </a:extLst>
          </p:cNvPr>
          <p:cNvSpPr txBox="1"/>
          <p:nvPr/>
        </p:nvSpPr>
        <p:spPr>
          <a:xfrm>
            <a:off x="923489" y="5363965"/>
            <a:ext cx="2562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1800" dirty="0">
                <a:solidFill>
                  <a:srgbClr val="0033B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altLang="zh-CN" sz="1800" dirty="0" err="1">
                <a:solidFill>
                  <a:srgbClr val="0062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val_dataloader</a:t>
            </a:r>
            <a:endParaRPr lang="en-US" altLang="zh-CN" sz="1800" dirty="0">
              <a:solidFill>
                <a:srgbClr val="08080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CCB21E0-A321-A71E-85A5-5C6CD63EECE5}"/>
              </a:ext>
            </a:extLst>
          </p:cNvPr>
          <p:cNvSpPr txBox="1"/>
          <p:nvPr/>
        </p:nvSpPr>
        <p:spPr>
          <a:xfrm>
            <a:off x="914604" y="5730165"/>
            <a:ext cx="290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1800" dirty="0">
                <a:solidFill>
                  <a:srgbClr val="0033B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altLang="zh-CN" sz="1800" dirty="0" err="1">
                <a:solidFill>
                  <a:srgbClr val="0062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test_dataloader</a:t>
            </a:r>
            <a:endParaRPr lang="en-US" altLang="zh-CN" sz="1800" dirty="0">
              <a:solidFill>
                <a:srgbClr val="08080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416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CB17FB-8855-4294-A57B-CD042C1BC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894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=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instantiate_model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(config["model"], config["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model_args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934109-3C2A-E4C5-C12B-84AB6BB7A3DB}"/>
              </a:ext>
            </a:extLst>
          </p:cNvPr>
          <p:cNvSpPr/>
          <p:nvPr/>
        </p:nvSpPr>
        <p:spPr>
          <a:xfrm>
            <a:off x="909506" y="925711"/>
            <a:ext cx="1438712" cy="16442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7F89C7A-5F1E-0BB9-E963-A2D53866D426}"/>
              </a:ext>
            </a:extLst>
          </p:cNvPr>
          <p:cNvCxnSpPr>
            <a:cxnSpLocks/>
          </p:cNvCxnSpPr>
          <p:nvPr/>
        </p:nvCxnSpPr>
        <p:spPr>
          <a:xfrm>
            <a:off x="909506" y="1265466"/>
            <a:ext cx="14387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7CE765B2-FBA0-8D7A-82D4-8B1F50069B9B}"/>
              </a:ext>
            </a:extLst>
          </p:cNvPr>
          <p:cNvSpPr txBox="1"/>
          <p:nvPr/>
        </p:nvSpPr>
        <p:spPr>
          <a:xfrm>
            <a:off x="909506" y="925711"/>
            <a:ext cx="1921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LightningModule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6237E5-3D86-66E7-EF4F-B76E82019D9F}"/>
              </a:ext>
            </a:extLst>
          </p:cNvPr>
          <p:cNvSpPr/>
          <p:nvPr/>
        </p:nvSpPr>
        <p:spPr>
          <a:xfrm>
            <a:off x="909505" y="2959463"/>
            <a:ext cx="1438712" cy="16442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883A71F-4787-111A-AAEA-11E958E913F6}"/>
              </a:ext>
            </a:extLst>
          </p:cNvPr>
          <p:cNvCxnSpPr>
            <a:cxnSpLocks/>
          </p:cNvCxnSpPr>
          <p:nvPr/>
        </p:nvCxnSpPr>
        <p:spPr>
          <a:xfrm>
            <a:off x="909505" y="3299218"/>
            <a:ext cx="14387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F8F87517-6CE8-AFEB-7843-7F9B827920A5}"/>
              </a:ext>
            </a:extLst>
          </p:cNvPr>
          <p:cNvSpPr txBox="1"/>
          <p:nvPr/>
        </p:nvSpPr>
        <p:spPr>
          <a:xfrm>
            <a:off x="1115036" y="2975452"/>
            <a:ext cx="1921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BaseModel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8756F25-BA31-0816-91C8-5BB149C871A7}"/>
              </a:ext>
            </a:extLst>
          </p:cNvPr>
          <p:cNvCxnSpPr>
            <a:cxnSpLocks/>
          </p:cNvCxnSpPr>
          <p:nvPr/>
        </p:nvCxnSpPr>
        <p:spPr>
          <a:xfrm flipH="1">
            <a:off x="1628861" y="2751520"/>
            <a:ext cx="6496" cy="2020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等腰三角形 13">
            <a:extLst>
              <a:ext uri="{FF2B5EF4-FFF2-40B4-BE49-F238E27FC236}">
                <a16:creationId xmlns:a16="http://schemas.microsoft.com/office/drawing/2014/main" id="{35705C2D-5A3A-79DD-FB3C-52265ABB91E9}"/>
              </a:ext>
            </a:extLst>
          </p:cNvPr>
          <p:cNvSpPr/>
          <p:nvPr/>
        </p:nvSpPr>
        <p:spPr>
          <a:xfrm>
            <a:off x="1549167" y="2569954"/>
            <a:ext cx="159389" cy="181635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52AA5EA-9BDF-ECB1-5B53-1C80181021EA}"/>
              </a:ext>
            </a:extLst>
          </p:cNvPr>
          <p:cNvSpPr/>
          <p:nvPr/>
        </p:nvSpPr>
        <p:spPr>
          <a:xfrm>
            <a:off x="896922" y="5000214"/>
            <a:ext cx="1438712" cy="16442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B7A0DB7-F51D-B70B-B936-44487C63C3F2}"/>
              </a:ext>
            </a:extLst>
          </p:cNvPr>
          <p:cNvCxnSpPr>
            <a:cxnSpLocks/>
          </p:cNvCxnSpPr>
          <p:nvPr/>
        </p:nvCxnSpPr>
        <p:spPr>
          <a:xfrm>
            <a:off x="896922" y="5339969"/>
            <a:ext cx="14387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E3CE44E9-A606-C152-496B-7FE010817D8E}"/>
              </a:ext>
            </a:extLst>
          </p:cNvPr>
          <p:cNvSpPr txBox="1"/>
          <p:nvPr/>
        </p:nvSpPr>
        <p:spPr>
          <a:xfrm>
            <a:off x="1156981" y="5001864"/>
            <a:ext cx="1921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BaseFlow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826235D-E3BD-2166-5625-B7C9E9182B90}"/>
              </a:ext>
            </a:extLst>
          </p:cNvPr>
          <p:cNvCxnSpPr>
            <a:cxnSpLocks/>
          </p:cNvCxnSpPr>
          <p:nvPr/>
        </p:nvCxnSpPr>
        <p:spPr>
          <a:xfrm flipH="1">
            <a:off x="1628860" y="4798116"/>
            <a:ext cx="6496" cy="2020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等腰三角形 26">
            <a:extLst>
              <a:ext uri="{FF2B5EF4-FFF2-40B4-BE49-F238E27FC236}">
                <a16:creationId xmlns:a16="http://schemas.microsoft.com/office/drawing/2014/main" id="{750D593E-3C7E-1AFC-C264-59F7385FF00F}"/>
              </a:ext>
            </a:extLst>
          </p:cNvPr>
          <p:cNvSpPr/>
          <p:nvPr/>
        </p:nvSpPr>
        <p:spPr>
          <a:xfrm>
            <a:off x="1549166" y="4616550"/>
            <a:ext cx="159389" cy="181635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290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0BD06FF-49F6-7722-1AB1-8698A22EE605}"/>
              </a:ext>
            </a:extLst>
          </p:cNvPr>
          <p:cNvSpPr/>
          <p:nvPr/>
        </p:nvSpPr>
        <p:spPr>
          <a:xfrm>
            <a:off x="48936" y="0"/>
            <a:ext cx="12092730" cy="67657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F860F7D-BEB0-8BD0-13BA-A0AE7A3263DE}"/>
              </a:ext>
            </a:extLst>
          </p:cNvPr>
          <p:cNvCxnSpPr>
            <a:cxnSpLocks/>
          </p:cNvCxnSpPr>
          <p:nvPr/>
        </p:nvCxnSpPr>
        <p:spPr>
          <a:xfrm>
            <a:off x="50334" y="314587"/>
            <a:ext cx="120920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A7D9D67D-1B2A-F791-EDAB-B185BE802898}"/>
              </a:ext>
            </a:extLst>
          </p:cNvPr>
          <p:cNvSpPr txBox="1"/>
          <p:nvPr/>
        </p:nvSpPr>
        <p:spPr>
          <a:xfrm>
            <a:off x="48237" y="0"/>
            <a:ext cx="2248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BaseModel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D5C9D1-4A2F-80F5-5085-C83D75813001}"/>
              </a:ext>
            </a:extLst>
          </p:cNvPr>
          <p:cNvSpPr txBox="1"/>
          <p:nvPr/>
        </p:nvSpPr>
        <p:spPr>
          <a:xfrm>
            <a:off x="75500" y="352176"/>
            <a:ext cx="123150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optimizer_type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opt_betas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weight_decay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|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ams_grad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grad_norm_max_val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lr_scheduler_type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factor       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patience      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first_cycle_steps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cycle_mult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max_lr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min_lr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warmup_steps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lrs_gamma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last_epoch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lr_scheduler_monitor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lr_scheduler_interval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lr_scheduler_frequency</a:t>
            </a:r>
            <a:b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CN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self.gradnorm_queue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Queue()</a:t>
            </a:r>
            <a:b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self.gradnorm_queue.add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(3000)</a:t>
            </a:r>
            <a:endParaRPr lang="zh-CN" altLang="en-US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DF37F39-5053-2721-970B-60DE6FC1BDFC}"/>
              </a:ext>
            </a:extLst>
          </p:cNvPr>
          <p:cNvCxnSpPr/>
          <p:nvPr/>
        </p:nvCxnSpPr>
        <p:spPr>
          <a:xfrm>
            <a:off x="48237" y="1270932"/>
            <a:ext cx="120934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82E9DE7A-BC22-65D9-5C55-71062B5D23D3}"/>
              </a:ext>
            </a:extLst>
          </p:cNvPr>
          <p:cNvSpPr txBox="1"/>
          <p:nvPr/>
        </p:nvSpPr>
        <p:spPr>
          <a:xfrm>
            <a:off x="46839" y="1270931"/>
            <a:ext cx="744942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1000" dirty="0">
                <a:solidFill>
                  <a:srgbClr val="0033B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altLang="zh-CN" sz="1000" dirty="0">
                <a:solidFill>
                  <a:srgbClr val="B200B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zh-CN" sz="1000" dirty="0" err="1">
                <a:solidFill>
                  <a:srgbClr val="B200B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altLang="zh-CN" sz="1000" dirty="0">
                <a:solidFill>
                  <a:srgbClr val="B200B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endParaRPr lang="en-US" altLang="zh-CN" sz="1000" dirty="0">
              <a:solidFill>
                <a:srgbClr val="08080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 err="1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generic_step</a:t>
            </a:r>
            <a:b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 err="1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training_step</a:t>
            </a:r>
            <a:b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 err="1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validation_step</a:t>
            </a:r>
            <a:endParaRPr lang="en-US" altLang="zh-CN" sz="1000" dirty="0">
              <a:solidFill>
                <a:srgbClr val="B200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000" dirty="0">
              <a:solidFill>
                <a:srgbClr val="B200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altLang="zh-CN" sz="1000" dirty="0" err="1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configure_optimizers</a:t>
            </a:r>
            <a: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根据传入参数设置优化器类型和学习率调度器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altLang="zh-CN" sz="1000" dirty="0" err="1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log_helper</a:t>
            </a:r>
            <a: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日志统一封装工具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 err="1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configure_gradient_clipping</a:t>
            </a:r>
            <a: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动态梯度裁剪</a:t>
            </a:r>
          </a:p>
        </p:txBody>
      </p:sp>
    </p:spTree>
    <p:extLst>
      <p:ext uri="{BB962C8B-B14F-4D97-AF65-F5344CB8AC3E}">
        <p14:creationId xmlns:p14="http://schemas.microsoft.com/office/powerpoint/2010/main" val="3505620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6994DD4-0B0A-C385-959C-29A150319796}"/>
              </a:ext>
            </a:extLst>
          </p:cNvPr>
          <p:cNvSpPr/>
          <p:nvPr/>
        </p:nvSpPr>
        <p:spPr>
          <a:xfrm>
            <a:off x="0" y="29361"/>
            <a:ext cx="12151453" cy="68286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24B3E67-E0FB-6AFB-2338-F70EEEB3BA2C}"/>
              </a:ext>
            </a:extLst>
          </p:cNvPr>
          <p:cNvCxnSpPr/>
          <p:nvPr/>
        </p:nvCxnSpPr>
        <p:spPr>
          <a:xfrm>
            <a:off x="0" y="302004"/>
            <a:ext cx="1215145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F555F013-DB10-F15A-AA54-CDB89E54572E}"/>
              </a:ext>
            </a:extLst>
          </p:cNvPr>
          <p:cNvSpPr txBox="1"/>
          <p:nvPr/>
        </p:nvSpPr>
        <p:spPr>
          <a:xfrm>
            <a:off x="-41944" y="-29361"/>
            <a:ext cx="2676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BaseFlow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33152D4-C79B-2D75-33F0-E3313B8C3391}"/>
              </a:ext>
            </a:extLst>
          </p:cNvPr>
          <p:cNvCxnSpPr/>
          <p:nvPr/>
        </p:nvCxnSpPr>
        <p:spPr>
          <a:xfrm>
            <a:off x="0" y="1619075"/>
            <a:ext cx="12151453" cy="419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EA1BE8C5-9FA0-9BA7-5172-21E64BCA8457}"/>
              </a:ext>
            </a:extLst>
          </p:cNvPr>
          <p:cNvSpPr txBox="1"/>
          <p:nvPr/>
        </p:nvSpPr>
        <p:spPr>
          <a:xfrm>
            <a:off x="0" y="1657041"/>
            <a:ext cx="906430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 err="1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from_config</a:t>
            </a:r>
            <a: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类方法，可以通过该方法直接创建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Baseflow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的实例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altLang="zh-CN" sz="1000" dirty="0" err="1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from_default</a:t>
            </a:r>
            <a: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类方法   </a:t>
            </a:r>
            <a:r>
              <a:rPr lang="zh-CN" altLang="en-US" sz="1000" dirty="0"/>
              <a:t>一键加载官方预训练好的分子模型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/>
          </a:p>
          <a:p>
            <a:r>
              <a:rPr lang="de-DE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de-DE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sigma_t                             </a:t>
            </a:r>
            <a:r>
              <a:rPr lang="zh-CN" altLang="en-US" sz="1000" dirty="0"/>
              <a:t>流匹配模型的噪声强度计算器  </a:t>
            </a:r>
            <a:r>
              <a:rPr lang="en-US" altLang="zh-CN" sz="1000" dirty="0"/>
              <a:t>sigma * [t * (1-t)]**0.5</a:t>
            </a:r>
          </a:p>
          <a:p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 err="1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sigma_dot_t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altLang="zh-CN" sz="1000" dirty="0" err="1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sigma_t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关于时间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的导数 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(sigma * 0.5 *(1-2 * t))/(</a:t>
            </a:r>
            <a:r>
              <a:rPr lang="en-US" altLang="zh-CN" sz="1000" dirty="0"/>
              <a:t>[t * (1-t)]**0.5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de-DE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 err="1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sample_conditional_pt</a:t>
            </a:r>
            <a: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按时间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生成带噪声的中间状态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de-DE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 err="1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compute_conditional_vector_field</a:t>
            </a:r>
            <a: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计算出指向真实分子的向量场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 err="1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switch_parity_of_pos</a:t>
            </a:r>
            <a: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让生成的分子手性完全符合真实药物的化学结构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 err="1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sample_base_dist</a:t>
            </a:r>
            <a: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采样生成流模型的起点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altLang="zh-CN" dirty="0"/>
              <a:t> </a:t>
            </a:r>
            <a:r>
              <a:rPr lang="en-US" altLang="zh-CN" sz="1000" dirty="0" err="1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sample_time</a:t>
            </a:r>
            <a: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随机生成时间步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 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每个分子一个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altLang="zh-CN" dirty="0"/>
              <a:t> </a:t>
            </a:r>
            <a: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</a:p>
          <a:p>
            <a:endParaRPr lang="en-US" altLang="zh-CN" sz="1000" dirty="0">
              <a:solidFill>
                <a:srgbClr val="B200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altLang="zh-CN" dirty="0"/>
              <a:t> </a:t>
            </a:r>
            <a:r>
              <a:rPr lang="en-US" altLang="zh-CN" sz="1000" dirty="0" err="1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generic_step</a:t>
            </a:r>
            <a: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重写了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中的方法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altLang="zh-CN" dirty="0"/>
              <a:t> </a:t>
            </a:r>
            <a: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zh-CN" sz="1000" dirty="0" err="1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compute_delta_t</a:t>
            </a:r>
            <a: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计算生成时相邻两个时间步的间隔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altLang="zh-CN" dirty="0"/>
              <a:t> </a:t>
            </a:r>
            <a: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</a:p>
          <a:p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altLang="zh-CN" dirty="0"/>
              <a:t> </a:t>
            </a:r>
            <a: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</a:p>
          <a:p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A1BA227-B843-AFF0-FFAD-32C1FF1D025B}"/>
              </a:ext>
            </a:extLst>
          </p:cNvPr>
          <p:cNvSpPr txBox="1"/>
          <p:nvPr/>
        </p:nvSpPr>
        <p:spPr>
          <a:xfrm>
            <a:off x="0" y="360727"/>
            <a:ext cx="774727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Network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sigma             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prior_type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     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sample_time_dist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parity_switch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max_num_neighbors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edge_one_hot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edge_one_hot_types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harmonic_sampler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158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11929F9-E855-F8CC-47E1-E4EE20BED0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82F2460-E2CA-6789-1581-28109B943116}"/>
              </a:ext>
            </a:extLst>
          </p:cNvPr>
          <p:cNvCxnSpPr/>
          <p:nvPr/>
        </p:nvCxnSpPr>
        <p:spPr>
          <a:xfrm>
            <a:off x="0" y="241160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77121686-4F8A-F425-A6E3-2A104D579DC6}"/>
              </a:ext>
            </a:extLst>
          </p:cNvPr>
          <p:cNvSpPr txBox="1"/>
          <p:nvPr/>
        </p:nvSpPr>
        <p:spPr>
          <a:xfrm>
            <a:off x="-50241" y="-35839"/>
            <a:ext cx="2069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TorchMDDynamics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1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EC45EB8-0FB1-3CA7-96C4-1E95EB762A7C}"/>
              </a:ext>
            </a:extLst>
          </p:cNvPr>
          <p:cNvSpPr txBox="1"/>
          <p:nvPr/>
        </p:nvSpPr>
        <p:spPr>
          <a:xfrm>
            <a:off x="-50241" y="241160"/>
            <a:ext cx="2768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representation_model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|  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output_model</a:t>
            </a:r>
            <a:endParaRPr lang="en-US" altLang="zh-CN" sz="1000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45C09A1-BD6E-A68C-F599-C2B8431AEE0E}"/>
              </a:ext>
            </a:extLst>
          </p:cNvPr>
          <p:cNvCxnSpPr>
            <a:cxnSpLocks/>
          </p:cNvCxnSpPr>
          <p:nvPr/>
        </p:nvCxnSpPr>
        <p:spPr>
          <a:xfrm>
            <a:off x="0" y="518159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E66ED46A-A92B-5C8D-8FF5-C9BC6FC2859D}"/>
              </a:ext>
            </a:extLst>
          </p:cNvPr>
          <p:cNvSpPr txBox="1"/>
          <p:nvPr/>
        </p:nvSpPr>
        <p:spPr>
          <a:xfrm>
            <a:off x="80387" y="641270"/>
            <a:ext cx="315518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altLang="zh-CN" dirty="0"/>
              <a:t> </a:t>
            </a:r>
            <a: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zh-CN" sz="1000" dirty="0" err="1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endParaRPr lang="en-US" altLang="zh-CN" dirty="0"/>
          </a:p>
          <a:p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altLang="zh-CN" dirty="0"/>
              <a:t> </a:t>
            </a:r>
            <a:r>
              <a:rPr lang="en-US" altLang="zh-CN" sz="1000" dirty="0" err="1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reset_parameters</a:t>
            </a:r>
            <a:endParaRPr lang="en-US" altLang="zh-CN" sz="1000" dirty="0">
              <a:solidFill>
                <a:srgbClr val="B200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000" dirty="0">
              <a:solidFill>
                <a:srgbClr val="B200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forward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6642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CE1EE-81B5-99A9-BCC2-7A1F6E317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88A3942-B0FB-8AF2-258E-FA594B132E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04D16DD-2E9F-1525-9AA6-BD5A73C48589}"/>
              </a:ext>
            </a:extLst>
          </p:cNvPr>
          <p:cNvCxnSpPr/>
          <p:nvPr/>
        </p:nvCxnSpPr>
        <p:spPr>
          <a:xfrm>
            <a:off x="0" y="241160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E2B2EA5-7908-5FB1-AD19-26BFBE2CA23D}"/>
              </a:ext>
            </a:extLst>
          </p:cNvPr>
          <p:cNvSpPr txBox="1"/>
          <p:nvPr/>
        </p:nvSpPr>
        <p:spPr>
          <a:xfrm>
            <a:off x="-50241" y="-35839"/>
            <a:ext cx="2818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TorchMD_ET_dynamics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1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DFC8DC6-975F-4EA1-3917-4EFC789BBFEE}"/>
              </a:ext>
            </a:extLst>
          </p:cNvPr>
          <p:cNvSpPr txBox="1"/>
          <p:nvPr/>
        </p:nvSpPr>
        <p:spPr>
          <a:xfrm>
            <a:off x="-50241" y="241160"/>
            <a:ext cx="122422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hidden_channels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|  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num_layers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| 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num_rbf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rbf_type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|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trainable_rbf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|  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activation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|  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attn_activation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neighbor_embedding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num_heads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|  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distance_influence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cutoff_lower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|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cutoff_upper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|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max_z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| 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node_attr_dim</a:t>
            </a:r>
            <a:endParaRPr lang="en-US" altLang="zh-CN" sz="1000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edge_attr_dim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|  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clip_during_norm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act_class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embedding  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| 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distance_expansion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neighbor_embedding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node_mlp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|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attention_layers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out_norm</a:t>
            </a:r>
            <a:endParaRPr lang="en-US" altLang="zh-CN" sz="1000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000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6C16BD4-5CC6-1986-F894-4B003D76496E}"/>
              </a:ext>
            </a:extLst>
          </p:cNvPr>
          <p:cNvCxnSpPr>
            <a:cxnSpLocks/>
          </p:cNvCxnSpPr>
          <p:nvPr/>
        </p:nvCxnSpPr>
        <p:spPr>
          <a:xfrm>
            <a:off x="0" y="1759130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ECBC05C-F1DE-FED0-D40E-937DFA3B35D7}"/>
              </a:ext>
            </a:extLst>
          </p:cNvPr>
          <p:cNvSpPr txBox="1"/>
          <p:nvPr/>
        </p:nvSpPr>
        <p:spPr>
          <a:xfrm>
            <a:off x="105508" y="2032966"/>
            <a:ext cx="315518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altLang="zh-CN" dirty="0"/>
              <a:t> </a:t>
            </a:r>
            <a: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zh-CN" sz="1000" dirty="0" err="1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endParaRPr lang="en-US" altLang="zh-CN" dirty="0"/>
          </a:p>
          <a:p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altLang="zh-CN" dirty="0"/>
              <a:t> </a:t>
            </a:r>
            <a:r>
              <a:rPr lang="en-US" altLang="zh-CN" sz="1000" dirty="0" err="1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reset_parameters</a:t>
            </a:r>
            <a:endParaRPr lang="en-US" altLang="zh-CN" sz="1000" dirty="0">
              <a:solidFill>
                <a:srgbClr val="B200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000" dirty="0">
              <a:solidFill>
                <a:srgbClr val="B200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forward</a:t>
            </a:r>
          </a:p>
          <a:p>
            <a:endParaRPr lang="en-US" altLang="zh-CN" sz="1000" dirty="0">
              <a:solidFill>
                <a:srgbClr val="B200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altLang="zh-CN" dirty="0"/>
              <a:t> </a:t>
            </a:r>
            <a: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zh-CN" sz="1000" dirty="0" err="1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</a:t>
            </a:r>
            <a:r>
              <a:rPr lang="en-US" altLang="zh-CN" sz="1000" dirty="0">
                <a:solidFill>
                  <a:srgbClr val="B200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</a:p>
          <a:p>
            <a:endParaRPr lang="en-US" altLang="zh-CN" sz="1000" dirty="0">
              <a:solidFill>
                <a:srgbClr val="B200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7862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857D32-70BB-7D65-5CB4-F699C308C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representation_model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7E871EDB-C95A-2232-8E40-F0B35B0A0E9D}"/>
              </a:ext>
            </a:extLst>
          </p:cNvPr>
          <p:cNvSpPr/>
          <p:nvPr/>
        </p:nvSpPr>
        <p:spPr>
          <a:xfrm>
            <a:off x="430403" y="1552744"/>
            <a:ext cx="563545" cy="381837"/>
          </a:xfrm>
          <a:prstGeom prst="parallelogram">
            <a:avLst>
              <a:gd name="adj" fmla="val 48529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1AB0F30-354D-046F-1C9A-4904FE68A3A5}"/>
              </a:ext>
            </a:extLst>
          </p:cNvPr>
          <p:cNvCxnSpPr>
            <a:cxnSpLocks/>
          </p:cNvCxnSpPr>
          <p:nvPr/>
        </p:nvCxnSpPr>
        <p:spPr>
          <a:xfrm flipV="1">
            <a:off x="953755" y="1743660"/>
            <a:ext cx="1070988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BFCE2DD0-EC6A-F632-FBD6-B2AFEAE754EC}"/>
              </a:ext>
            </a:extLst>
          </p:cNvPr>
          <p:cNvSpPr/>
          <p:nvPr/>
        </p:nvSpPr>
        <p:spPr>
          <a:xfrm>
            <a:off x="2127317" y="1552742"/>
            <a:ext cx="813917" cy="38183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3E0553-D9DE-E2FE-359F-FE75B72ACE93}"/>
              </a:ext>
            </a:extLst>
          </p:cNvPr>
          <p:cNvSpPr txBox="1"/>
          <p:nvPr/>
        </p:nvSpPr>
        <p:spPr>
          <a:xfrm>
            <a:off x="391048" y="1934580"/>
            <a:ext cx="1391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</a:rPr>
              <a:t>输入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5601434-9648-05D4-D9FA-B771A95FF154}"/>
              </a:ext>
            </a:extLst>
          </p:cNvPr>
          <p:cNvSpPr txBox="1"/>
          <p:nvPr/>
        </p:nvSpPr>
        <p:spPr>
          <a:xfrm>
            <a:off x="2127317" y="1934578"/>
            <a:ext cx="20548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</a:rPr>
              <a:t>原子嵌入层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26794E0-AFFD-D193-E027-DEB3E1AF1833}"/>
              </a:ext>
            </a:extLst>
          </p:cNvPr>
          <p:cNvSpPr txBox="1"/>
          <p:nvPr/>
        </p:nvSpPr>
        <p:spPr>
          <a:xfrm>
            <a:off x="993948" y="1466661"/>
            <a:ext cx="10307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num_atoms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AAFDD19-DD90-2355-AD02-7C90BD2C9E54}"/>
              </a:ext>
            </a:extLst>
          </p:cNvPr>
          <p:cNvCxnSpPr>
            <a:cxnSpLocks/>
          </p:cNvCxnSpPr>
          <p:nvPr/>
        </p:nvCxnSpPr>
        <p:spPr>
          <a:xfrm>
            <a:off x="3043808" y="1743662"/>
            <a:ext cx="19251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EEA7EFE1-4E2F-9261-F059-4CEA43297003}"/>
              </a:ext>
            </a:extLst>
          </p:cNvPr>
          <p:cNvSpPr txBox="1"/>
          <p:nvPr/>
        </p:nvSpPr>
        <p:spPr>
          <a:xfrm>
            <a:off x="2941234" y="1451275"/>
            <a:ext cx="20548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num_atoms,hidden_channels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平行四边形 15">
            <a:extLst>
              <a:ext uri="{FF2B5EF4-FFF2-40B4-BE49-F238E27FC236}">
                <a16:creationId xmlns:a16="http://schemas.microsoft.com/office/drawing/2014/main" id="{AEC0F415-DD5F-7A24-CBD9-EC764C8CCF7F}"/>
              </a:ext>
            </a:extLst>
          </p:cNvPr>
          <p:cNvSpPr/>
          <p:nvPr/>
        </p:nvSpPr>
        <p:spPr>
          <a:xfrm>
            <a:off x="2516901" y="2583086"/>
            <a:ext cx="563545" cy="381837"/>
          </a:xfrm>
          <a:prstGeom prst="parallelogram">
            <a:avLst>
              <a:gd name="adj" fmla="val 48529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ED20E70-D766-972C-D12E-227CFF05BFAE}"/>
              </a:ext>
            </a:extLst>
          </p:cNvPr>
          <p:cNvCxnSpPr>
            <a:cxnSpLocks/>
          </p:cNvCxnSpPr>
          <p:nvPr/>
        </p:nvCxnSpPr>
        <p:spPr>
          <a:xfrm flipV="1">
            <a:off x="3040253" y="2774002"/>
            <a:ext cx="1930121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394127B2-4F67-EE50-76DD-9CD32E47686F}"/>
              </a:ext>
            </a:extLst>
          </p:cNvPr>
          <p:cNvSpPr/>
          <p:nvPr/>
        </p:nvSpPr>
        <p:spPr>
          <a:xfrm>
            <a:off x="5107072" y="2685338"/>
            <a:ext cx="813917" cy="1661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8469F39-3824-EDD6-3AD9-A2711CAA917F}"/>
              </a:ext>
            </a:extLst>
          </p:cNvPr>
          <p:cNvSpPr txBox="1"/>
          <p:nvPr/>
        </p:nvSpPr>
        <p:spPr>
          <a:xfrm>
            <a:off x="2477546" y="2964922"/>
            <a:ext cx="1391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</a:rPr>
              <a:t>输入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04E0BBE-8B32-488C-7EB3-785B3B026147}"/>
              </a:ext>
            </a:extLst>
          </p:cNvPr>
          <p:cNvSpPr txBox="1"/>
          <p:nvPr/>
        </p:nvSpPr>
        <p:spPr>
          <a:xfrm>
            <a:off x="5331694" y="2878868"/>
            <a:ext cx="20548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>
                <a:latin typeface="黑体" panose="02010609060101010101" pitchFamily="49" charset="-122"/>
                <a:ea typeface="黑体" panose="02010609060101010101" pitchFamily="49" charset="-122"/>
              </a:rPr>
              <a:t>mlp</a:t>
            </a:r>
            <a:endParaRPr lang="zh-CN" alt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F288C6B-020C-5E28-548B-7AE42818E4DD}"/>
              </a:ext>
            </a:extLst>
          </p:cNvPr>
          <p:cNvSpPr txBox="1"/>
          <p:nvPr/>
        </p:nvSpPr>
        <p:spPr>
          <a:xfrm>
            <a:off x="3080446" y="2497003"/>
            <a:ext cx="18899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num_atoms,node_attr_dim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050DD6D-6A50-BCC7-D5D4-8B4910FDA013}"/>
              </a:ext>
            </a:extLst>
          </p:cNvPr>
          <p:cNvCxnSpPr>
            <a:cxnSpLocks/>
          </p:cNvCxnSpPr>
          <p:nvPr/>
        </p:nvCxnSpPr>
        <p:spPr>
          <a:xfrm flipV="1">
            <a:off x="6094531" y="2735261"/>
            <a:ext cx="2128577" cy="15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05046589-99C5-872F-5D57-3C73ABEE8B40}"/>
              </a:ext>
            </a:extLst>
          </p:cNvPr>
          <p:cNvSpPr txBox="1"/>
          <p:nvPr/>
        </p:nvSpPr>
        <p:spPr>
          <a:xfrm>
            <a:off x="6168220" y="2458262"/>
            <a:ext cx="20548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num_atoms,hidden_channels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平行四边形 25">
            <a:extLst>
              <a:ext uri="{FF2B5EF4-FFF2-40B4-BE49-F238E27FC236}">
                <a16:creationId xmlns:a16="http://schemas.microsoft.com/office/drawing/2014/main" id="{0B02C4A0-72EA-1C6E-D047-3A95CA6F3C0A}"/>
              </a:ext>
            </a:extLst>
          </p:cNvPr>
          <p:cNvSpPr/>
          <p:nvPr/>
        </p:nvSpPr>
        <p:spPr>
          <a:xfrm>
            <a:off x="2173810" y="3673985"/>
            <a:ext cx="563545" cy="381837"/>
          </a:xfrm>
          <a:prstGeom prst="parallelogram">
            <a:avLst>
              <a:gd name="adj" fmla="val 48529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B8E4ADA-4276-621F-DE50-335795FB56D3}"/>
              </a:ext>
            </a:extLst>
          </p:cNvPr>
          <p:cNvCxnSpPr>
            <a:cxnSpLocks/>
          </p:cNvCxnSpPr>
          <p:nvPr/>
        </p:nvCxnSpPr>
        <p:spPr>
          <a:xfrm flipV="1">
            <a:off x="2697162" y="3864901"/>
            <a:ext cx="1930121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AA6C0A40-52D7-47C0-65ED-42DD681CD7B6}"/>
              </a:ext>
            </a:extLst>
          </p:cNvPr>
          <p:cNvSpPr txBox="1"/>
          <p:nvPr/>
        </p:nvSpPr>
        <p:spPr>
          <a:xfrm>
            <a:off x="2134455" y="4055821"/>
            <a:ext cx="1391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</a:rPr>
              <a:t>输入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DB093B5-2D22-31A8-4C4C-8D6DA78D161B}"/>
              </a:ext>
            </a:extLst>
          </p:cNvPr>
          <p:cNvSpPr txBox="1"/>
          <p:nvPr/>
        </p:nvSpPr>
        <p:spPr>
          <a:xfrm>
            <a:off x="4521355" y="4063639"/>
            <a:ext cx="20548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>
                <a:latin typeface="黑体" panose="02010609060101010101" pitchFamily="49" charset="-122"/>
                <a:ea typeface="黑体" panose="02010609060101010101" pitchFamily="49" charset="-122"/>
              </a:rPr>
              <a:t>distance_expansion</a:t>
            </a:r>
            <a:endParaRPr lang="zh-CN" alt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CE87A93-F7E8-8851-A991-C0F94D7865D5}"/>
              </a:ext>
            </a:extLst>
          </p:cNvPr>
          <p:cNvSpPr txBox="1"/>
          <p:nvPr/>
        </p:nvSpPr>
        <p:spPr>
          <a:xfrm>
            <a:off x="3068950" y="3585994"/>
            <a:ext cx="18899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(num_atoms,3)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48BA9C3B-249F-BDBE-7D9F-6C6B7E5E6735}"/>
              </a:ext>
            </a:extLst>
          </p:cNvPr>
          <p:cNvCxnSpPr>
            <a:cxnSpLocks/>
          </p:cNvCxnSpPr>
          <p:nvPr/>
        </p:nvCxnSpPr>
        <p:spPr>
          <a:xfrm>
            <a:off x="5751440" y="3841549"/>
            <a:ext cx="25295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B5FD10AA-AD49-7FCA-5104-C066C45137FD}"/>
              </a:ext>
            </a:extLst>
          </p:cNvPr>
          <p:cNvSpPr txBox="1"/>
          <p:nvPr/>
        </p:nvSpPr>
        <p:spPr>
          <a:xfrm>
            <a:off x="1101970" y="1766742"/>
            <a:ext cx="7167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</a:rPr>
              <a:t>原子序数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8CBE347-0848-5BF2-41F4-04B05DE94AC9}"/>
              </a:ext>
            </a:extLst>
          </p:cNvPr>
          <p:cNvSpPr txBox="1"/>
          <p:nvPr/>
        </p:nvSpPr>
        <p:spPr>
          <a:xfrm>
            <a:off x="3278903" y="2796292"/>
            <a:ext cx="7040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</a:rPr>
              <a:t>原子特征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F80F6E7-A972-9036-F658-C8B7CC3D286E}"/>
              </a:ext>
            </a:extLst>
          </p:cNvPr>
          <p:cNvSpPr txBox="1"/>
          <p:nvPr/>
        </p:nvSpPr>
        <p:spPr>
          <a:xfrm>
            <a:off x="3268139" y="3855224"/>
            <a:ext cx="8768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</a:rPr>
              <a:t>原子坐标</a:t>
            </a:r>
          </a:p>
        </p:txBody>
      </p:sp>
      <p:sp>
        <p:nvSpPr>
          <p:cNvPr id="38" name="流程图: 接点 37">
            <a:extLst>
              <a:ext uri="{FF2B5EF4-FFF2-40B4-BE49-F238E27FC236}">
                <a16:creationId xmlns:a16="http://schemas.microsoft.com/office/drawing/2014/main" id="{59582F62-03FD-61FD-86C2-5963D6B246F0}"/>
              </a:ext>
            </a:extLst>
          </p:cNvPr>
          <p:cNvSpPr/>
          <p:nvPr/>
        </p:nvSpPr>
        <p:spPr>
          <a:xfrm>
            <a:off x="5604048" y="1402394"/>
            <a:ext cx="205991" cy="184109"/>
          </a:xfrm>
          <a:prstGeom prst="flowChartConnector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流程图: 接点 38">
            <a:extLst>
              <a:ext uri="{FF2B5EF4-FFF2-40B4-BE49-F238E27FC236}">
                <a16:creationId xmlns:a16="http://schemas.microsoft.com/office/drawing/2014/main" id="{9F9C3997-2F60-97F0-43DA-FF226F2B71DC}"/>
              </a:ext>
            </a:extLst>
          </p:cNvPr>
          <p:cNvSpPr/>
          <p:nvPr/>
        </p:nvSpPr>
        <p:spPr>
          <a:xfrm>
            <a:off x="5934386" y="1172956"/>
            <a:ext cx="205991" cy="184109"/>
          </a:xfrm>
          <a:prstGeom prst="flowChartConnector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流程图: 接点 39">
            <a:extLst>
              <a:ext uri="{FF2B5EF4-FFF2-40B4-BE49-F238E27FC236}">
                <a16:creationId xmlns:a16="http://schemas.microsoft.com/office/drawing/2014/main" id="{20873DB8-0475-D7F7-2FFC-E490D714946F}"/>
              </a:ext>
            </a:extLst>
          </p:cNvPr>
          <p:cNvSpPr/>
          <p:nvPr/>
        </p:nvSpPr>
        <p:spPr>
          <a:xfrm>
            <a:off x="5284802" y="1140310"/>
            <a:ext cx="205991" cy="184109"/>
          </a:xfrm>
          <a:prstGeom prst="flowChartConnector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流程图: 接点 40">
            <a:extLst>
              <a:ext uri="{FF2B5EF4-FFF2-40B4-BE49-F238E27FC236}">
                <a16:creationId xmlns:a16="http://schemas.microsoft.com/office/drawing/2014/main" id="{AFC34B5C-AE1A-894A-51E0-2B69D71A5240}"/>
              </a:ext>
            </a:extLst>
          </p:cNvPr>
          <p:cNvSpPr/>
          <p:nvPr/>
        </p:nvSpPr>
        <p:spPr>
          <a:xfrm>
            <a:off x="5442857" y="1787196"/>
            <a:ext cx="205991" cy="184109"/>
          </a:xfrm>
          <a:prstGeom prst="flowChartConnector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5AFE379F-169E-B662-55C6-BABB8244AB97}"/>
              </a:ext>
            </a:extLst>
          </p:cNvPr>
          <p:cNvCxnSpPr>
            <a:stCxn id="40" idx="5"/>
            <a:endCxn id="38" idx="1"/>
          </p:cNvCxnSpPr>
          <p:nvPr/>
        </p:nvCxnSpPr>
        <p:spPr>
          <a:xfrm>
            <a:off x="5460626" y="1297457"/>
            <a:ext cx="173589" cy="131899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7428859E-E04E-9B2C-9710-2F9EF58F4A2B}"/>
              </a:ext>
            </a:extLst>
          </p:cNvPr>
          <p:cNvCxnSpPr>
            <a:stCxn id="39" idx="3"/>
            <a:endCxn id="38" idx="7"/>
          </p:cNvCxnSpPr>
          <p:nvPr/>
        </p:nvCxnSpPr>
        <p:spPr>
          <a:xfrm flipH="1">
            <a:off x="5779872" y="1330103"/>
            <a:ext cx="184681" cy="99253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5758AD76-EA07-ABD3-FB47-83BD4558D1AD}"/>
              </a:ext>
            </a:extLst>
          </p:cNvPr>
          <p:cNvCxnSpPr>
            <a:stCxn id="38" idx="3"/>
            <a:endCxn id="41" idx="7"/>
          </p:cNvCxnSpPr>
          <p:nvPr/>
        </p:nvCxnSpPr>
        <p:spPr>
          <a:xfrm flipH="1">
            <a:off x="5618681" y="1559541"/>
            <a:ext cx="15534" cy="254617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0541C738-AC22-9AB7-95EA-103E57574BB1}"/>
              </a:ext>
            </a:extLst>
          </p:cNvPr>
          <p:cNvSpPr txBox="1"/>
          <p:nvPr/>
        </p:nvSpPr>
        <p:spPr>
          <a:xfrm>
            <a:off x="5068973" y="1902464"/>
            <a:ext cx="18187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neighbor_embedding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80B72A8A-2EB8-79CE-80B6-F6943835F750}"/>
              </a:ext>
            </a:extLst>
          </p:cNvPr>
          <p:cNvCxnSpPr>
            <a:cxnSpLocks/>
          </p:cNvCxnSpPr>
          <p:nvPr/>
        </p:nvCxnSpPr>
        <p:spPr>
          <a:xfrm flipV="1">
            <a:off x="6237094" y="1743660"/>
            <a:ext cx="1917140" cy="31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43DE7450-B3B0-D371-0D5A-1699E77107B2}"/>
              </a:ext>
            </a:extLst>
          </p:cNvPr>
          <p:cNvSpPr txBox="1"/>
          <p:nvPr/>
        </p:nvSpPr>
        <p:spPr>
          <a:xfrm>
            <a:off x="6168220" y="1448003"/>
            <a:ext cx="20548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num_atoms,hidden_channels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13437B62-1032-D97C-FBF8-D6986CCBF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115" y="3516799"/>
            <a:ext cx="533782" cy="533782"/>
          </a:xfrm>
          <a:prstGeom prst="rect">
            <a:avLst/>
          </a:prstGeom>
        </p:spPr>
      </p:pic>
      <p:sp>
        <p:nvSpPr>
          <p:cNvPr id="60" name="文本框 59">
            <a:extLst>
              <a:ext uri="{FF2B5EF4-FFF2-40B4-BE49-F238E27FC236}">
                <a16:creationId xmlns:a16="http://schemas.microsoft.com/office/drawing/2014/main" id="{034E9DD2-4683-0D30-D67A-43E5EFB76878}"/>
              </a:ext>
            </a:extLst>
          </p:cNvPr>
          <p:cNvSpPr txBox="1"/>
          <p:nvPr/>
        </p:nvSpPr>
        <p:spPr>
          <a:xfrm>
            <a:off x="5710830" y="3542731"/>
            <a:ext cx="2648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(num_edges, num_rbf + edge_attr_dim)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88F82890-D07C-4DEC-495B-B6DDA1978FAF}"/>
              </a:ext>
            </a:extLst>
          </p:cNvPr>
          <p:cNvSpPr/>
          <p:nvPr/>
        </p:nvSpPr>
        <p:spPr>
          <a:xfrm>
            <a:off x="8658956" y="1172956"/>
            <a:ext cx="4892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308783F6-D906-44C0-371E-079A654E92C9}"/>
              </a:ext>
            </a:extLst>
          </p:cNvPr>
          <p:cNvSpPr/>
          <p:nvPr/>
        </p:nvSpPr>
        <p:spPr>
          <a:xfrm>
            <a:off x="8214291" y="2331395"/>
            <a:ext cx="228780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node</a:t>
            </a:r>
            <a:r>
              <a:rPr lang="en-US" altLang="zh-CN" sz="4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_attr</a:t>
            </a:r>
            <a:endParaRPr lang="zh-CN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8F82890-D07C-4DEC-495B-B6DDA1978FAF}"/>
              </a:ext>
            </a:extLst>
          </p:cNvPr>
          <p:cNvSpPr/>
          <p:nvPr/>
        </p:nvSpPr>
        <p:spPr>
          <a:xfrm>
            <a:off x="8281032" y="3456828"/>
            <a:ext cx="247856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edge_attr</a:t>
            </a:r>
            <a:endParaRPr lang="zh-CN" alt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51050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0C370AE-C6B3-00DC-01C4-D543876DFE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2B2C33-2D81-ED71-2F56-500163848A95}"/>
              </a:ext>
            </a:extLst>
          </p:cNvPr>
          <p:cNvSpPr txBox="1"/>
          <p:nvPr/>
        </p:nvSpPr>
        <p:spPr>
          <a:xfrm>
            <a:off x="0" y="0"/>
            <a:ext cx="353701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EquivariantMultiHeadAttention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AC45B59-2E07-B674-84C5-886691443508}"/>
              </a:ext>
            </a:extLst>
          </p:cNvPr>
          <p:cNvCxnSpPr>
            <a:cxnSpLocks/>
          </p:cNvCxnSpPr>
          <p:nvPr/>
        </p:nvCxnSpPr>
        <p:spPr>
          <a:xfrm>
            <a:off x="0" y="307776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D63430A-52EE-7E4B-7C0F-4B02559EA79A}"/>
              </a:ext>
            </a:extLst>
          </p:cNvPr>
          <p:cNvSpPr txBox="1"/>
          <p:nvPr/>
        </p:nvSpPr>
        <p:spPr>
          <a:xfrm>
            <a:off x="-2" y="307776"/>
            <a:ext cx="12192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so3_equivariant  | 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distance_influence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| 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num_heads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| 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hidden_channels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|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head_dim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| 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layernorm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|  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node_attr_dim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| 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norm_coors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| 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coors_norm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|  act  | 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attn_activation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|  cutoff  |  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qk_norm</a:t>
            </a:r>
            <a:endParaRPr lang="en-US" altLang="zh-CN" sz="1000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5300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8FA0D6D8-5947-0604-BCF7-0512AA320EEA}"/>
              </a:ext>
            </a:extLst>
          </p:cNvPr>
          <p:cNvSpPr/>
          <p:nvPr/>
        </p:nvSpPr>
        <p:spPr>
          <a:xfrm>
            <a:off x="720725" y="384175"/>
            <a:ext cx="2701925" cy="143668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452C1E9-D1AC-1478-15C6-2E27E2D93E7B}"/>
              </a:ext>
            </a:extLst>
          </p:cNvPr>
          <p:cNvSpPr txBox="1"/>
          <p:nvPr/>
        </p:nvSpPr>
        <p:spPr>
          <a:xfrm>
            <a:off x="841375" y="226855"/>
            <a:ext cx="22145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BaseDataModule</a:t>
            </a:r>
            <a:r>
              <a:rPr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pl.LightningDataModule</a:t>
            </a:r>
            <a:r>
              <a:rPr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ED6744-4F0D-B784-B77A-F7D23254F49A}"/>
              </a:ext>
            </a:extLst>
          </p:cNvPr>
          <p:cNvSpPr/>
          <p:nvPr/>
        </p:nvSpPr>
        <p:spPr>
          <a:xfrm>
            <a:off x="865187" y="550861"/>
            <a:ext cx="2411413" cy="1149351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E633F4-2F17-C02C-C040-524989E01B01}"/>
              </a:ext>
            </a:extLst>
          </p:cNvPr>
          <p:cNvSpPr txBox="1"/>
          <p:nvPr/>
        </p:nvSpPr>
        <p:spPr>
          <a:xfrm>
            <a:off x="865187" y="383482"/>
            <a:ext cx="18272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DataLoader</a:t>
            </a:r>
            <a:r>
              <a:rPr lang="en-US" altLang="zh-CN" sz="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[train/</a:t>
            </a:r>
            <a:r>
              <a:rPr lang="en-US" altLang="zh-CN" sz="6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altLang="zh-CN" sz="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/test]</a:t>
            </a:r>
            <a:endParaRPr lang="zh-CN" altLang="en-US" sz="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EDAA877-9500-E500-DD44-158B48D9D139}"/>
              </a:ext>
            </a:extLst>
          </p:cNvPr>
          <p:cNvSpPr/>
          <p:nvPr/>
        </p:nvSpPr>
        <p:spPr>
          <a:xfrm>
            <a:off x="1495424" y="760510"/>
            <a:ext cx="977901" cy="66040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zh-CN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B20F639-3A40-29A6-6F95-947B3401B80B}"/>
              </a:ext>
            </a:extLst>
          </p:cNvPr>
          <p:cNvSpPr txBox="1"/>
          <p:nvPr/>
        </p:nvSpPr>
        <p:spPr>
          <a:xfrm>
            <a:off x="1444624" y="598507"/>
            <a:ext cx="10906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EuclideanDataset</a:t>
            </a:r>
            <a:r>
              <a:rPr lang="en-US" altLang="zh-CN" sz="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(Dataset)</a:t>
            </a:r>
            <a:endParaRPr lang="zh-CN" altLang="en-US" sz="600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B0F9BB5-63DA-8313-2634-A0D112D6D7A9}"/>
              </a:ext>
            </a:extLst>
          </p:cNvPr>
          <p:cNvSpPr txBox="1"/>
          <p:nvPr/>
        </p:nvSpPr>
        <p:spPr>
          <a:xfrm>
            <a:off x="1535112" y="1469379"/>
            <a:ext cx="938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lang="en-US" altLang="zh-CN" sz="600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self.dataloader_args</a:t>
            </a:r>
            <a:endParaRPr lang="en-US" altLang="zh-CN" sz="600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pic>
        <p:nvPicPr>
          <p:cNvPr id="14" name="图形 13" descr="文档 纯色填充">
            <a:extLst>
              <a:ext uri="{FF2B5EF4-FFF2-40B4-BE49-F238E27FC236}">
                <a16:creationId xmlns:a16="http://schemas.microsoft.com/office/drawing/2014/main" id="{EB2E209D-54BA-5A0C-5E94-807D6C522A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038" y="1000124"/>
            <a:ext cx="217113" cy="217113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5008009-81FD-2102-73DF-E96FF6195D4B}"/>
              </a:ext>
            </a:extLst>
          </p:cNvPr>
          <p:cNvSpPr txBox="1"/>
          <p:nvPr/>
        </p:nvSpPr>
        <p:spPr>
          <a:xfrm>
            <a:off x="1041400" y="1164062"/>
            <a:ext cx="6778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.pt</a:t>
            </a:r>
            <a:endParaRPr lang="zh-CN" altLang="en-US" sz="600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2EE42F6-F7FF-4C58-FC97-CA6265C93CFA}"/>
              </a:ext>
            </a:extLst>
          </p:cNvPr>
          <p:cNvCxnSpPr/>
          <p:nvPr/>
        </p:nvCxnSpPr>
        <p:spPr>
          <a:xfrm>
            <a:off x="1279151" y="1125536"/>
            <a:ext cx="1908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0A1302A-F978-7994-1CD2-61DAEE3F2819}"/>
              </a:ext>
            </a:extLst>
          </p:cNvPr>
          <p:cNvCxnSpPr/>
          <p:nvPr/>
        </p:nvCxnSpPr>
        <p:spPr>
          <a:xfrm>
            <a:off x="2498725" y="1136650"/>
            <a:ext cx="1936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ED659EF9-8B48-E7E4-31DB-E6AE2E75B505}"/>
              </a:ext>
            </a:extLst>
          </p:cNvPr>
          <p:cNvSpPr txBox="1"/>
          <p:nvPr/>
        </p:nvSpPr>
        <p:spPr>
          <a:xfrm>
            <a:off x="2554290" y="694017"/>
            <a:ext cx="1176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 (num_atoms,3)</a:t>
            </a:r>
          </a:p>
          <a:p>
            <a:r>
              <a:rPr lang="en-US" altLang="zh-CN" sz="400" b="1" i="1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atomic_numbers</a:t>
            </a:r>
            <a:r>
              <a:rPr lang="en-US" altLang="zh-CN" sz="4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b="1" i="1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num_atoms</a:t>
            </a:r>
            <a:r>
              <a:rPr lang="en-US" altLang="zh-CN" sz="4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4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smiles(str)</a:t>
            </a:r>
          </a:p>
          <a:p>
            <a:r>
              <a:rPr lang="en-US" altLang="zh-CN" sz="400" b="1" i="1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edge_index</a:t>
            </a:r>
            <a:r>
              <a:rPr lang="en-US" altLang="zh-CN" sz="4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(2,num_edges)</a:t>
            </a:r>
          </a:p>
          <a:p>
            <a:r>
              <a:rPr lang="en-US" altLang="zh-CN" sz="400" strike="sngStrike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400" strike="sngStrike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chirals</a:t>
            </a:r>
            <a:r>
              <a:rPr lang="en-US" altLang="zh-CN" sz="400" strike="sngStrike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r>
              <a:rPr lang="en-US" altLang="zh-CN" sz="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</a:p>
          <a:p>
            <a:r>
              <a:rPr lang="en-US" altLang="zh-CN" sz="400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node_attr</a:t>
            </a:r>
            <a:r>
              <a:rPr lang="en-US" altLang="zh-CN" sz="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num_atoms,node_attr_dim</a:t>
            </a:r>
            <a:r>
              <a:rPr lang="en-US" altLang="zh-CN" sz="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400" strike="sngStrike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edge_attr</a:t>
            </a:r>
            <a:r>
              <a:rPr lang="en-US" altLang="zh-CN" sz="400" strike="sngStrike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strike="sngStrike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num_edges,edge_attr_dim</a:t>
            </a:r>
            <a:r>
              <a:rPr lang="en-US" altLang="zh-CN" sz="400" strike="sngStrike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" strike="sngStrike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1F3CA1C-3423-8D06-A5FE-2954F1514589}"/>
              </a:ext>
            </a:extLst>
          </p:cNvPr>
          <p:cNvSpPr/>
          <p:nvPr/>
        </p:nvSpPr>
        <p:spPr>
          <a:xfrm>
            <a:off x="521051" y="2486434"/>
            <a:ext cx="8790305" cy="41772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DB5DDE2-6CD2-C0F4-7627-D21E4989E35D}"/>
              </a:ext>
            </a:extLst>
          </p:cNvPr>
          <p:cNvSpPr txBox="1"/>
          <p:nvPr/>
        </p:nvSpPr>
        <p:spPr>
          <a:xfrm>
            <a:off x="927099" y="2285918"/>
            <a:ext cx="29527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BaseFlow</a:t>
            </a:r>
            <a:r>
              <a:rPr lang="en-US" altLang="zh-CN" sz="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6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BaseModel</a:t>
            </a:r>
            <a:r>
              <a:rPr lang="en-US" altLang="zh-CN" sz="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6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LightningModule</a:t>
            </a:r>
            <a:r>
              <a:rPr lang="en-US" altLang="zh-CN" sz="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zh-CN" altLang="en-US" sz="6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FBE53D4-60F6-A256-7BA7-76C0263F48FF}"/>
              </a:ext>
            </a:extLst>
          </p:cNvPr>
          <p:cNvSpPr/>
          <p:nvPr/>
        </p:nvSpPr>
        <p:spPr>
          <a:xfrm>
            <a:off x="1349376" y="2551114"/>
            <a:ext cx="1343024" cy="15430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0" name="图形 29" descr="数据库 轮廓">
            <a:extLst>
              <a:ext uri="{FF2B5EF4-FFF2-40B4-BE49-F238E27FC236}">
                <a16:creationId xmlns:a16="http://schemas.microsoft.com/office/drawing/2014/main" id="{715F9E20-E6B8-ED4D-50E7-4DD8E5A816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051" y="3108676"/>
            <a:ext cx="540988" cy="540988"/>
          </a:xfrm>
          <a:prstGeom prst="rect">
            <a:avLst/>
          </a:prstGeom>
        </p:spPr>
      </p:pic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8226D0AB-CB54-875C-1E24-BBB1A819CCE4}"/>
              </a:ext>
            </a:extLst>
          </p:cNvPr>
          <p:cNvCxnSpPr/>
          <p:nvPr/>
        </p:nvCxnSpPr>
        <p:spPr>
          <a:xfrm>
            <a:off x="1028326" y="3351213"/>
            <a:ext cx="2508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56C4574-7443-2FF8-967A-E6EA87263FDA}"/>
              </a:ext>
            </a:extLst>
          </p:cNvPr>
          <p:cNvSpPr/>
          <p:nvPr/>
        </p:nvSpPr>
        <p:spPr>
          <a:xfrm>
            <a:off x="1535112" y="2671764"/>
            <a:ext cx="1000125" cy="24288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FC67A6D-4625-5F6F-5EC3-8B935019509A}"/>
              </a:ext>
            </a:extLst>
          </p:cNvPr>
          <p:cNvSpPr txBox="1"/>
          <p:nvPr/>
        </p:nvSpPr>
        <p:spPr>
          <a:xfrm>
            <a:off x="1535112" y="2658640"/>
            <a:ext cx="1130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z,           pos,        </a:t>
            </a:r>
            <a:r>
              <a:rPr lang="en-US" altLang="zh-CN" sz="6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bond_index</a:t>
            </a:r>
            <a:endParaRPr lang="en-US" altLang="zh-CN" sz="6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6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node_attr</a:t>
            </a:r>
            <a:r>
              <a:rPr lang="en-US" altLang="zh-CN" sz="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   </a:t>
            </a:r>
            <a:r>
              <a:rPr lang="en-US" altLang="zh-CN" sz="6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edge_attr,batch</a:t>
            </a:r>
            <a:endParaRPr lang="en-US" altLang="zh-CN" sz="6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6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5A3716E4-C413-1DC7-E728-0FD8284A6A16}"/>
              </a:ext>
            </a:extLst>
          </p:cNvPr>
          <p:cNvSpPr/>
          <p:nvPr/>
        </p:nvSpPr>
        <p:spPr>
          <a:xfrm>
            <a:off x="1535112" y="3477457"/>
            <a:ext cx="1000125" cy="49786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0A8EDA6-E880-4A3A-B667-0B5641425DC9}"/>
              </a:ext>
            </a:extLst>
          </p:cNvPr>
          <p:cNvSpPr txBox="1"/>
          <p:nvPr/>
        </p:nvSpPr>
        <p:spPr>
          <a:xfrm>
            <a:off x="1535112" y="3461304"/>
            <a:ext cx="788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600" baseline="-25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</a:p>
          <a:p>
            <a:r>
              <a:rPr lang="en-US" altLang="zh-CN" sz="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r>
              <a:rPr lang="en-US" altLang="zh-CN" sz="6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</a:t>
            </a:r>
            <a:endParaRPr lang="en-US" altLang="zh-CN" sz="6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6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u_t</a:t>
            </a:r>
            <a:endParaRPr lang="en-US" altLang="zh-CN" sz="6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600" baseline="-250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V_t</a:t>
            </a:r>
            <a:endParaRPr lang="zh-CN" altLang="en-US" sz="600" baseline="-250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44D62427-20FB-B866-F31E-C06B8563634F}"/>
              </a:ext>
            </a:extLst>
          </p:cNvPr>
          <p:cNvCxnSpPr/>
          <p:nvPr/>
        </p:nvCxnSpPr>
        <p:spPr>
          <a:xfrm>
            <a:off x="2783042" y="3343276"/>
            <a:ext cx="2508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A48AAB2A-4D26-7EED-C154-BD034AB72D6D}"/>
              </a:ext>
            </a:extLst>
          </p:cNvPr>
          <p:cNvSpPr txBox="1"/>
          <p:nvPr/>
        </p:nvSpPr>
        <p:spPr>
          <a:xfrm>
            <a:off x="2979737" y="3245860"/>
            <a:ext cx="10054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loss(</a:t>
            </a:r>
            <a:r>
              <a:rPr lang="en-US" altLang="zh-CN" sz="6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v_t,u_t</a:t>
            </a:r>
            <a:r>
              <a:rPr lang="en-US" altLang="zh-CN" sz="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AB8BDF5-BBF1-8553-EA57-BDCBE1FABA8C}"/>
              </a:ext>
            </a:extLst>
          </p:cNvPr>
          <p:cNvSpPr txBox="1"/>
          <p:nvPr/>
        </p:nvSpPr>
        <p:spPr>
          <a:xfrm>
            <a:off x="3788833" y="3252926"/>
            <a:ext cx="39264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smiles</a:t>
            </a:r>
            <a:endParaRPr lang="zh-CN" altLang="en-US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45F5DA8-45A9-C92A-B047-41A9B240D561}"/>
              </a:ext>
            </a:extLst>
          </p:cNvPr>
          <p:cNvSpPr/>
          <p:nvPr/>
        </p:nvSpPr>
        <p:spPr>
          <a:xfrm>
            <a:off x="4546601" y="2607734"/>
            <a:ext cx="2882900" cy="156845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3AAAB664-23C2-F1DD-FD29-8A3A330E7563}"/>
              </a:ext>
            </a:extLst>
          </p:cNvPr>
          <p:cNvCxnSpPr>
            <a:cxnSpLocks/>
          </p:cNvCxnSpPr>
          <p:nvPr/>
        </p:nvCxnSpPr>
        <p:spPr>
          <a:xfrm>
            <a:off x="4180232" y="3341689"/>
            <a:ext cx="230048" cy="1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15763132-4748-9A45-CDA0-58131573A958}"/>
              </a:ext>
            </a:extLst>
          </p:cNvPr>
          <p:cNvCxnSpPr>
            <a:cxnSpLocks/>
          </p:cNvCxnSpPr>
          <p:nvPr/>
        </p:nvCxnSpPr>
        <p:spPr>
          <a:xfrm>
            <a:off x="7598649" y="3351213"/>
            <a:ext cx="230048" cy="1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2A7AD21F-1AE5-4475-60F2-B7E15C1FD673}"/>
              </a:ext>
            </a:extLst>
          </p:cNvPr>
          <p:cNvSpPr txBox="1"/>
          <p:nvPr/>
        </p:nvSpPr>
        <p:spPr>
          <a:xfrm>
            <a:off x="7828697" y="3258880"/>
            <a:ext cx="10011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C7F60825-D704-03BE-263D-8F9BF37C2D87}"/>
              </a:ext>
            </a:extLst>
          </p:cNvPr>
          <p:cNvSpPr/>
          <p:nvPr/>
        </p:nvSpPr>
        <p:spPr>
          <a:xfrm>
            <a:off x="4632535" y="2658640"/>
            <a:ext cx="980017" cy="82170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8D5E31B-90D4-0783-08FA-59740C663162}"/>
              </a:ext>
            </a:extLst>
          </p:cNvPr>
          <p:cNvSpPr txBox="1"/>
          <p:nvPr/>
        </p:nvSpPr>
        <p:spPr>
          <a:xfrm>
            <a:off x="4632535" y="2607827"/>
            <a:ext cx="8911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max_batch_size</a:t>
            </a:r>
            <a:endParaRPr lang="en-US" altLang="zh-CN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num_samples</a:t>
            </a:r>
            <a:endParaRPr lang="en-US" altLang="zh-CN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n_timesteps</a:t>
            </a:r>
            <a:endParaRPr lang="en-US" altLang="zh-CN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</a:p>
          <a:p>
            <a:r>
              <a:rPr lang="en-US" altLang="zh-CN" sz="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s_churn</a:t>
            </a:r>
            <a:endParaRPr lang="en-US" altLang="zh-CN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t_min</a:t>
            </a:r>
            <a:endParaRPr lang="en-US" altLang="zh-CN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t_max</a:t>
            </a:r>
            <a:endParaRPr lang="en-US" altLang="zh-CN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</a:p>
          <a:p>
            <a:r>
              <a:rPr lang="en-US" altLang="zh-CN" sz="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sampler_type</a:t>
            </a:r>
            <a:endParaRPr lang="en-US" altLang="zh-CN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19E2F461-A52A-D722-B2B6-B8103CDAA219}"/>
              </a:ext>
            </a:extLst>
          </p:cNvPr>
          <p:cNvSpPr/>
          <p:nvPr/>
        </p:nvSpPr>
        <p:spPr>
          <a:xfrm>
            <a:off x="5763897" y="2661711"/>
            <a:ext cx="1039069" cy="82170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3E05998-00C8-8DE1-50A7-18D3E6444A8E}"/>
              </a:ext>
            </a:extLst>
          </p:cNvPr>
          <p:cNvSpPr txBox="1"/>
          <p:nvPr/>
        </p:nvSpPr>
        <p:spPr>
          <a:xfrm>
            <a:off x="5748873" y="2671764"/>
            <a:ext cx="7724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atomic_numbers</a:t>
            </a:r>
            <a:endParaRPr lang="en-US" altLang="zh-CN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smiles_changed</a:t>
            </a:r>
            <a:endParaRPr lang="en-US" altLang="zh-CN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edge_index</a:t>
            </a:r>
            <a:endParaRPr lang="en-US" altLang="zh-CN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chiral[]</a:t>
            </a:r>
            <a:br>
              <a:rPr lang="en-US" altLang="zh-CN" sz="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node_attr</a:t>
            </a:r>
            <a:br>
              <a:rPr lang="en-US" altLang="zh-CN" sz="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edge_attr</a:t>
            </a:r>
            <a:endParaRPr lang="en-US" altLang="zh-CN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63499B0-237E-71DC-D5AD-2169603B4260}"/>
              </a:ext>
            </a:extLst>
          </p:cNvPr>
          <p:cNvSpPr/>
          <p:nvPr/>
        </p:nvSpPr>
        <p:spPr>
          <a:xfrm>
            <a:off x="841376" y="4215968"/>
            <a:ext cx="8057092" cy="22721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DE0C0B-EA8F-AE22-8029-233F714BFB5F}"/>
              </a:ext>
            </a:extLst>
          </p:cNvPr>
          <p:cNvSpPr txBox="1"/>
          <p:nvPr/>
        </p:nvSpPr>
        <p:spPr>
          <a:xfrm>
            <a:off x="1140618" y="4969933"/>
            <a:ext cx="599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74593B7-8827-7765-191E-397737743856}"/>
              </a:ext>
            </a:extLst>
          </p:cNvPr>
          <p:cNvCxnSpPr/>
          <p:nvPr/>
        </p:nvCxnSpPr>
        <p:spPr>
          <a:xfrm>
            <a:off x="1246717" y="5062266"/>
            <a:ext cx="1979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AFA7408-35D3-5BE5-8C43-F5DCAFCD5659}"/>
              </a:ext>
            </a:extLst>
          </p:cNvPr>
          <p:cNvSpPr/>
          <p:nvPr/>
        </p:nvSpPr>
        <p:spPr>
          <a:xfrm>
            <a:off x="1499811" y="4838491"/>
            <a:ext cx="149755" cy="5101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451C62F-4AEA-FF9B-4227-0D8761FDA26A}"/>
              </a:ext>
            </a:extLst>
          </p:cNvPr>
          <p:cNvSpPr txBox="1"/>
          <p:nvPr/>
        </p:nvSpPr>
        <p:spPr>
          <a:xfrm>
            <a:off x="1444624" y="4866600"/>
            <a:ext cx="276999" cy="4642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EA08629-1ABF-A1D4-3B19-69769DE5DDF8}"/>
              </a:ext>
            </a:extLst>
          </p:cNvPr>
          <p:cNvCxnSpPr/>
          <p:nvPr/>
        </p:nvCxnSpPr>
        <p:spPr>
          <a:xfrm>
            <a:off x="1719262" y="5065699"/>
            <a:ext cx="1979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914CD888-E488-A34B-3947-BE8743D440C5}"/>
              </a:ext>
            </a:extLst>
          </p:cNvPr>
          <p:cNvSpPr txBox="1"/>
          <p:nvPr/>
        </p:nvSpPr>
        <p:spPr>
          <a:xfrm>
            <a:off x="1935702" y="4969933"/>
            <a:ext cx="599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14F8DC3-4798-202A-8E88-981D94D3F739}"/>
              </a:ext>
            </a:extLst>
          </p:cNvPr>
          <p:cNvSpPr txBox="1"/>
          <p:nvPr/>
        </p:nvSpPr>
        <p:spPr>
          <a:xfrm>
            <a:off x="945118" y="4919813"/>
            <a:ext cx="48097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num_atoms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107883A-572E-3F87-ADC4-16305450B411}"/>
              </a:ext>
            </a:extLst>
          </p:cNvPr>
          <p:cNvSpPr txBox="1"/>
          <p:nvPr/>
        </p:nvSpPr>
        <p:spPr>
          <a:xfrm>
            <a:off x="1632744" y="4917696"/>
            <a:ext cx="81840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num_atoms,hidden_channels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586D222-45EE-9B2C-FB09-B05BC4DFF9FB}"/>
              </a:ext>
            </a:extLst>
          </p:cNvPr>
          <p:cNvSpPr txBox="1"/>
          <p:nvPr/>
        </p:nvSpPr>
        <p:spPr>
          <a:xfrm>
            <a:off x="1140618" y="5683250"/>
            <a:ext cx="3294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A30EB5F-C557-5F98-1D58-6D6E1805C31E}"/>
              </a:ext>
            </a:extLst>
          </p:cNvPr>
          <p:cNvSpPr txBox="1"/>
          <p:nvPr/>
        </p:nvSpPr>
        <p:spPr>
          <a:xfrm>
            <a:off x="1059353" y="5923677"/>
            <a:ext cx="54848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edge_index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384D2859-A03F-F013-DBE5-C77309DBFAC7}"/>
              </a:ext>
            </a:extLst>
          </p:cNvPr>
          <p:cNvCxnSpPr/>
          <p:nvPr/>
        </p:nvCxnSpPr>
        <p:spPr>
          <a:xfrm>
            <a:off x="1590147" y="5876898"/>
            <a:ext cx="1979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8A4F09FF-A3D5-9672-8F3D-C2952C5BD485}"/>
              </a:ext>
            </a:extLst>
          </p:cNvPr>
          <p:cNvSpPr txBox="1"/>
          <p:nvPr/>
        </p:nvSpPr>
        <p:spPr>
          <a:xfrm>
            <a:off x="1038224" y="5624087"/>
            <a:ext cx="48097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(num_atoms,3)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5F6D120-60E2-DB3A-0FB2-7C26F8AC62E7}"/>
              </a:ext>
            </a:extLst>
          </p:cNvPr>
          <p:cNvSpPr txBox="1"/>
          <p:nvPr/>
        </p:nvSpPr>
        <p:spPr>
          <a:xfrm>
            <a:off x="1040738" y="5876898"/>
            <a:ext cx="196029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(2,num_edges)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5E716808-8CA9-970A-752A-E015C187C3C9}"/>
              </a:ext>
            </a:extLst>
          </p:cNvPr>
          <p:cNvSpPr/>
          <p:nvPr/>
        </p:nvSpPr>
        <p:spPr>
          <a:xfrm>
            <a:off x="3009893" y="5623270"/>
            <a:ext cx="156129" cy="67523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7E3B4B0-E747-FB03-32D1-5B8C95FC8F3E}"/>
              </a:ext>
            </a:extLst>
          </p:cNvPr>
          <p:cNvSpPr txBox="1"/>
          <p:nvPr/>
        </p:nvSpPr>
        <p:spPr>
          <a:xfrm>
            <a:off x="2302860" y="5776223"/>
            <a:ext cx="67323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edge_weight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BFE1665-07C7-721D-A82E-638A71D3ADC4}"/>
              </a:ext>
            </a:extLst>
          </p:cNvPr>
          <p:cNvSpPr txBox="1"/>
          <p:nvPr/>
        </p:nvSpPr>
        <p:spPr>
          <a:xfrm>
            <a:off x="2364526" y="5728895"/>
            <a:ext cx="48097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num_edges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CF6E5507-777D-05A1-FA78-3332676F56C6}"/>
              </a:ext>
            </a:extLst>
          </p:cNvPr>
          <p:cNvCxnSpPr/>
          <p:nvPr/>
        </p:nvCxnSpPr>
        <p:spPr>
          <a:xfrm>
            <a:off x="2809500" y="5878357"/>
            <a:ext cx="1979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074A6AE7-B74C-0067-8FD7-1C2A8C7907B0}"/>
              </a:ext>
            </a:extLst>
          </p:cNvPr>
          <p:cNvSpPr txBox="1"/>
          <p:nvPr/>
        </p:nvSpPr>
        <p:spPr>
          <a:xfrm>
            <a:off x="2942015" y="5620833"/>
            <a:ext cx="276999" cy="7587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distance_expansion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D71AEE16-4C5D-8F6D-6E48-321E225E4D0D}"/>
              </a:ext>
            </a:extLst>
          </p:cNvPr>
          <p:cNvCxnSpPr/>
          <p:nvPr/>
        </p:nvCxnSpPr>
        <p:spPr>
          <a:xfrm>
            <a:off x="3219014" y="5883310"/>
            <a:ext cx="1979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71EF7315-E9FD-7215-4C6C-0F9AE6A4E602}"/>
              </a:ext>
            </a:extLst>
          </p:cNvPr>
          <p:cNvSpPr txBox="1"/>
          <p:nvPr/>
        </p:nvSpPr>
        <p:spPr>
          <a:xfrm>
            <a:off x="3392012" y="5784565"/>
            <a:ext cx="49635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edge_attr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10A03F8-107E-DD31-10B1-2363443F3D17}"/>
              </a:ext>
            </a:extLst>
          </p:cNvPr>
          <p:cNvSpPr txBox="1"/>
          <p:nvPr/>
        </p:nvSpPr>
        <p:spPr>
          <a:xfrm>
            <a:off x="3316465" y="5729422"/>
            <a:ext cx="82814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num_edges,num_rbf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7D761FC-28DC-6A1D-4118-0339803FBF80}"/>
              </a:ext>
            </a:extLst>
          </p:cNvPr>
          <p:cNvSpPr txBox="1"/>
          <p:nvPr/>
        </p:nvSpPr>
        <p:spPr>
          <a:xfrm>
            <a:off x="1729937" y="5772456"/>
            <a:ext cx="85565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edge_vec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7CFB9D55-045F-1231-8941-848DB2B9DCB3}"/>
              </a:ext>
            </a:extLst>
          </p:cNvPr>
          <p:cNvSpPr txBox="1"/>
          <p:nvPr/>
        </p:nvSpPr>
        <p:spPr>
          <a:xfrm>
            <a:off x="1718560" y="5717126"/>
            <a:ext cx="51843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(num_edges,3)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1B350C25-0828-DC57-B59E-B8B32A179E19}"/>
              </a:ext>
            </a:extLst>
          </p:cNvPr>
          <p:cNvCxnSpPr/>
          <p:nvPr/>
        </p:nvCxnSpPr>
        <p:spPr>
          <a:xfrm>
            <a:off x="2157763" y="5878357"/>
            <a:ext cx="1979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A124A559-0DE0-DC22-3F99-11C4FEF0A0F1}"/>
              </a:ext>
            </a:extLst>
          </p:cNvPr>
          <p:cNvCxnSpPr>
            <a:stCxn id="60" idx="0"/>
          </p:cNvCxnSpPr>
          <p:nvPr/>
        </p:nvCxnSpPr>
        <p:spPr>
          <a:xfrm rot="5400000" flipH="1" flipV="1">
            <a:off x="1987789" y="5467922"/>
            <a:ext cx="239193" cy="259217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C866E8BA-35B6-5594-2BF4-CA11DD5F82AD}"/>
              </a:ext>
            </a:extLst>
          </p:cNvPr>
          <p:cNvSpPr txBox="1"/>
          <p:nvPr/>
        </p:nvSpPr>
        <p:spPr>
          <a:xfrm>
            <a:off x="1899811" y="5311365"/>
            <a:ext cx="110122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mask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98A9388-30AD-A53C-CC0A-22578A684DA8}"/>
              </a:ext>
            </a:extLst>
          </p:cNvPr>
          <p:cNvSpPr txBox="1"/>
          <p:nvPr/>
        </p:nvSpPr>
        <p:spPr>
          <a:xfrm>
            <a:off x="1880508" y="5268948"/>
            <a:ext cx="569916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num_edges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9518D00D-C92E-3918-230C-899AF0195D14}"/>
              </a:ext>
            </a:extLst>
          </p:cNvPr>
          <p:cNvSpPr txBox="1"/>
          <p:nvPr/>
        </p:nvSpPr>
        <p:spPr>
          <a:xfrm>
            <a:off x="1917169" y="5564929"/>
            <a:ext cx="92172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masked_edge_weight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B80ACB8A-4631-AC2D-B6BF-B947D7E35F2B}"/>
              </a:ext>
            </a:extLst>
          </p:cNvPr>
          <p:cNvSpPr txBox="1"/>
          <p:nvPr/>
        </p:nvSpPr>
        <p:spPr>
          <a:xfrm>
            <a:off x="2051840" y="5524670"/>
            <a:ext cx="73860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(num_edges,1)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996AB152-8611-0D07-9795-69ED896F93EC}"/>
              </a:ext>
            </a:extLst>
          </p:cNvPr>
          <p:cNvSpPr txBox="1"/>
          <p:nvPr/>
        </p:nvSpPr>
        <p:spPr>
          <a:xfrm>
            <a:off x="2221207" y="5389648"/>
            <a:ext cx="85565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edge_vec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81C75D3-AC00-F411-079E-005A057496A6}"/>
              </a:ext>
            </a:extLst>
          </p:cNvPr>
          <p:cNvSpPr txBox="1"/>
          <p:nvPr/>
        </p:nvSpPr>
        <p:spPr>
          <a:xfrm>
            <a:off x="2221207" y="5346667"/>
            <a:ext cx="51843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(num_edges,3)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8D74BC3-23B2-7259-A131-E64BCB8F41AF}"/>
              </a:ext>
            </a:extLst>
          </p:cNvPr>
          <p:cNvSpPr txBox="1"/>
          <p:nvPr/>
        </p:nvSpPr>
        <p:spPr>
          <a:xfrm>
            <a:off x="1780646" y="4575034"/>
            <a:ext cx="48097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num_atoms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4CBCE22-37A9-BC97-75B4-53E685EECE9E}"/>
              </a:ext>
            </a:extLst>
          </p:cNvPr>
          <p:cNvSpPr txBox="1"/>
          <p:nvPr/>
        </p:nvSpPr>
        <p:spPr>
          <a:xfrm>
            <a:off x="1963978" y="4613032"/>
            <a:ext cx="599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65711C66-F9FF-4DD0-3044-D134FAB57BD8}"/>
              </a:ext>
            </a:extLst>
          </p:cNvPr>
          <p:cNvSpPr txBox="1"/>
          <p:nvPr/>
        </p:nvSpPr>
        <p:spPr>
          <a:xfrm>
            <a:off x="1767705" y="4738363"/>
            <a:ext cx="54848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edge_index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F337B54-E9C6-9F2E-70F1-F3292CDC9EED}"/>
              </a:ext>
            </a:extLst>
          </p:cNvPr>
          <p:cNvSpPr txBox="1"/>
          <p:nvPr/>
        </p:nvSpPr>
        <p:spPr>
          <a:xfrm>
            <a:off x="1770239" y="4698497"/>
            <a:ext cx="196029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(2,num_edges)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CFF6E046-F695-43BE-C59F-695CB69F1022}"/>
              </a:ext>
            </a:extLst>
          </p:cNvPr>
          <p:cNvCxnSpPr>
            <a:cxnSpLocks/>
          </p:cNvCxnSpPr>
          <p:nvPr/>
        </p:nvCxnSpPr>
        <p:spPr>
          <a:xfrm>
            <a:off x="2381470" y="5066550"/>
            <a:ext cx="1655013" cy="50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752ECEB5-EEA0-4E1B-D3EA-5A293C4C6EB7}"/>
              </a:ext>
            </a:extLst>
          </p:cNvPr>
          <p:cNvCxnSpPr>
            <a:cxnSpLocks/>
          </p:cNvCxnSpPr>
          <p:nvPr/>
        </p:nvCxnSpPr>
        <p:spPr>
          <a:xfrm flipV="1">
            <a:off x="2845500" y="5071584"/>
            <a:ext cx="0" cy="8117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EC441FE8-9DAF-8A30-6903-FE8465C57957}"/>
              </a:ext>
            </a:extLst>
          </p:cNvPr>
          <p:cNvCxnSpPr/>
          <p:nvPr/>
        </p:nvCxnSpPr>
        <p:spPr>
          <a:xfrm flipH="1" flipV="1">
            <a:off x="3575050" y="5069067"/>
            <a:ext cx="14817" cy="6805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28DF92A5-0DCB-A998-03E6-D035D401A4F3}"/>
              </a:ext>
            </a:extLst>
          </p:cNvPr>
          <p:cNvSpPr/>
          <p:nvPr/>
        </p:nvSpPr>
        <p:spPr>
          <a:xfrm>
            <a:off x="4035240" y="4759571"/>
            <a:ext cx="139734" cy="70421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6330EC88-F522-6B9D-E26F-C306A4487901}"/>
              </a:ext>
            </a:extLst>
          </p:cNvPr>
          <p:cNvSpPr txBox="1"/>
          <p:nvPr/>
        </p:nvSpPr>
        <p:spPr>
          <a:xfrm>
            <a:off x="3956813" y="4745909"/>
            <a:ext cx="276999" cy="73153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NeighborEmbedding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9658FAE4-6705-3BBF-C8CA-676A4CF32E7B}"/>
              </a:ext>
            </a:extLst>
          </p:cNvPr>
          <p:cNvSpPr txBox="1"/>
          <p:nvPr/>
        </p:nvSpPr>
        <p:spPr>
          <a:xfrm>
            <a:off x="4632535" y="4976734"/>
            <a:ext cx="599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75BF219-F411-7E53-2E81-623CA5E338FB}"/>
              </a:ext>
            </a:extLst>
          </p:cNvPr>
          <p:cNvSpPr txBox="1"/>
          <p:nvPr/>
        </p:nvSpPr>
        <p:spPr>
          <a:xfrm>
            <a:off x="4312239" y="4921150"/>
            <a:ext cx="81840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num_atoms,hidden_channels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DA7FC5D3-DB5F-3530-530C-E1801D5DFCC0}"/>
              </a:ext>
            </a:extLst>
          </p:cNvPr>
          <p:cNvCxnSpPr/>
          <p:nvPr/>
        </p:nvCxnSpPr>
        <p:spPr>
          <a:xfrm>
            <a:off x="4196302" y="5062266"/>
            <a:ext cx="1979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3A31F736-AF1D-CF25-026E-288168C45C1B}"/>
              </a:ext>
            </a:extLst>
          </p:cNvPr>
          <p:cNvSpPr txBox="1"/>
          <p:nvPr/>
        </p:nvSpPr>
        <p:spPr>
          <a:xfrm>
            <a:off x="4537633" y="5569088"/>
            <a:ext cx="3097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AD5503FC-0980-3C88-0996-7EC18E9BD800}"/>
              </a:ext>
            </a:extLst>
          </p:cNvPr>
          <p:cNvSpPr txBox="1"/>
          <p:nvPr/>
        </p:nvSpPr>
        <p:spPr>
          <a:xfrm>
            <a:off x="4319416" y="5482726"/>
            <a:ext cx="84449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(num_atoms,3,hidden_channels)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0B79CF2F-C911-D32E-EDD6-FA967C90211C}"/>
              </a:ext>
            </a:extLst>
          </p:cNvPr>
          <p:cNvSpPr txBox="1"/>
          <p:nvPr/>
        </p:nvSpPr>
        <p:spPr>
          <a:xfrm>
            <a:off x="4418243" y="5231194"/>
            <a:ext cx="54848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edge_index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A1EB8431-B75A-0C29-EF83-14ADB91D1224}"/>
              </a:ext>
            </a:extLst>
          </p:cNvPr>
          <p:cNvSpPr txBox="1"/>
          <p:nvPr/>
        </p:nvSpPr>
        <p:spPr>
          <a:xfrm>
            <a:off x="4473048" y="5160711"/>
            <a:ext cx="196029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(2,num_edges)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FB439FFE-776B-7733-E1B5-F8976B241FFD}"/>
              </a:ext>
            </a:extLst>
          </p:cNvPr>
          <p:cNvSpPr txBox="1"/>
          <p:nvPr/>
        </p:nvSpPr>
        <p:spPr>
          <a:xfrm>
            <a:off x="4410280" y="6069109"/>
            <a:ext cx="67323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edge_weight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94932719-EE9C-F3B5-4AA7-995F1B8AB947}"/>
              </a:ext>
            </a:extLst>
          </p:cNvPr>
          <p:cNvSpPr txBox="1"/>
          <p:nvPr/>
        </p:nvSpPr>
        <p:spPr>
          <a:xfrm>
            <a:off x="4465391" y="6000232"/>
            <a:ext cx="48097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num_edges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E7E7ED9B-B067-733A-90B9-FFBF0D9E5C98}"/>
              </a:ext>
            </a:extLst>
          </p:cNvPr>
          <p:cNvSpPr txBox="1"/>
          <p:nvPr/>
        </p:nvSpPr>
        <p:spPr>
          <a:xfrm>
            <a:off x="4427705" y="5763023"/>
            <a:ext cx="51843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(num_edges,3)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19FE18A7-7305-029D-5FD4-2FD1B718174D}"/>
              </a:ext>
            </a:extLst>
          </p:cNvPr>
          <p:cNvSpPr txBox="1"/>
          <p:nvPr/>
        </p:nvSpPr>
        <p:spPr>
          <a:xfrm>
            <a:off x="4442096" y="5807859"/>
            <a:ext cx="85565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edge_vec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47233DA4-7803-69A7-3910-A473659C8EDF}"/>
              </a:ext>
            </a:extLst>
          </p:cNvPr>
          <p:cNvSpPr txBox="1"/>
          <p:nvPr/>
        </p:nvSpPr>
        <p:spPr>
          <a:xfrm>
            <a:off x="4487387" y="6319553"/>
            <a:ext cx="49635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edge_attr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C42B1FFA-5B9D-A21A-E091-A81BFA7A7ED0}"/>
              </a:ext>
            </a:extLst>
          </p:cNvPr>
          <p:cNvSpPr txBox="1"/>
          <p:nvPr/>
        </p:nvSpPr>
        <p:spPr>
          <a:xfrm>
            <a:off x="4373740" y="6262110"/>
            <a:ext cx="82814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num_edges,num_rbf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635CA446-15E8-B0BC-4CC5-6115B73DCD99}"/>
              </a:ext>
            </a:extLst>
          </p:cNvPr>
          <p:cNvSpPr txBox="1"/>
          <p:nvPr/>
        </p:nvSpPr>
        <p:spPr>
          <a:xfrm>
            <a:off x="4612569" y="4763940"/>
            <a:ext cx="936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D6FE8D81-7503-CF3C-288D-44F60AF9DCF9}"/>
              </a:ext>
            </a:extLst>
          </p:cNvPr>
          <p:cNvGrpSpPr/>
          <p:nvPr/>
        </p:nvGrpSpPr>
        <p:grpSpPr>
          <a:xfrm>
            <a:off x="5082939" y="4927494"/>
            <a:ext cx="553998" cy="1169508"/>
            <a:chOff x="5246652" y="4799723"/>
            <a:chExt cx="553998" cy="1169508"/>
          </a:xfrm>
        </p:grpSpPr>
        <p:sp>
          <p:nvSpPr>
            <p:cNvPr id="101" name="矩形: 圆角 100">
              <a:extLst>
                <a:ext uri="{FF2B5EF4-FFF2-40B4-BE49-F238E27FC236}">
                  <a16:creationId xmlns:a16="http://schemas.microsoft.com/office/drawing/2014/main" id="{0FC1012F-AB47-54FD-79A7-255F3992F412}"/>
                </a:ext>
              </a:extLst>
            </p:cNvPr>
            <p:cNvSpPr/>
            <p:nvPr/>
          </p:nvSpPr>
          <p:spPr>
            <a:xfrm>
              <a:off x="5556611" y="4799723"/>
              <a:ext cx="187325" cy="1137527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365D5DB5-2D58-D130-3CE0-E6DD1799649A}"/>
                </a:ext>
              </a:extLst>
            </p:cNvPr>
            <p:cNvSpPr txBox="1"/>
            <p:nvPr/>
          </p:nvSpPr>
          <p:spPr>
            <a:xfrm>
              <a:off x="5246652" y="4857241"/>
              <a:ext cx="553998" cy="111199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6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EquivariantMultiHeadAttention</a:t>
              </a:r>
              <a:endPara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zh-CN" altLang="en-US" dirty="0"/>
            </a:p>
          </p:txBody>
        </p:sp>
      </p:grpSp>
      <p:sp>
        <p:nvSpPr>
          <p:cNvPr id="129" name="文本框 128">
            <a:extLst>
              <a:ext uri="{FF2B5EF4-FFF2-40B4-BE49-F238E27FC236}">
                <a16:creationId xmlns:a16="http://schemas.microsoft.com/office/drawing/2014/main" id="{BF53464D-C162-332C-A1A1-9B453B0F0CE3}"/>
              </a:ext>
            </a:extLst>
          </p:cNvPr>
          <p:cNvSpPr txBox="1"/>
          <p:nvPr/>
        </p:nvSpPr>
        <p:spPr>
          <a:xfrm>
            <a:off x="5527310" y="5325652"/>
            <a:ext cx="34712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*8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右大括号 129">
            <a:extLst>
              <a:ext uri="{FF2B5EF4-FFF2-40B4-BE49-F238E27FC236}">
                <a16:creationId xmlns:a16="http://schemas.microsoft.com/office/drawing/2014/main" id="{BED8A642-7446-EDD7-CB57-D7989821272E}"/>
              </a:ext>
            </a:extLst>
          </p:cNvPr>
          <p:cNvSpPr/>
          <p:nvPr/>
        </p:nvSpPr>
        <p:spPr>
          <a:xfrm>
            <a:off x="5077055" y="4778943"/>
            <a:ext cx="45719" cy="1590742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509D547B-15D2-B38F-3858-F6AAD2996C9B}"/>
              </a:ext>
            </a:extLst>
          </p:cNvPr>
          <p:cNvCxnSpPr>
            <a:cxnSpLocks/>
          </p:cNvCxnSpPr>
          <p:nvPr/>
        </p:nvCxnSpPr>
        <p:spPr>
          <a:xfrm>
            <a:off x="5122543" y="5574314"/>
            <a:ext cx="2178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文本框 132">
            <a:extLst>
              <a:ext uri="{FF2B5EF4-FFF2-40B4-BE49-F238E27FC236}">
                <a16:creationId xmlns:a16="http://schemas.microsoft.com/office/drawing/2014/main" id="{3F1B5549-6030-A7F4-E7B1-B749CA40BF26}"/>
              </a:ext>
            </a:extLst>
          </p:cNvPr>
          <p:cNvSpPr txBox="1"/>
          <p:nvPr/>
        </p:nvSpPr>
        <p:spPr>
          <a:xfrm>
            <a:off x="6267837" y="5309896"/>
            <a:ext cx="81840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num_atoms,hidden_channels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960C3ED9-9E6D-5F06-C2D4-8684C573CFAC}"/>
              </a:ext>
            </a:extLst>
          </p:cNvPr>
          <p:cNvSpPr txBox="1"/>
          <p:nvPr/>
        </p:nvSpPr>
        <p:spPr>
          <a:xfrm>
            <a:off x="6594699" y="5371451"/>
            <a:ext cx="599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5F6DCE74-DEFD-1A87-E54A-768D9D400EBA}"/>
              </a:ext>
            </a:extLst>
          </p:cNvPr>
          <p:cNvSpPr txBox="1"/>
          <p:nvPr/>
        </p:nvSpPr>
        <p:spPr>
          <a:xfrm>
            <a:off x="6494808" y="5621173"/>
            <a:ext cx="3097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7423F8C3-CEDB-B2E0-4103-C08CC134F16A}"/>
              </a:ext>
            </a:extLst>
          </p:cNvPr>
          <p:cNvSpPr txBox="1"/>
          <p:nvPr/>
        </p:nvSpPr>
        <p:spPr>
          <a:xfrm>
            <a:off x="6269898" y="5543889"/>
            <a:ext cx="84449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(num_atoms,3,hidden_channels)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0D2A1F3E-ED7F-4A7F-D3BC-24E1CB3D0804}"/>
              </a:ext>
            </a:extLst>
          </p:cNvPr>
          <p:cNvSpPr txBox="1"/>
          <p:nvPr/>
        </p:nvSpPr>
        <p:spPr>
          <a:xfrm>
            <a:off x="6446951" y="5769789"/>
            <a:ext cx="48097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num_atoms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8E2D1D53-C018-04E1-1D7F-22E16159F2BE}"/>
              </a:ext>
            </a:extLst>
          </p:cNvPr>
          <p:cNvSpPr txBox="1"/>
          <p:nvPr/>
        </p:nvSpPr>
        <p:spPr>
          <a:xfrm>
            <a:off x="6619685" y="5809755"/>
            <a:ext cx="599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F69CCA7F-0030-1AE2-6B6C-4A2CD220D3CA}"/>
              </a:ext>
            </a:extLst>
          </p:cNvPr>
          <p:cNvSpPr txBox="1"/>
          <p:nvPr/>
        </p:nvSpPr>
        <p:spPr>
          <a:xfrm>
            <a:off x="6521352" y="6000232"/>
            <a:ext cx="3294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106EE0D5-8ACE-3A85-F4FF-54129B86BD73}"/>
              </a:ext>
            </a:extLst>
          </p:cNvPr>
          <p:cNvSpPr txBox="1"/>
          <p:nvPr/>
        </p:nvSpPr>
        <p:spPr>
          <a:xfrm>
            <a:off x="6432054" y="5939066"/>
            <a:ext cx="48097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(num_atoms,3)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4C18DF1D-0567-A4E2-740B-DD9C0E28AEEB}"/>
              </a:ext>
            </a:extLst>
          </p:cNvPr>
          <p:cNvSpPr txBox="1"/>
          <p:nvPr/>
        </p:nvSpPr>
        <p:spPr>
          <a:xfrm>
            <a:off x="6521352" y="6206174"/>
            <a:ext cx="47396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E1800C64-4155-C48E-7CA0-59F5D325C67D}"/>
              </a:ext>
            </a:extLst>
          </p:cNvPr>
          <p:cNvCxnSpPr>
            <a:cxnSpLocks/>
          </p:cNvCxnSpPr>
          <p:nvPr/>
        </p:nvCxnSpPr>
        <p:spPr>
          <a:xfrm flipV="1">
            <a:off x="5704627" y="5560078"/>
            <a:ext cx="145998" cy="48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F00DB337-8AC0-42D2-0017-AAE4358A96CC}"/>
              </a:ext>
            </a:extLst>
          </p:cNvPr>
          <p:cNvCxnSpPr/>
          <p:nvPr/>
        </p:nvCxnSpPr>
        <p:spPr>
          <a:xfrm flipV="1">
            <a:off x="4662510" y="4592638"/>
            <a:ext cx="0" cy="16693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3165CFB8-F422-20E4-A79C-8E75A932DA5D}"/>
              </a:ext>
            </a:extLst>
          </p:cNvPr>
          <p:cNvCxnSpPr>
            <a:cxnSpLocks/>
          </p:cNvCxnSpPr>
          <p:nvPr/>
        </p:nvCxnSpPr>
        <p:spPr>
          <a:xfrm>
            <a:off x="4662510" y="4598831"/>
            <a:ext cx="128500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EC64361A-E87A-7DDF-6DD4-869C348BF72D}"/>
              </a:ext>
            </a:extLst>
          </p:cNvPr>
          <p:cNvCxnSpPr>
            <a:cxnSpLocks/>
          </p:cNvCxnSpPr>
          <p:nvPr/>
        </p:nvCxnSpPr>
        <p:spPr>
          <a:xfrm>
            <a:off x="5945188" y="4599524"/>
            <a:ext cx="15875" cy="8233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椭圆 157">
            <a:extLst>
              <a:ext uri="{FF2B5EF4-FFF2-40B4-BE49-F238E27FC236}">
                <a16:creationId xmlns:a16="http://schemas.microsoft.com/office/drawing/2014/main" id="{E74DF0C5-DC5E-6F10-8CC1-3F19AA6F42C5}"/>
              </a:ext>
            </a:extLst>
          </p:cNvPr>
          <p:cNvSpPr/>
          <p:nvPr/>
        </p:nvSpPr>
        <p:spPr>
          <a:xfrm>
            <a:off x="5229225" y="4533901"/>
            <a:ext cx="130175" cy="1301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A0D8D7AA-B6FC-0943-D257-09B18362E83D}"/>
              </a:ext>
            </a:extLst>
          </p:cNvPr>
          <p:cNvCxnSpPr>
            <a:stCxn id="158" idx="0"/>
          </p:cNvCxnSpPr>
          <p:nvPr/>
        </p:nvCxnSpPr>
        <p:spPr>
          <a:xfrm>
            <a:off x="5294313" y="4533901"/>
            <a:ext cx="1587" cy="13969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DD1CAABB-D133-E223-9940-FBA84300678C}"/>
              </a:ext>
            </a:extLst>
          </p:cNvPr>
          <p:cNvSpPr txBox="1"/>
          <p:nvPr/>
        </p:nvSpPr>
        <p:spPr>
          <a:xfrm>
            <a:off x="5821999" y="5459030"/>
            <a:ext cx="332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dx</a:t>
            </a:r>
          </a:p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dvec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6AE672FD-F012-0F86-54A2-B78123584D9C}"/>
              </a:ext>
            </a:extLst>
          </p:cNvPr>
          <p:cNvCxnSpPr/>
          <p:nvPr/>
        </p:nvCxnSpPr>
        <p:spPr>
          <a:xfrm>
            <a:off x="5962650" y="5403698"/>
            <a:ext cx="0" cy="398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FDE20666-6CDC-D88C-49A5-60BAA7440DB7}"/>
              </a:ext>
            </a:extLst>
          </p:cNvPr>
          <p:cNvCxnSpPr>
            <a:cxnSpLocks/>
          </p:cNvCxnSpPr>
          <p:nvPr/>
        </p:nvCxnSpPr>
        <p:spPr>
          <a:xfrm flipV="1">
            <a:off x="6135112" y="5562204"/>
            <a:ext cx="145998" cy="48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5C9444AA-5BE1-AF51-FC9B-E499E7CADBA6}"/>
              </a:ext>
            </a:extLst>
          </p:cNvPr>
          <p:cNvCxnSpPr/>
          <p:nvPr/>
        </p:nvCxnSpPr>
        <p:spPr>
          <a:xfrm>
            <a:off x="7019925" y="5541963"/>
            <a:ext cx="3079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矩形: 圆角 167">
            <a:extLst>
              <a:ext uri="{FF2B5EF4-FFF2-40B4-BE49-F238E27FC236}">
                <a16:creationId xmlns:a16="http://schemas.microsoft.com/office/drawing/2014/main" id="{E37A832E-417C-6C90-4950-2D9EC9581B2D}"/>
              </a:ext>
            </a:extLst>
          </p:cNvPr>
          <p:cNvSpPr/>
          <p:nvPr/>
        </p:nvSpPr>
        <p:spPr>
          <a:xfrm>
            <a:off x="1038224" y="4411133"/>
            <a:ext cx="5976409" cy="206269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BE227EFE-DECE-E78F-9344-870CFBADAFA3}"/>
              </a:ext>
            </a:extLst>
          </p:cNvPr>
          <p:cNvSpPr txBox="1"/>
          <p:nvPr/>
        </p:nvSpPr>
        <p:spPr>
          <a:xfrm>
            <a:off x="1185604" y="4239700"/>
            <a:ext cx="9368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representation_model</a:t>
            </a:r>
            <a:endParaRPr lang="en-US" altLang="zh-C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/>
          </a:p>
        </p:txBody>
      </p:sp>
      <p:sp>
        <p:nvSpPr>
          <p:cNvPr id="170" name="矩形: 圆角 169">
            <a:extLst>
              <a:ext uri="{FF2B5EF4-FFF2-40B4-BE49-F238E27FC236}">
                <a16:creationId xmlns:a16="http://schemas.microsoft.com/office/drawing/2014/main" id="{D6C22FDC-306C-61EB-FFCE-6515D7BF6311}"/>
              </a:ext>
            </a:extLst>
          </p:cNvPr>
          <p:cNvSpPr/>
          <p:nvPr/>
        </p:nvSpPr>
        <p:spPr>
          <a:xfrm>
            <a:off x="7361237" y="4387850"/>
            <a:ext cx="611188" cy="203517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391BE9E6-E9C8-6B02-5E60-E2988824E423}"/>
              </a:ext>
            </a:extLst>
          </p:cNvPr>
          <p:cNvSpPr txBox="1"/>
          <p:nvPr/>
        </p:nvSpPr>
        <p:spPr>
          <a:xfrm>
            <a:off x="7289800" y="4192184"/>
            <a:ext cx="787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output_model</a:t>
            </a:r>
            <a:endParaRPr lang="en-US" altLang="zh-CN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3623B703-F329-DE35-661D-0388E8DD9298}"/>
              </a:ext>
            </a:extLst>
          </p:cNvPr>
          <p:cNvSpPr txBox="1"/>
          <p:nvPr/>
        </p:nvSpPr>
        <p:spPr>
          <a:xfrm>
            <a:off x="7240407" y="4268517"/>
            <a:ext cx="170039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EquivariantVectorOutput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OutputModel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nn.Module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矩形: 圆角 172">
            <a:extLst>
              <a:ext uri="{FF2B5EF4-FFF2-40B4-BE49-F238E27FC236}">
                <a16:creationId xmlns:a16="http://schemas.microsoft.com/office/drawing/2014/main" id="{92FFAEAD-7AAA-0193-3CB0-D9E8834DAB30}"/>
              </a:ext>
            </a:extLst>
          </p:cNvPr>
          <p:cNvSpPr/>
          <p:nvPr/>
        </p:nvSpPr>
        <p:spPr>
          <a:xfrm>
            <a:off x="7429501" y="5069067"/>
            <a:ext cx="180122" cy="87442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6B0233DF-725B-EF3E-F66F-59D879A52CBE}"/>
              </a:ext>
            </a:extLst>
          </p:cNvPr>
          <p:cNvSpPr txBox="1"/>
          <p:nvPr/>
        </p:nvSpPr>
        <p:spPr>
          <a:xfrm>
            <a:off x="7119988" y="5115910"/>
            <a:ext cx="553998" cy="9627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GatedEquivariantBlock</a:t>
            </a:r>
            <a:endParaRPr lang="en-US" altLang="zh-CN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75" name="矩形: 圆角 174">
            <a:extLst>
              <a:ext uri="{FF2B5EF4-FFF2-40B4-BE49-F238E27FC236}">
                <a16:creationId xmlns:a16="http://schemas.microsoft.com/office/drawing/2014/main" id="{18B925B5-AAAC-4D19-8E7D-F1C5AA3D930E}"/>
              </a:ext>
            </a:extLst>
          </p:cNvPr>
          <p:cNvSpPr/>
          <p:nvPr/>
        </p:nvSpPr>
        <p:spPr>
          <a:xfrm>
            <a:off x="7676468" y="5069067"/>
            <a:ext cx="180122" cy="87442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9464C786-0FEE-C5EE-CABD-63CA6B772B63}"/>
              </a:ext>
            </a:extLst>
          </p:cNvPr>
          <p:cNvSpPr txBox="1"/>
          <p:nvPr/>
        </p:nvSpPr>
        <p:spPr>
          <a:xfrm>
            <a:off x="7358113" y="5113300"/>
            <a:ext cx="553998" cy="9627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GatedEquivariantBlock</a:t>
            </a:r>
            <a:endParaRPr lang="en-US" altLang="zh-CN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C1E73402-E779-9649-B729-5CA8F7854C41}"/>
              </a:ext>
            </a:extLst>
          </p:cNvPr>
          <p:cNvCxnSpPr>
            <a:cxnSpLocks/>
          </p:cNvCxnSpPr>
          <p:nvPr/>
        </p:nvCxnSpPr>
        <p:spPr>
          <a:xfrm>
            <a:off x="8024813" y="5559670"/>
            <a:ext cx="36671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文本框 179">
            <a:extLst>
              <a:ext uri="{FF2B5EF4-FFF2-40B4-BE49-F238E27FC236}">
                <a16:creationId xmlns:a16="http://schemas.microsoft.com/office/drawing/2014/main" id="{A4A0E903-D447-98FF-BADD-B7094B6D9B5C}"/>
              </a:ext>
            </a:extLst>
          </p:cNvPr>
          <p:cNvSpPr txBox="1"/>
          <p:nvPr/>
        </p:nvSpPr>
        <p:spPr>
          <a:xfrm>
            <a:off x="8329289" y="5463784"/>
            <a:ext cx="3097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v_t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979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2463</TotalTime>
  <Words>1687</Words>
  <Application>Microsoft Office PowerPoint</Application>
  <PresentationFormat>宽屏</PresentationFormat>
  <Paragraphs>244</Paragraphs>
  <Slides>11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等线 Light</vt:lpstr>
      <vt:lpstr>黑体</vt:lpstr>
      <vt:lpstr>Arial</vt:lpstr>
      <vt:lpstr>Times New Roman</vt:lpstr>
      <vt:lpstr>Office 主题​​</vt:lpstr>
      <vt:lpstr>Train.py</vt:lpstr>
      <vt:lpstr>datamodule</vt:lpstr>
      <vt:lpstr>datamodule</vt:lpstr>
      <vt:lpstr>model = instantiate_model(config["model"], config["model_args"])</vt:lpstr>
      <vt:lpstr>PowerPoint 演示文稿</vt:lpstr>
      <vt:lpstr>PowerPoint 演示文稿</vt:lpstr>
      <vt:lpstr>PowerPoint 演示文稿</vt:lpstr>
      <vt:lpstr>PowerPoint 演示文稿</vt:lpstr>
      <vt:lpstr>representation_model 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庭浩 夏</dc:creator>
  <cp:lastModifiedBy>庭浩 夏</cp:lastModifiedBy>
  <cp:revision>367</cp:revision>
  <dcterms:created xsi:type="dcterms:W3CDTF">2026-04-07T10:05:13Z</dcterms:created>
  <dcterms:modified xsi:type="dcterms:W3CDTF">2026-04-22T15:53:12Z</dcterms:modified>
</cp:coreProperties>
</file>