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3" r:id="rId2"/>
    <p:sldId id="277" r:id="rId3"/>
    <p:sldId id="261" r:id="rId4"/>
    <p:sldId id="276" r:id="rId5"/>
    <p:sldId id="264" r:id="rId6"/>
    <p:sldId id="274" r:id="rId7"/>
    <p:sldId id="275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8" r:id="rId16"/>
    <p:sldId id="279" r:id="rId17"/>
    <p:sldId id="284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62" autoAdjust="0"/>
  </p:normalViewPr>
  <p:slideViewPr>
    <p:cSldViewPr snapToGrid="0">
      <p:cViewPr varScale="1">
        <p:scale>
          <a:sx n="123" d="100"/>
          <a:sy n="123" d="100"/>
        </p:scale>
        <p:origin x="151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73B95-48BA-4327-9C12-54BE9D1D456D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812BA-A0CD-4EA3-A221-BDF2D17034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6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57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2979-A8D2-C54D-B23C-EC0F6E05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6718E6-A7E2-2D23-41E4-131DD5B27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A986C9-131C-8B6A-76B8-E909F6A84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6E8C0-4A08-3FAC-A482-B23B0B6DF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45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595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98E8-C768-7D99-2DEF-5A92B666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3F323A-D5D7-CC6D-5B12-7ADDCD99F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8EF373-F001-61E8-E3DB-CF76E1177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DFA86-9336-441C-95AD-D1E952993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77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478F-A7B6-390F-5F5D-2602676F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F2C947-548A-8D0F-55B7-558DED099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FD6FE9-5C05-E1E6-5A9B-3A9F7BA73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337AB-9793-A72D-77BE-B0E7DEA77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2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141A-8C44-78C4-6451-F115D411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CA7B8B-6507-21C7-141D-653A0F877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24A34F-36E2-5123-004A-D5A1499F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65F2A-0842-2688-5F62-CC9642E36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766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8B5B-23DD-8E94-C94C-9E48042E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FD5677-A357-83EB-E246-48BC43C4B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8A098E-DE35-56DF-19C3-2C8DB8CB0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95F50A-103F-709E-FE3A-F97CC54E5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759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217D-E625-99E7-F935-60271C87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16B2AD-E4A9-D2CC-DBC2-B1CE82E64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8BAC2-06FC-4C35-E1B1-9CA3295B0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04EB8D-FA41-FA4D-5B09-132C53CD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84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4E92-5676-57BB-C45B-C2B0D41D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30D1D4-8E53-2195-1BF8-FCAD18594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816448-180E-DA7E-9D21-E551C76DC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E01A6-680D-3000-1F6F-BE68E0CDA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966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3111-BDBE-91F0-D41C-236D7E48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C589AA-A6A0-3090-EB9E-8F17AD1D7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9D3821-5152-D8E7-8F7B-0A125A550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F799A-CB4B-F469-16A2-AB5896C97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0889-0861-F2DD-17FD-C3CC49C2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94D8FE-CB39-6EB9-E30C-87AA97EA8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577CF-5053-C260-CBCD-50FBA0DE7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398E96-55E2-0408-3031-B90DB5F1B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34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E7BB-4600-0B1B-2A93-EC495E42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2F76FF-FD18-F4A8-09D8-C401BEA3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C928B8-2514-4D34-1DC9-29E162EEB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21EB92-0083-06C6-D187-CBB45E70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961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44CF-879D-D963-C426-2E401B58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0AA47D-0702-2057-71DF-250CF7683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7004CA-5C43-AB96-AC6A-5C607EDA9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939F3-A4FD-BCBE-EC6C-0DA3551A5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420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692E-61D4-A38D-3045-B7994D94D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C630C-2E9C-29A4-AD25-1B9452844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A71733-0223-304A-8E56-04A804AC8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BC5C4C-53D2-8003-A062-5C10942A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194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A7E6-4F77-DC0A-D8F3-08932BB1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BA81FE-D783-19A2-8B99-EEA59406E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4042C9-962A-BC6A-F036-B558C1526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B1C521-C318-5D52-5755-34A8FD39E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260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13BB-649E-25EB-DA2A-C675A922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F70222-BE39-525A-1340-3B2843448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6A4A44-3808-82A0-BE0D-C8CCD323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A045A6-B242-4D40-8F6C-D81D8DDFF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920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4687-88B1-9B26-6B90-D09C60DE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5083E0-F591-0D7A-E5DD-F9DFD54A2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815A6B-8884-972D-35E4-4B27D9892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BC8EE-498F-F8E4-C795-F821BC688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06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54AB-33B7-0FFA-91AD-2C62ECDC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31DF74-8805-E6BA-6A56-2269A7671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05CB0A-0515-6505-A522-1CC16117E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8CBFF8-A9BC-37BA-AE99-EEC2026E5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4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4C16-7EC3-47C4-383E-F614357B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E8A5D6-6AE1-86B0-3B07-0F29CA35D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3AD404-8701-7ECB-7052-E090CA765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58D9F-F1F5-CC55-08C9-D1E234944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742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3A88-1087-0BC1-EF95-A56190919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FC5281-DB3B-B831-524B-A356DD0F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2FCCBA-AA04-18A8-23D9-A841DFA7B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DA5AE3-A6DA-4DC5-60BA-3FB4C99B3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754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E480-32FA-23F6-2D74-50C21ECC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007D88-F0E4-73EF-ED30-CA044330F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AE630-B138-BCD9-CB48-86862F6A6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27BD7A-1913-256F-4F39-F89A2EF92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81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51EEF-8A68-51E5-2484-E05FCA39E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27E4-133F-6DF9-CA41-8CFEA23EE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48B9D-D770-CDDE-CF9D-F908F671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E67C8-9336-8C55-7577-52FF71B8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34C5C-024A-581D-40FB-D632F902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88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23172-8712-AFC9-1465-F4B331AC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87165-6216-9371-5FFF-082A4E3AD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86258-9ECC-6D25-4767-7081B17B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E2B99-F898-C192-C26D-53BC1D21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052A0-C13D-3A1E-5B22-7B009D37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7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F29EA-DD82-5501-4BAC-6137700F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5610-2A32-B00D-7637-F656385C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BE3118-C17A-A6C4-9678-247D4916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BF16-8F84-7231-05BB-C16500B6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91F22-A602-9410-C3A5-35993B80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4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8A6CE-B0C3-A944-8EE2-52A223B4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86615-C50C-EEEE-5D71-71E52440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199A7C-0538-5D2D-19D5-DC94B8C58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B15AC6-DD3F-104E-4879-2A874F31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B27B3F-7AE3-5C83-D79F-6FD18272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DC0EA0-AED4-DBDE-31C3-A1AAE5AD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91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08058-6A12-F8E7-E1BC-2117D12A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B639FD-D7A6-E877-5FDC-A4C380203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B782FD-2277-5497-9F76-D71665B55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E5A9D5-B9AB-A134-B48A-08CA3E435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3B2268-EE2F-96E1-20F2-872690E85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19B32D-3E18-2FA1-C263-45ABB299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C0E3C0-E94E-C5DA-4E73-FF8E08A9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9C2D02-4A4F-E79F-4AF1-24D9320D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5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EF1F3-5016-D4BE-7D84-019CEB86A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38FD60-4BFD-5587-0AD8-9FC427B8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701033-E356-97AE-43DD-618D2481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EEEC0C-851C-F721-CB65-102F166B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78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FABA24-6F6A-FBF9-E820-4FC465D2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C757F1-8492-9A6D-F744-53CE73B9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8443AB-DF66-6C81-2F92-2F467E64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88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51262-E52F-5A54-B1B8-221D810B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97A73-8724-393C-D8DF-1FC63008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39A62E-26C2-AFD5-3A2D-778701B6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45168-C9EF-CCCB-8C87-1A1F02D1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BB9C15-77EC-C6F7-8D7F-DBC999A6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25A94C-35FA-BB11-A4D2-11950BDD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63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E21A7-EE98-954C-C3FE-CC1AEDBF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B51992-BD2B-EA7C-A5A2-CA7AC3F2A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F3B8D5-541D-2EFF-0551-A8A340C1E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5EF196-E33F-B71B-D7F2-294F2D12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AB95C0-0019-40CD-305B-90F81C33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27F3BE-5C82-905E-704B-FDF10EDA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8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1D39B-4050-4643-29DA-14C6E58B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FB5680-2D4A-700A-5A68-3D3733DBE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D3031-C281-04EA-7885-CC5F485C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6B862-54A3-305D-28AC-513B652C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503B8-F92F-86DC-0855-260D1CB2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8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8D82DB-94F1-E9FA-78DB-B11AE8821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953134-56AB-8985-B115-7198B2C30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97BAC-8DC5-48B0-DE87-E73BDC39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D6A94B-21E9-67DF-9543-D4391993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25599-1475-55A0-356E-B65B28AB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5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665525-92B8-6D50-ABC7-BC256E15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76276-B1B2-2277-7BA9-BB7C41A0E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FB9C8-0881-6B85-5241-7B2CB1631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2B7AB-57F4-4141-B481-2FB649F67F8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844A1-C61C-8017-F5C5-C8224875F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7C022-5332-6992-817F-73A402A7D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8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3BE1F-1744-288F-D63C-62DCD276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592" y="1762724"/>
            <a:ext cx="8271743" cy="430159"/>
          </a:xfrm>
        </p:spPr>
        <p:txBody>
          <a:bodyPr>
            <a:normAutofit/>
          </a:bodyPr>
          <a:lstStyle/>
          <a:p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显式条件化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网络在所有时间都同时看到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x_t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和原始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x_pred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-&gt;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影响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的初始化 边的特征矩阵以及原子标量特征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的初始化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5F5048-0AF1-AA05-A41D-53D211624710}"/>
              </a:ext>
            </a:extLst>
          </p:cNvPr>
          <p:cNvSpPr/>
          <p:nvPr/>
        </p:nvSpPr>
        <p:spPr>
          <a:xfrm>
            <a:off x="630265" y="1797804"/>
            <a:ext cx="180000" cy="180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935898-DBBC-EA06-EFA7-860AA15D8066}"/>
              </a:ext>
            </a:extLst>
          </p:cNvPr>
          <p:cNvSpPr txBox="1"/>
          <p:nvPr/>
        </p:nvSpPr>
        <p:spPr>
          <a:xfrm>
            <a:off x="630265" y="538367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图例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13779E-92B0-F5D6-2893-C5490539764B}"/>
              </a:ext>
            </a:extLst>
          </p:cNvPr>
          <p:cNvSpPr/>
          <p:nvPr/>
        </p:nvSpPr>
        <p:spPr>
          <a:xfrm>
            <a:off x="630265" y="2301499"/>
            <a:ext cx="180000" cy="180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1BDF38-88B2-7904-E401-9829F5C0E9EA}"/>
              </a:ext>
            </a:extLst>
          </p:cNvPr>
          <p:cNvSpPr txBox="1"/>
          <p:nvPr/>
        </p:nvSpPr>
        <p:spPr>
          <a:xfrm>
            <a:off x="888570" y="2252999"/>
            <a:ext cx="1101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图由生成的静态距离图改为：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永久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covalent graph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sequence-neighbor graph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动态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radius graph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-&gt;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影响输入</a:t>
            </a:r>
            <a:r>
              <a:rPr lang="en-US" altLang="zh-CN" sz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representation_model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edge_index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edge_attr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93B98D-53B9-DAE3-B80D-750A619B6B07}"/>
              </a:ext>
            </a:extLst>
          </p:cNvPr>
          <p:cNvSpPr/>
          <p:nvPr/>
        </p:nvSpPr>
        <p:spPr>
          <a:xfrm>
            <a:off x="630265" y="2715194"/>
            <a:ext cx="180000" cy="1800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381336-B11F-C376-2C8B-4AD7C3CA1294}"/>
              </a:ext>
            </a:extLst>
          </p:cNvPr>
          <p:cNvSpPr txBox="1"/>
          <p:nvPr/>
        </p:nvSpPr>
        <p:spPr>
          <a:xfrm>
            <a:off x="888570" y="2678576"/>
            <a:ext cx="1101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新增</a:t>
            </a:r>
            <a:r>
              <a:rPr lang="en-US" altLang="zh-CN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loss: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bond_loss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clash_loss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plane_loss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新增模式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一步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residual baseline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无噪声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ODE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可控制步数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之前是有噪声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ODE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可控制步数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进行比较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10D114-0AF9-2C8D-2E2C-4ABE08E21AB8}"/>
              </a:ext>
            </a:extLst>
          </p:cNvPr>
          <p:cNvSpPr/>
          <p:nvPr/>
        </p:nvSpPr>
        <p:spPr>
          <a:xfrm>
            <a:off x="630265" y="3128889"/>
            <a:ext cx="180000" cy="1800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C22014-B684-4CB9-AB54-84A7D25DB24E}"/>
              </a:ext>
            </a:extLst>
          </p:cNvPr>
          <p:cNvSpPr txBox="1"/>
          <p:nvPr/>
        </p:nvSpPr>
        <p:spPr>
          <a:xfrm>
            <a:off x="630264" y="4725493"/>
            <a:ext cx="3745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.pt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文件的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schema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pt.md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04E332-4126-B99E-191B-AD2F1BBDACBC}"/>
              </a:ext>
            </a:extLst>
          </p:cNvPr>
          <p:cNvSpPr txBox="1"/>
          <p:nvPr/>
        </p:nvSpPr>
        <p:spPr>
          <a:xfrm>
            <a:off x="888570" y="3104153"/>
            <a:ext cx="1101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solidFill>
                  <a:srgbClr val="080808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软融合置信度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confidence</a:t>
            </a:r>
            <a:r>
              <a:rPr lang="zh-CN" altLang="en-US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，包括</a:t>
            </a:r>
            <a:r>
              <a:rPr lang="en-US" altLang="zh-CN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atom_plddt</a:t>
            </a:r>
            <a:r>
              <a:rPr lang="en-US" altLang="zh-CN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sz="1200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token_pair_pae</a:t>
            </a:r>
            <a:r>
              <a:rPr lang="en-US" altLang="zh-CN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sz="1200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token_pair_pde</a:t>
            </a:r>
            <a:r>
              <a:rPr lang="en-US" altLang="zh-CN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sz="1200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contact_probs;atom_to_token_idx</a:t>
            </a:r>
            <a:r>
              <a:rPr lang="zh-CN" altLang="en-US" sz="1200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。可以选择用或者不用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8B9B0C-8823-159E-E2A2-F5ECA2436C2F}"/>
              </a:ext>
            </a:extLst>
          </p:cNvPr>
          <p:cNvSpPr txBox="1"/>
          <p:nvPr/>
        </p:nvSpPr>
        <p:spPr>
          <a:xfrm>
            <a:off x="495946" y="3404084"/>
            <a:ext cx="10042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置信度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confidence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与真实误差的相关性有待验证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B23E5D-0EE0-01D6-AB71-240A51A54782}"/>
              </a:ext>
            </a:extLst>
          </p:cNvPr>
          <p:cNvSpPr/>
          <p:nvPr/>
        </p:nvSpPr>
        <p:spPr>
          <a:xfrm>
            <a:off x="630265" y="3849604"/>
            <a:ext cx="180000" cy="18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53BAE8-B0BB-BB5E-A741-495D52707188}"/>
              </a:ext>
            </a:extLst>
          </p:cNvPr>
          <p:cNvSpPr txBox="1"/>
          <p:nvPr/>
        </p:nvSpPr>
        <p:spPr>
          <a:xfrm>
            <a:off x="851592" y="3776278"/>
            <a:ext cx="10426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残基级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mobility gate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mobility loss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no-regret loss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loss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identity/near-native augmentation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5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AB32-82E1-6FA9-1F01-6158D8A9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3AE78CA5-1D63-1C28-C3B8-6C8CB90D10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AF08A3-D931-9A5F-E1DA-19D3F949F67F}"/>
              </a:ext>
            </a:extLst>
          </p:cNvPr>
          <p:cNvSpPr txBox="1"/>
          <p:nvPr/>
        </p:nvSpPr>
        <p:spPr>
          <a:xfrm>
            <a:off x="361627" y="1580828"/>
            <a:ext cx="12057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confidence_conditioning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True  </a:t>
            </a:r>
          </a:p>
          <a:p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node_attr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多增加一维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atom_plddt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solidFill>
                <a:srgbClr val="080808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edge_attr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多增加四维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atom_plddt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token_pair_pae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token_pair_pde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   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contact_probs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37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18F43023-D25E-E3EB-493F-F600321C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87D0BF-BCC0-D57D-4ECA-95B0E33B9D24}"/>
              </a:ext>
            </a:extLst>
          </p:cNvPr>
          <p:cNvSpPr/>
          <p:nvPr/>
        </p:nvSpPr>
        <p:spPr>
          <a:xfrm>
            <a:off x="3946901" y="2691540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representation_model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A7DCEE-F5DF-77B3-74C3-F425AE840657}"/>
              </a:ext>
            </a:extLst>
          </p:cNvPr>
          <p:cNvSpPr>
            <a:spLocks/>
          </p:cNvSpPr>
          <p:nvPr/>
        </p:nvSpPr>
        <p:spPr>
          <a:xfrm>
            <a:off x="-346129" y="3197817"/>
            <a:ext cx="3481952" cy="4339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z,t,pos,batch,</a:t>
            </a:r>
            <a:r>
              <a:rPr lang="zh-CN" altLang="zh-CN" sz="1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zh-CN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1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zh-CN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1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dirty="0"/>
              <a:t> </a:t>
            </a:r>
            <a:r>
              <a:rPr lang="zh-CN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pos_source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endParaRPr lang="zh-CN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F1930F3-20D3-5C0C-1D9D-85F7F5DB04FC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3135823" y="3414794"/>
            <a:ext cx="8110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0D576F-CEC2-BC9E-2798-34E7B2701EAE}"/>
              </a:ext>
            </a:extLst>
          </p:cNvPr>
          <p:cNvSpPr/>
          <p:nvPr/>
        </p:nvSpPr>
        <p:spPr>
          <a:xfrm>
            <a:off x="7552841" y="2691540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9A4FF0F-1571-DEF4-4EEC-0B2C102729CC}"/>
              </a:ext>
            </a:extLst>
          </p:cNvPr>
          <p:cNvCxnSpPr>
            <a:stCxn id="2" idx="3"/>
            <a:endCxn id="7" idx="1"/>
          </p:cNvCxnSpPr>
          <p:nvPr/>
        </p:nvCxnSpPr>
        <p:spPr>
          <a:xfrm>
            <a:off x="6824420" y="3414794"/>
            <a:ext cx="728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7581DF7-5831-A76F-AF84-078327C6BD47}"/>
              </a:ext>
            </a:extLst>
          </p:cNvPr>
          <p:cNvSpPr/>
          <p:nvPr/>
        </p:nvSpPr>
        <p:spPr>
          <a:xfrm>
            <a:off x="11158780" y="3064146"/>
            <a:ext cx="1033219" cy="70129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D79C479-64ED-1A69-A50B-B4C459B02429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10430360" y="3414794"/>
            <a:ext cx="72842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79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9118-DF47-9F39-0B44-BD5758AC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3F57CBCC-88AD-AA42-3EFC-204F8A0B5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BC7F30A-1716-1ADC-69BF-9438A4817F2D}"/>
              </a:ext>
            </a:extLst>
          </p:cNvPr>
          <p:cNvSpPr txBox="1"/>
          <p:nvPr/>
        </p:nvSpPr>
        <p:spPr>
          <a:xfrm>
            <a:off x="785247" y="342900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edge_attr</a:t>
            </a:r>
            <a:r>
              <a:rPr lang="en-US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独热编码 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[num_edges,7]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2B5D24-3E1E-2B7A-283D-4222B0998EED}"/>
              </a:ext>
            </a:extLst>
          </p:cNvPr>
          <p:cNvSpPr txBox="1"/>
          <p:nvPr/>
        </p:nvSpPr>
        <p:spPr>
          <a:xfrm>
            <a:off x="785246" y="3152001"/>
            <a:ext cx="9562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原来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文件中的永久静态边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核苷酸内的共价键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相邻核苷酸的磷酸二酯键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相邻序列边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C4’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相连接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的动态边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[2,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num_edges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633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6DAA-C18B-A3A4-AD39-68EE2A4B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F7B930B5-A207-18AF-7925-F237E8194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394AA2F-8611-0203-B941-F4263B207DBC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006429-8776-309B-28FE-AC831B7E12F8}"/>
              </a:ext>
            </a:extLst>
          </p:cNvPr>
          <p:cNvSpPr/>
          <p:nvPr/>
        </p:nvSpPr>
        <p:spPr>
          <a:xfrm>
            <a:off x="0" y="1585994"/>
            <a:ext cx="10693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A6B269-B512-EDCA-4BB7-489339333082}"/>
              </a:ext>
            </a:extLst>
          </p:cNvPr>
          <p:cNvSpPr txBox="1"/>
          <p:nvPr/>
        </p:nvSpPr>
        <p:spPr>
          <a:xfrm>
            <a:off x="152222" y="1308995"/>
            <a:ext cx="800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4514B18-6A2A-3C1D-3C9F-01C42F190E2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069383" y="1737748"/>
            <a:ext cx="126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7481AB4-D85F-A73F-AA80-EE66CDC9068C}"/>
              </a:ext>
            </a:extLst>
          </p:cNvPr>
          <p:cNvSpPr/>
          <p:nvPr/>
        </p:nvSpPr>
        <p:spPr>
          <a:xfrm>
            <a:off x="1237192" y="1412964"/>
            <a:ext cx="930076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B00734-BD12-17ED-1F2E-1DD5BF5DB20B}"/>
              </a:ext>
            </a:extLst>
          </p:cNvPr>
          <p:cNvSpPr/>
          <p:nvPr/>
        </p:nvSpPr>
        <p:spPr>
          <a:xfrm>
            <a:off x="2373824" y="1585994"/>
            <a:ext cx="264435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_initial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AD842A-0650-DE97-7370-C7138D3008FA}"/>
              </a:ext>
            </a:extLst>
          </p:cNvPr>
          <p:cNvSpPr txBox="1"/>
          <p:nvPr/>
        </p:nvSpPr>
        <p:spPr>
          <a:xfrm>
            <a:off x="2825213" y="1310866"/>
            <a:ext cx="148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EB93FE-814D-5CBF-DA97-A27B90E545D6}"/>
              </a:ext>
            </a:extLst>
          </p:cNvPr>
          <p:cNvSpPr/>
          <p:nvPr/>
        </p:nvSpPr>
        <p:spPr>
          <a:xfrm>
            <a:off x="0" y="2424344"/>
            <a:ext cx="250039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num_atoms,node_attr_dim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99E2A3-2AD6-10C8-3E92-334F48A47F6C}"/>
              </a:ext>
            </a:extLst>
          </p:cNvPr>
          <p:cNvSpPr txBox="1"/>
          <p:nvPr/>
        </p:nvSpPr>
        <p:spPr>
          <a:xfrm>
            <a:off x="836818" y="2147345"/>
            <a:ext cx="800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7241705-FD71-028A-6EE0-E7A9C780C6B0}"/>
              </a:ext>
            </a:extLst>
          </p:cNvPr>
          <p:cNvSpPr/>
          <p:nvPr/>
        </p:nvSpPr>
        <p:spPr>
          <a:xfrm>
            <a:off x="2699243" y="2226379"/>
            <a:ext cx="867996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node_mlp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4216FE0-0F30-E87A-9D51-C806C31F99DC}"/>
              </a:ext>
            </a:extLst>
          </p:cNvPr>
          <p:cNvCxnSpPr>
            <a:cxnSpLocks/>
          </p:cNvCxnSpPr>
          <p:nvPr/>
        </p:nvCxnSpPr>
        <p:spPr>
          <a:xfrm>
            <a:off x="2500394" y="2582406"/>
            <a:ext cx="126569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21673DA4-A33A-62EF-46F8-E19771533FF4}"/>
              </a:ext>
            </a:extLst>
          </p:cNvPr>
          <p:cNvSpPr/>
          <p:nvPr/>
        </p:nvSpPr>
        <p:spPr>
          <a:xfrm>
            <a:off x="3804834" y="2425285"/>
            <a:ext cx="2756116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EABDCA-E67D-0567-9189-CDCF8CDF85E5}"/>
              </a:ext>
            </a:extLst>
          </p:cNvPr>
          <p:cNvSpPr txBox="1"/>
          <p:nvPr/>
        </p:nvSpPr>
        <p:spPr>
          <a:xfrm>
            <a:off x="4737291" y="2147345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原子特征向量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E980D9-C8D6-D351-257C-7D86702811AE}"/>
              </a:ext>
            </a:extLst>
          </p:cNvPr>
          <p:cNvSpPr/>
          <p:nvPr/>
        </p:nvSpPr>
        <p:spPr>
          <a:xfrm>
            <a:off x="0" y="3280920"/>
            <a:ext cx="307383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:[2,num_edges]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D85B99-343E-2230-76CB-5049A8D5C01B}"/>
              </a:ext>
            </a:extLst>
          </p:cNvPr>
          <p:cNvSpPr txBox="1"/>
          <p:nvPr/>
        </p:nvSpPr>
        <p:spPr>
          <a:xfrm>
            <a:off x="865229" y="2995338"/>
            <a:ext cx="1542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边索引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；原子坐标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C66EB40-CD70-2AA6-55F4-AE1E14C39B93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073831" y="3432674"/>
            <a:ext cx="821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F99CBA4-731A-1517-D107-FC1CBC166AC3}"/>
              </a:ext>
            </a:extLst>
          </p:cNvPr>
          <p:cNvSpPr/>
          <p:nvPr/>
        </p:nvSpPr>
        <p:spPr>
          <a:xfrm>
            <a:off x="3895240" y="3272337"/>
            <a:ext cx="3363133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0BE80C-250D-E44E-D0C4-6138CCF2D213}"/>
              </a:ext>
            </a:extLst>
          </p:cNvPr>
          <p:cNvSpPr txBox="1"/>
          <p:nvPr/>
        </p:nvSpPr>
        <p:spPr>
          <a:xfrm>
            <a:off x="4347183" y="3003921"/>
            <a:ext cx="221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边所连原子的相对位置；边长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75B7147-02F0-3323-33E1-37DD994A084E}"/>
              </a:ext>
            </a:extLst>
          </p:cNvPr>
          <p:cNvSpPr/>
          <p:nvPr/>
        </p:nvSpPr>
        <p:spPr>
          <a:xfrm>
            <a:off x="8653080" y="3277949"/>
            <a:ext cx="36422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current_edge_attr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9D7238F-7680-B1EF-F360-E72857D77680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>
            <a:off x="7258373" y="3424091"/>
            <a:ext cx="1394707" cy="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3A85911-D6C5-566C-5E15-4E9C1C154FDD}"/>
              </a:ext>
            </a:extLst>
          </p:cNvPr>
          <p:cNvSpPr/>
          <p:nvPr/>
        </p:nvSpPr>
        <p:spPr>
          <a:xfrm>
            <a:off x="7258373" y="2652432"/>
            <a:ext cx="1425704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distance_expansion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32EAF4-4555-4050-80A4-4AEE4020E05A}"/>
              </a:ext>
            </a:extLst>
          </p:cNvPr>
          <p:cNvSpPr/>
          <p:nvPr/>
        </p:nvSpPr>
        <p:spPr>
          <a:xfrm>
            <a:off x="4745063" y="3885501"/>
            <a:ext cx="2513310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edge_attr_dim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F6AAE8-C841-404C-AAF7-AC0A9B23AA58}"/>
              </a:ext>
            </a:extLst>
          </p:cNvPr>
          <p:cNvSpPr txBox="1"/>
          <p:nvPr/>
        </p:nvSpPr>
        <p:spPr>
          <a:xfrm>
            <a:off x="5488936" y="3638466"/>
            <a:ext cx="855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边的特征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5D0D8851-BB9A-3199-2A60-27EA15E1B2AE}"/>
              </a:ext>
            </a:extLst>
          </p:cNvPr>
          <p:cNvCxnSpPr>
            <a:stCxn id="7" idx="3"/>
          </p:cNvCxnSpPr>
          <p:nvPr/>
        </p:nvCxnSpPr>
        <p:spPr>
          <a:xfrm flipV="1">
            <a:off x="7258373" y="3432674"/>
            <a:ext cx="754251" cy="604581"/>
          </a:xfrm>
          <a:prstGeom prst="bentConnector3">
            <a:avLst>
              <a:gd name="adj1" fmla="val 99315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61FF01D-C0A9-3BA0-67BD-85D551D0BD1D}"/>
              </a:ext>
            </a:extLst>
          </p:cNvPr>
          <p:cNvSpPr txBox="1"/>
          <p:nvPr/>
        </p:nvSpPr>
        <p:spPr>
          <a:xfrm>
            <a:off x="7955727" y="3657332"/>
            <a:ext cx="697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1836A8-2392-771F-43B2-4B5458B59DFC}"/>
              </a:ext>
            </a:extLst>
          </p:cNvPr>
          <p:cNvSpPr txBox="1"/>
          <p:nvPr/>
        </p:nvSpPr>
        <p:spPr>
          <a:xfrm>
            <a:off x="9634781" y="3003921"/>
            <a:ext cx="1624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</a:t>
            </a:r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71C130-8CFB-B279-55FE-B972DCF08808}"/>
              </a:ext>
            </a:extLst>
          </p:cNvPr>
          <p:cNvSpPr/>
          <p:nvPr/>
        </p:nvSpPr>
        <p:spPr>
          <a:xfrm>
            <a:off x="16885" y="4789713"/>
            <a:ext cx="1988950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8BFC66-CE43-59D4-D1A0-876989DDB1AE}"/>
              </a:ext>
            </a:extLst>
          </p:cNvPr>
          <p:cNvSpPr txBox="1"/>
          <p:nvPr/>
        </p:nvSpPr>
        <p:spPr>
          <a:xfrm>
            <a:off x="830499" y="4520758"/>
            <a:ext cx="511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边长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49C1D99-83D5-0027-0845-0C99878F1F6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05835" y="4941467"/>
            <a:ext cx="12553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BC26F21-E056-DE5D-CA6D-ABBD6E57E7B3}"/>
              </a:ext>
            </a:extLst>
          </p:cNvPr>
          <p:cNvSpPr txBox="1"/>
          <p:nvPr/>
        </p:nvSpPr>
        <p:spPr>
          <a:xfrm>
            <a:off x="2005834" y="4651213"/>
            <a:ext cx="1410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自环边权重置为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99B863-E100-6623-9C38-51794D6CF0E1}"/>
              </a:ext>
            </a:extLst>
          </p:cNvPr>
          <p:cNvSpPr/>
          <p:nvPr/>
        </p:nvSpPr>
        <p:spPr>
          <a:xfrm>
            <a:off x="3272866" y="4799356"/>
            <a:ext cx="2327283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masked_edge_weight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469B4C-0EFC-675C-9E63-23B42ADC5E16}"/>
              </a:ext>
            </a:extLst>
          </p:cNvPr>
          <p:cNvSpPr txBox="1"/>
          <p:nvPr/>
        </p:nvSpPr>
        <p:spPr>
          <a:xfrm>
            <a:off x="3620862" y="4544194"/>
            <a:ext cx="1915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边长（已处理自环边）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F63A2C9-A895-6469-8245-D2B2FABD6083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5600149" y="4951110"/>
            <a:ext cx="1246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49B6F43-8C35-C948-B139-6827410F4ADB}"/>
              </a:ext>
            </a:extLst>
          </p:cNvPr>
          <p:cNvSpPr txBox="1"/>
          <p:nvPr/>
        </p:nvSpPr>
        <p:spPr>
          <a:xfrm>
            <a:off x="5844869" y="4651213"/>
            <a:ext cx="98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截断短边长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B97F88-6EE7-1140-01E1-618E2EEC41D0}"/>
              </a:ext>
            </a:extLst>
          </p:cNvPr>
          <p:cNvSpPr/>
          <p:nvPr/>
        </p:nvSpPr>
        <p:spPr>
          <a:xfrm>
            <a:off x="6867180" y="4799356"/>
            <a:ext cx="2327283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masked_edge_weight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B64BFC-9290-EE6D-8A30-5B7AA41737B2}"/>
              </a:ext>
            </a:extLst>
          </p:cNvPr>
          <p:cNvSpPr txBox="1"/>
          <p:nvPr/>
        </p:nvSpPr>
        <p:spPr>
          <a:xfrm>
            <a:off x="6980696" y="4509102"/>
            <a:ext cx="2102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边长（已处理自环边、短边）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277F968-A805-D242-3C5A-E70C7FF8128E}"/>
              </a:ext>
            </a:extLst>
          </p:cNvPr>
          <p:cNvSpPr/>
          <p:nvPr/>
        </p:nvSpPr>
        <p:spPr>
          <a:xfrm>
            <a:off x="6871080" y="5421569"/>
            <a:ext cx="2323384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6E7021A-7880-E795-F57E-21F9B98341E3}"/>
              </a:ext>
            </a:extLst>
          </p:cNvPr>
          <p:cNvSpPr txBox="1"/>
          <p:nvPr/>
        </p:nvSpPr>
        <p:spPr>
          <a:xfrm>
            <a:off x="7041445" y="5146878"/>
            <a:ext cx="174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5AC587D-2D4E-5735-67B6-3B89C9320111}"/>
              </a:ext>
            </a:extLst>
          </p:cNvPr>
          <p:cNvCxnSpPr>
            <a:stCxn id="48" idx="3"/>
          </p:cNvCxnSpPr>
          <p:nvPr/>
        </p:nvCxnSpPr>
        <p:spPr>
          <a:xfrm>
            <a:off x="9194463" y="4951110"/>
            <a:ext cx="875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530FF302-DEFF-34FC-3C9E-3E0382FA7B13}"/>
              </a:ext>
            </a:extLst>
          </p:cNvPr>
          <p:cNvCxnSpPr>
            <a:stCxn id="52" idx="3"/>
          </p:cNvCxnSpPr>
          <p:nvPr/>
        </p:nvCxnSpPr>
        <p:spPr>
          <a:xfrm flipV="1">
            <a:off x="9194464" y="4951110"/>
            <a:ext cx="457200" cy="6222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384B7BE-E655-05B6-2266-C9CBCF7A95BF}"/>
              </a:ext>
            </a:extLst>
          </p:cNvPr>
          <p:cNvSpPr txBox="1"/>
          <p:nvPr/>
        </p:nvSpPr>
        <p:spPr>
          <a:xfrm>
            <a:off x="9215172" y="4667483"/>
            <a:ext cx="98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vec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/masked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4C8D00C-BA62-D300-3495-D9F29DE53C20}"/>
              </a:ext>
            </a:extLst>
          </p:cNvPr>
          <p:cNvSpPr/>
          <p:nvPr/>
        </p:nvSpPr>
        <p:spPr>
          <a:xfrm>
            <a:off x="10090828" y="4821193"/>
            <a:ext cx="1715055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F67072F-1106-4F2F-28A6-29819C24F592}"/>
              </a:ext>
            </a:extLst>
          </p:cNvPr>
          <p:cNvSpPr txBox="1"/>
          <p:nvPr/>
        </p:nvSpPr>
        <p:spPr>
          <a:xfrm>
            <a:off x="10157618" y="4391872"/>
            <a:ext cx="174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（已归一化）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AD03EBB-AB04-D903-C3D4-27A5FDBA7A0A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018176" y="1713849"/>
            <a:ext cx="3574294" cy="23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62EF1DD-FFCF-4861-F5CB-546E1143778D}"/>
              </a:ext>
            </a:extLst>
          </p:cNvPr>
          <p:cNvSpPr/>
          <p:nvPr/>
        </p:nvSpPr>
        <p:spPr>
          <a:xfrm>
            <a:off x="5603790" y="1338826"/>
            <a:ext cx="1573167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neighbor_embedding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650321E-A4C6-E0EB-5606-51FC84982D97}"/>
              </a:ext>
            </a:extLst>
          </p:cNvPr>
          <p:cNvSpPr/>
          <p:nvPr/>
        </p:nvSpPr>
        <p:spPr>
          <a:xfrm>
            <a:off x="5108494" y="1801022"/>
            <a:ext cx="3544586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z;x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_initial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zh-CN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EF7ED42-90FF-E4CE-53C1-E4A9D417BE45}"/>
              </a:ext>
            </a:extLst>
          </p:cNvPr>
          <p:cNvSpPr/>
          <p:nvPr/>
        </p:nvSpPr>
        <p:spPr>
          <a:xfrm>
            <a:off x="8682788" y="1562095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3EEC2C0-3795-C89F-9543-7B3CA40624B6}"/>
              </a:ext>
            </a:extLst>
          </p:cNvPr>
          <p:cNvSpPr txBox="1"/>
          <p:nvPr/>
        </p:nvSpPr>
        <p:spPr>
          <a:xfrm>
            <a:off x="8177055" y="1275911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原子序数特征向量（收集了邻居信息的）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C9962F64-7062-D195-9318-79B7AFA0A03D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541AAD3D-A942-000D-559F-D396B1FA1722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STAGEⅠ</a:t>
            </a: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485ADB-4F33-2F5F-39E9-4168A0B3EA62}"/>
              </a:ext>
            </a:extLst>
          </p:cNvPr>
          <p:cNvSpPr/>
          <p:nvPr/>
        </p:nvSpPr>
        <p:spPr>
          <a:xfrm>
            <a:off x="6980696" y="2957131"/>
            <a:ext cx="2234340" cy="268566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current_rbf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6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6453-C2B7-19F2-1336-76B0D0CC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D729B03F-4BE4-67AE-9A6D-058015854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C24AB94-7549-907F-49E2-A604C1291BE7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CC9F1857-0B3A-F73E-46DB-236C41641C07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60067CC7-D85B-EA26-0A6A-6EA6D2E1D3F4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STAGEⅠ</a:t>
            </a: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47D111-59A0-8F85-3E7D-36B1B1A6524C}"/>
              </a:ext>
            </a:extLst>
          </p:cNvPr>
          <p:cNvSpPr/>
          <p:nvPr/>
        </p:nvSpPr>
        <p:spPr>
          <a:xfrm>
            <a:off x="-1948255" y="2349099"/>
            <a:ext cx="362911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:[2,num_edges];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pos_source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2270BC2-FFF1-944B-5006-43A61ADBC1D8}"/>
              </a:ext>
            </a:extLst>
          </p:cNvPr>
          <p:cNvSpPr txBox="1"/>
          <p:nvPr/>
        </p:nvSpPr>
        <p:spPr>
          <a:xfrm>
            <a:off x="-884038" y="2063517"/>
            <a:ext cx="1898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边索引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初始原子坐标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351A9B6-55AF-EE8F-7D42-C485C8D9274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680860" y="2500853"/>
            <a:ext cx="821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2810C1B-A521-1617-2A99-019D86E0A63B}"/>
              </a:ext>
            </a:extLst>
          </p:cNvPr>
          <p:cNvSpPr/>
          <p:nvPr/>
        </p:nvSpPr>
        <p:spPr>
          <a:xfrm>
            <a:off x="2483859" y="2349099"/>
            <a:ext cx="4265582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source_edge_vec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:[num_edges,3]; 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source_edge_dist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AA6D453-D657-7036-F1F0-1B48F7250412}"/>
              </a:ext>
            </a:extLst>
          </p:cNvPr>
          <p:cNvSpPr txBox="1"/>
          <p:nvPr/>
        </p:nvSpPr>
        <p:spPr>
          <a:xfrm>
            <a:off x="3059290" y="2047182"/>
            <a:ext cx="287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原始边所连原子的相对位置；原始边长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BF5B44-A8F9-15F5-AEA3-1EBE77E94186}"/>
              </a:ext>
            </a:extLst>
          </p:cNvPr>
          <p:cNvSpPr/>
          <p:nvPr/>
        </p:nvSpPr>
        <p:spPr>
          <a:xfrm>
            <a:off x="8144147" y="2354711"/>
            <a:ext cx="3642241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source_edge_attr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5AFA8D1-8138-9C4D-9CAA-D312A400B23B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6749441" y="2500853"/>
            <a:ext cx="1394706" cy="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54232507-5101-E0B7-9CF8-F4866BD4DC3C}"/>
              </a:ext>
            </a:extLst>
          </p:cNvPr>
          <p:cNvSpPr/>
          <p:nvPr/>
        </p:nvSpPr>
        <p:spPr>
          <a:xfrm>
            <a:off x="6749440" y="1729194"/>
            <a:ext cx="1425704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distance_expansion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F3BE270-5525-6E1F-FBF4-E228B3DD10C9}"/>
              </a:ext>
            </a:extLst>
          </p:cNvPr>
          <p:cNvSpPr/>
          <p:nvPr/>
        </p:nvSpPr>
        <p:spPr>
          <a:xfrm>
            <a:off x="4236130" y="2962263"/>
            <a:ext cx="2513310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edge_attr_dim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43FDA95-53D0-FC6D-275D-521890889FFD}"/>
              </a:ext>
            </a:extLst>
          </p:cNvPr>
          <p:cNvSpPr txBox="1"/>
          <p:nvPr/>
        </p:nvSpPr>
        <p:spPr>
          <a:xfrm>
            <a:off x="4980003" y="2715228"/>
            <a:ext cx="855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边的特征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30FD52E7-DF93-DB47-420A-9A13A935E96F}"/>
              </a:ext>
            </a:extLst>
          </p:cNvPr>
          <p:cNvCxnSpPr>
            <a:stCxn id="49" idx="3"/>
          </p:cNvCxnSpPr>
          <p:nvPr/>
        </p:nvCxnSpPr>
        <p:spPr>
          <a:xfrm flipV="1">
            <a:off x="6749440" y="2509436"/>
            <a:ext cx="754251" cy="604581"/>
          </a:xfrm>
          <a:prstGeom prst="bentConnector3">
            <a:avLst>
              <a:gd name="adj1" fmla="val 99315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8E65AAF-B2E2-DF2C-EB62-725C40AAE9D7}"/>
              </a:ext>
            </a:extLst>
          </p:cNvPr>
          <p:cNvSpPr txBox="1"/>
          <p:nvPr/>
        </p:nvSpPr>
        <p:spPr>
          <a:xfrm>
            <a:off x="7446794" y="2734094"/>
            <a:ext cx="697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AF5950B-F207-94A3-B191-BF6970CADEFE}"/>
              </a:ext>
            </a:extLst>
          </p:cNvPr>
          <p:cNvSpPr txBox="1"/>
          <p:nvPr/>
        </p:nvSpPr>
        <p:spPr>
          <a:xfrm>
            <a:off x="9125848" y="2080683"/>
            <a:ext cx="1943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原始的边的特征向量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5573B53-A847-1A33-206A-0B8AD91AA0CE}"/>
              </a:ext>
            </a:extLst>
          </p:cNvPr>
          <p:cNvSpPr/>
          <p:nvPr/>
        </p:nvSpPr>
        <p:spPr>
          <a:xfrm>
            <a:off x="6471763" y="2033893"/>
            <a:ext cx="2234340" cy="26856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zh-C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_rbf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6D8A81C-0B75-6B6F-C10A-8A6F4E2B51F3}"/>
              </a:ext>
            </a:extLst>
          </p:cNvPr>
          <p:cNvSpPr/>
          <p:nvPr/>
        </p:nvSpPr>
        <p:spPr>
          <a:xfrm>
            <a:off x="128975" y="4021088"/>
            <a:ext cx="36422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current_edge_attr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017E38-5C58-199A-5898-B5D6002FB344}"/>
              </a:ext>
            </a:extLst>
          </p:cNvPr>
          <p:cNvSpPr txBox="1"/>
          <p:nvPr/>
        </p:nvSpPr>
        <p:spPr>
          <a:xfrm>
            <a:off x="440177" y="3744089"/>
            <a:ext cx="1493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</a:t>
            </a:r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63601CA-AE52-D037-BFE7-B67C2002A07A}"/>
              </a:ext>
            </a:extLst>
          </p:cNvPr>
          <p:cNvSpPr/>
          <p:nvPr/>
        </p:nvSpPr>
        <p:spPr>
          <a:xfrm>
            <a:off x="128975" y="4598624"/>
            <a:ext cx="2234340" cy="26856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zh-C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_rbf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03232B4-DB52-9E9B-BD5E-C670F8059725}"/>
              </a:ext>
            </a:extLst>
          </p:cNvPr>
          <p:cNvSpPr txBox="1"/>
          <p:nvPr/>
        </p:nvSpPr>
        <p:spPr>
          <a:xfrm>
            <a:off x="2266538" y="4553892"/>
            <a:ext cx="2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➖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090CDEF-FDC9-849D-FF5F-014FD833ACBF}"/>
              </a:ext>
            </a:extLst>
          </p:cNvPr>
          <p:cNvSpPr/>
          <p:nvPr/>
        </p:nvSpPr>
        <p:spPr>
          <a:xfrm>
            <a:off x="2694002" y="4598624"/>
            <a:ext cx="2234340" cy="268566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current_rbf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1A5606B9-A2B3-4DB1-09D4-5BA39447C13E}"/>
              </a:ext>
            </a:extLst>
          </p:cNvPr>
          <p:cNvCxnSpPr>
            <a:stCxn id="62" idx="3"/>
          </p:cNvCxnSpPr>
          <p:nvPr/>
        </p:nvCxnSpPr>
        <p:spPr>
          <a:xfrm>
            <a:off x="3771216" y="4172842"/>
            <a:ext cx="2161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5178B48-450C-74A4-DFF8-B6DD2A9C6F97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928342" y="4172842"/>
            <a:ext cx="479179" cy="5600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95E918C5-9CF8-1F36-BAC0-BBFEB25BAE90}"/>
              </a:ext>
            </a:extLst>
          </p:cNvPr>
          <p:cNvSpPr txBox="1"/>
          <p:nvPr/>
        </p:nvSpPr>
        <p:spPr>
          <a:xfrm>
            <a:off x="5382491" y="4373962"/>
            <a:ext cx="697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6DE310A-C230-21FC-7ED3-872C1F60F0F7}"/>
              </a:ext>
            </a:extLst>
          </p:cNvPr>
          <p:cNvSpPr/>
          <p:nvPr/>
        </p:nvSpPr>
        <p:spPr>
          <a:xfrm>
            <a:off x="4339628" y="3429000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F9A1977-AAAF-1FBE-51CB-6135EC353EDC}"/>
              </a:ext>
            </a:extLst>
          </p:cNvPr>
          <p:cNvSpPr/>
          <p:nvPr/>
        </p:nvSpPr>
        <p:spPr>
          <a:xfrm>
            <a:off x="4339628" y="3915811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C4E4D215-B3EB-A134-7591-0A1B7E123A0D}"/>
              </a:ext>
            </a:extLst>
          </p:cNvPr>
          <p:cNvSpPr/>
          <p:nvPr/>
        </p:nvSpPr>
        <p:spPr>
          <a:xfrm>
            <a:off x="4339627" y="3672405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630CFAE-2890-AF27-B026-5F0E649CE8D7}"/>
              </a:ext>
            </a:extLst>
          </p:cNvPr>
          <p:cNvSpPr/>
          <p:nvPr/>
        </p:nvSpPr>
        <p:spPr>
          <a:xfrm>
            <a:off x="5957307" y="4021088"/>
            <a:ext cx="3863452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source_edge_update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4E1268AC-27FD-0C5B-0BCB-3AFB4C534655}"/>
              </a:ext>
            </a:extLst>
          </p:cNvPr>
          <p:cNvSpPr/>
          <p:nvPr/>
        </p:nvSpPr>
        <p:spPr>
          <a:xfrm>
            <a:off x="10254020" y="4086516"/>
            <a:ext cx="191146" cy="17864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163E41DA-0B3A-1831-EE47-FEBDDF4744CB}"/>
              </a:ext>
            </a:extLst>
          </p:cNvPr>
          <p:cNvCxnSpPr>
            <a:stCxn id="62" idx="0"/>
          </p:cNvCxnSpPr>
          <p:nvPr/>
        </p:nvCxnSpPr>
        <p:spPr>
          <a:xfrm rot="5400000" flipH="1" flipV="1">
            <a:off x="5828759" y="-520697"/>
            <a:ext cx="663122" cy="842044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49020DF8-83F9-624B-8665-76E8CCD9D275}"/>
              </a:ext>
            </a:extLst>
          </p:cNvPr>
          <p:cNvCxnSpPr>
            <a:cxnSpLocks/>
            <a:endCxn id="105" idx="4"/>
          </p:cNvCxnSpPr>
          <p:nvPr/>
        </p:nvCxnSpPr>
        <p:spPr>
          <a:xfrm flipH="1">
            <a:off x="10349593" y="3352800"/>
            <a:ext cx="13607" cy="912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C876EC02-ABE7-F205-350F-9AF1D97641AF}"/>
              </a:ext>
            </a:extLst>
          </p:cNvPr>
          <p:cNvCxnSpPr>
            <a:stCxn id="93" idx="3"/>
          </p:cNvCxnSpPr>
          <p:nvPr/>
        </p:nvCxnSpPr>
        <p:spPr>
          <a:xfrm>
            <a:off x="9820759" y="4172842"/>
            <a:ext cx="124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A0839DBB-D2BC-4ED9-E8FD-2B5083C6FD3D}"/>
              </a:ext>
            </a:extLst>
          </p:cNvPr>
          <p:cNvSpPr/>
          <p:nvPr/>
        </p:nvSpPr>
        <p:spPr>
          <a:xfrm>
            <a:off x="9093055" y="4476349"/>
            <a:ext cx="2730478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f_ij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29CAA0B-5B3D-51E8-F2B7-64BE29FFA37F}"/>
              </a:ext>
            </a:extLst>
          </p:cNvPr>
          <p:cNvSpPr/>
          <p:nvPr/>
        </p:nvSpPr>
        <p:spPr>
          <a:xfrm>
            <a:off x="113633" y="5863118"/>
            <a:ext cx="10693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5FBC6C4-C73D-3C21-F273-25F6452D9AE5}"/>
              </a:ext>
            </a:extLst>
          </p:cNvPr>
          <p:cNvSpPr txBox="1"/>
          <p:nvPr/>
        </p:nvSpPr>
        <p:spPr>
          <a:xfrm>
            <a:off x="265855" y="5586119"/>
            <a:ext cx="800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08F3035F-2DDF-704F-D5F5-2F6859F8001F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1183016" y="6014872"/>
            <a:ext cx="126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0498F9A5-BB69-8924-AD1B-C4477074828F}"/>
              </a:ext>
            </a:extLst>
          </p:cNvPr>
          <p:cNvSpPr/>
          <p:nvPr/>
        </p:nvSpPr>
        <p:spPr>
          <a:xfrm>
            <a:off x="1350825" y="5690088"/>
            <a:ext cx="930076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6008A4B6-422A-067B-5C69-C6F12DC7DE5D}"/>
              </a:ext>
            </a:extLst>
          </p:cNvPr>
          <p:cNvSpPr/>
          <p:nvPr/>
        </p:nvSpPr>
        <p:spPr>
          <a:xfrm>
            <a:off x="2487457" y="5863118"/>
            <a:ext cx="264435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_initial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B20D037-79FB-F74B-15F0-B760237C8D9B}"/>
              </a:ext>
            </a:extLst>
          </p:cNvPr>
          <p:cNvSpPr txBox="1"/>
          <p:nvPr/>
        </p:nvSpPr>
        <p:spPr>
          <a:xfrm>
            <a:off x="2938846" y="5587990"/>
            <a:ext cx="148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</a:t>
            </a: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2739BA9F-3732-CCA8-41C2-0F0BBA2A35A3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5131809" y="5990973"/>
            <a:ext cx="3574294" cy="23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57612371-DD86-A48F-36D6-6B122BB19A8B}"/>
              </a:ext>
            </a:extLst>
          </p:cNvPr>
          <p:cNvSpPr/>
          <p:nvPr/>
        </p:nvSpPr>
        <p:spPr>
          <a:xfrm>
            <a:off x="5717423" y="5615950"/>
            <a:ext cx="1573167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neighbor_embedding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1B71D04-E95E-54B5-1A36-844A751965A4}"/>
              </a:ext>
            </a:extLst>
          </p:cNvPr>
          <p:cNvSpPr/>
          <p:nvPr/>
        </p:nvSpPr>
        <p:spPr>
          <a:xfrm>
            <a:off x="4928342" y="6230059"/>
            <a:ext cx="390414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z;x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_initial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source_edge_dist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source_edge_attr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EC4E77B8-B1D4-525E-C644-65DB4A6CE076}"/>
              </a:ext>
            </a:extLst>
          </p:cNvPr>
          <p:cNvSpPr/>
          <p:nvPr/>
        </p:nvSpPr>
        <p:spPr>
          <a:xfrm>
            <a:off x="8743248" y="5823012"/>
            <a:ext cx="2730478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source_x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:[num_atoms,hidden_channels]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71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272A-95D2-A41C-3E53-8440A732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DB031F25-B655-2BE5-C76F-238CCC571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0E94096-B83D-0DEB-AACB-79AE6736975B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E623FB73-F265-359C-6063-DBFFD2D30195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02E3A88E-4078-51DF-E862-F1727BA2271E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STAGEⅠ</a:t>
            </a: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EFDD0F-6039-699A-7043-B23D43BA8B14}"/>
              </a:ext>
            </a:extLst>
          </p:cNvPr>
          <p:cNvSpPr/>
          <p:nvPr/>
        </p:nvSpPr>
        <p:spPr>
          <a:xfrm>
            <a:off x="439213" y="1653768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33EE9F-6A9C-0ED4-89C1-01842B740D59}"/>
              </a:ext>
            </a:extLst>
          </p:cNvPr>
          <p:cNvSpPr txBox="1"/>
          <p:nvPr/>
        </p:nvSpPr>
        <p:spPr>
          <a:xfrm>
            <a:off x="1168835" y="1374681"/>
            <a:ext cx="174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初始化全零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8FDADD-07A5-66C9-8568-6B6E0A9F1680}"/>
              </a:ext>
            </a:extLst>
          </p:cNvPr>
          <p:cNvSpPr/>
          <p:nvPr/>
        </p:nvSpPr>
        <p:spPr>
          <a:xfrm>
            <a:off x="0" y="3280920"/>
            <a:ext cx="141482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1FC430-C788-D2C5-6829-464856CE1853}"/>
              </a:ext>
            </a:extLst>
          </p:cNvPr>
          <p:cNvSpPr txBox="1"/>
          <p:nvPr/>
        </p:nvSpPr>
        <p:spPr>
          <a:xfrm>
            <a:off x="1414821" y="3244334"/>
            <a:ext cx="2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52C0F6-8A3D-C794-4C36-98C78F49902E}"/>
              </a:ext>
            </a:extLst>
          </p:cNvPr>
          <p:cNvSpPr/>
          <p:nvPr/>
        </p:nvSpPr>
        <p:spPr>
          <a:xfrm>
            <a:off x="1881345" y="3277246"/>
            <a:ext cx="1896594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pos_source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E5058C5-9777-28EE-3FEA-3E67D7213556}"/>
              </a:ext>
            </a:extLst>
          </p:cNvPr>
          <p:cNvCxnSpPr>
            <a:stCxn id="17" idx="3"/>
          </p:cNvCxnSpPr>
          <p:nvPr/>
        </p:nvCxnSpPr>
        <p:spPr>
          <a:xfrm>
            <a:off x="3777939" y="3429000"/>
            <a:ext cx="711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1A8B97F-D408-DE86-85C9-B96B51039CE1}"/>
              </a:ext>
            </a:extLst>
          </p:cNvPr>
          <p:cNvSpPr/>
          <p:nvPr/>
        </p:nvSpPr>
        <p:spPr>
          <a:xfrm>
            <a:off x="4489342" y="3284488"/>
            <a:ext cx="1462007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delta:[num_atoms,3]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9E61584-E612-6613-7F0E-3CF21E552598}"/>
              </a:ext>
            </a:extLst>
          </p:cNvPr>
          <p:cNvCxnSpPr/>
          <p:nvPr/>
        </p:nvCxnSpPr>
        <p:spPr>
          <a:xfrm>
            <a:off x="5951349" y="3440624"/>
            <a:ext cx="711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3FC75A6-18C7-747F-205F-3A60D07389B5}"/>
              </a:ext>
            </a:extLst>
          </p:cNvPr>
          <p:cNvSpPr/>
          <p:nvPr/>
        </p:nvSpPr>
        <p:spPr>
          <a:xfrm>
            <a:off x="6682352" y="3284488"/>
            <a:ext cx="1810719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delta_norm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05694CA-36D8-245E-4638-ABD7096ADAFD}"/>
              </a:ext>
            </a:extLst>
          </p:cNvPr>
          <p:cNvCxnSpPr>
            <a:cxnSpLocks/>
          </p:cNvCxnSpPr>
          <p:nvPr/>
        </p:nvCxnSpPr>
        <p:spPr>
          <a:xfrm>
            <a:off x="8493071" y="3431583"/>
            <a:ext cx="790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F7712B3-382F-1924-DC9A-5CAF187BAF21}"/>
              </a:ext>
            </a:extLst>
          </p:cNvPr>
          <p:cNvCxnSpPr>
            <a:stCxn id="23" idx="0"/>
          </p:cNvCxnSpPr>
          <p:nvPr/>
        </p:nvCxnSpPr>
        <p:spPr>
          <a:xfrm rot="5400000" flipH="1" flipV="1">
            <a:off x="6722967" y="1168255"/>
            <a:ext cx="613613" cy="361885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117E0C1-1BDE-5C8C-9CF3-67AE04BE1E10}"/>
              </a:ext>
            </a:extLst>
          </p:cNvPr>
          <p:cNvCxnSpPr>
            <a:cxnSpLocks/>
          </p:cNvCxnSpPr>
          <p:nvPr/>
        </p:nvCxnSpPr>
        <p:spPr>
          <a:xfrm>
            <a:off x="8839201" y="2670875"/>
            <a:ext cx="0" cy="769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D39AF592-1890-CD9E-49A3-C7231783DA0F}"/>
              </a:ext>
            </a:extLst>
          </p:cNvPr>
          <p:cNvSpPr/>
          <p:nvPr/>
        </p:nvSpPr>
        <p:spPr>
          <a:xfrm>
            <a:off x="9299355" y="3277246"/>
            <a:ext cx="1874923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delta_dir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2D3302-9C97-3587-A57E-2D7815E0A285}"/>
              </a:ext>
            </a:extLst>
          </p:cNvPr>
          <p:cNvSpPr txBox="1"/>
          <p:nvPr/>
        </p:nvSpPr>
        <p:spPr>
          <a:xfrm>
            <a:off x="8556954" y="3475166"/>
            <a:ext cx="83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归一化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FA071A-5475-917F-4A58-02AF2D946BFC}"/>
              </a:ext>
            </a:extLst>
          </p:cNvPr>
          <p:cNvSpPr/>
          <p:nvPr/>
        </p:nvSpPr>
        <p:spPr>
          <a:xfrm>
            <a:off x="0" y="4663839"/>
            <a:ext cx="1810719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delta_norm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5A4372C-6DFB-2A56-81B1-CF03931EFE87}"/>
              </a:ext>
            </a:extLst>
          </p:cNvPr>
          <p:cNvCxnSpPr>
            <a:cxnSpLocks/>
          </p:cNvCxnSpPr>
          <p:nvPr/>
        </p:nvCxnSpPr>
        <p:spPr>
          <a:xfrm>
            <a:off x="1810719" y="4801386"/>
            <a:ext cx="12605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EFBE744-1AB6-DA21-9009-8B928E30A977}"/>
              </a:ext>
            </a:extLst>
          </p:cNvPr>
          <p:cNvSpPr txBox="1"/>
          <p:nvPr/>
        </p:nvSpPr>
        <p:spPr>
          <a:xfrm>
            <a:off x="2038120" y="4828847"/>
            <a:ext cx="23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2061DE4-D37F-6DD2-748C-9FE79BF574AA}"/>
              </a:ext>
            </a:extLst>
          </p:cNvPr>
          <p:cNvSpPr txBox="1"/>
          <p:nvPr/>
        </p:nvSpPr>
        <p:spPr>
          <a:xfrm>
            <a:off x="1881345" y="4468868"/>
            <a:ext cx="6101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self.cutoff_upper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3AB200B-8E89-B66A-22B7-F2B10BAFB5A2}"/>
              </a:ext>
            </a:extLst>
          </p:cNvPr>
          <p:cNvSpPr/>
          <p:nvPr/>
        </p:nvSpPr>
        <p:spPr>
          <a:xfrm>
            <a:off x="3071248" y="4644298"/>
            <a:ext cx="2035444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delta_scalar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:[num_atoms,2]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5823322-2194-7C81-D0FF-DF1E5244A169}"/>
              </a:ext>
            </a:extLst>
          </p:cNvPr>
          <p:cNvCxnSpPr>
            <a:stCxn id="61" idx="3"/>
          </p:cNvCxnSpPr>
          <p:nvPr/>
        </p:nvCxnSpPr>
        <p:spPr>
          <a:xfrm>
            <a:off x="5106692" y="4796052"/>
            <a:ext cx="1022888" cy="5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8997CA5-1913-ACC9-8B44-649440029782}"/>
              </a:ext>
            </a:extLst>
          </p:cNvPr>
          <p:cNvSpPr/>
          <p:nvPr/>
        </p:nvSpPr>
        <p:spPr>
          <a:xfrm>
            <a:off x="5172905" y="4045197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BB918E0D-EE0E-4F34-8DEA-C9E02C60290B}"/>
              </a:ext>
            </a:extLst>
          </p:cNvPr>
          <p:cNvSpPr/>
          <p:nvPr/>
        </p:nvSpPr>
        <p:spPr>
          <a:xfrm>
            <a:off x="5172907" y="4532009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381B15DD-BAE1-8124-4DB0-8461F72A41A7}"/>
              </a:ext>
            </a:extLst>
          </p:cNvPr>
          <p:cNvSpPr/>
          <p:nvPr/>
        </p:nvSpPr>
        <p:spPr>
          <a:xfrm>
            <a:off x="5172906" y="4288603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55699DB-FBB4-9501-9F12-A1649FA54FF9}"/>
              </a:ext>
            </a:extLst>
          </p:cNvPr>
          <p:cNvSpPr/>
          <p:nvPr/>
        </p:nvSpPr>
        <p:spPr>
          <a:xfrm>
            <a:off x="6148762" y="4644298"/>
            <a:ext cx="3094278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delta_channels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4AA0539-731F-7FAF-4225-93ECC8331B02}"/>
              </a:ext>
            </a:extLst>
          </p:cNvPr>
          <p:cNvCxnSpPr>
            <a:stCxn id="77" idx="3"/>
          </p:cNvCxnSpPr>
          <p:nvPr/>
        </p:nvCxnSpPr>
        <p:spPr>
          <a:xfrm>
            <a:off x="9243040" y="4796052"/>
            <a:ext cx="1667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19AF6F4-5AF1-1D33-D649-5CC73D5A736E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10236817" y="3580754"/>
            <a:ext cx="0" cy="12152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F52EFBAB-B02E-6E10-BA71-0EB4C35152CA}"/>
              </a:ext>
            </a:extLst>
          </p:cNvPr>
          <p:cNvSpPr txBox="1"/>
          <p:nvPr/>
        </p:nvSpPr>
        <p:spPr>
          <a:xfrm>
            <a:off x="10176875" y="4003737"/>
            <a:ext cx="80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❌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00401C9-7213-B2D6-49F2-6745EA5C842E}"/>
              </a:ext>
            </a:extLst>
          </p:cNvPr>
          <p:cNvSpPr/>
          <p:nvPr/>
        </p:nvSpPr>
        <p:spPr>
          <a:xfrm>
            <a:off x="10971073" y="4677093"/>
            <a:ext cx="4952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4FE35F9-8F1E-EEC2-D93F-40882DBE5C8B}"/>
              </a:ext>
            </a:extLst>
          </p:cNvPr>
          <p:cNvSpPr/>
          <p:nvPr/>
        </p:nvSpPr>
        <p:spPr>
          <a:xfrm>
            <a:off x="1168835" y="2134176"/>
            <a:ext cx="11079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617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8A4B-F740-D888-9173-4EEDAEDF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5DCFE2C8-468D-FC5A-C87E-A13B39831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CEC1085-59A5-F0AF-C5CD-64F17E15ECC2}"/>
              </a:ext>
            </a:extLst>
          </p:cNvPr>
          <p:cNvSpPr/>
          <p:nvPr/>
        </p:nvSpPr>
        <p:spPr>
          <a:xfrm>
            <a:off x="630359" y="2518022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AB5AB-CEA9-4160-7267-C55BA64EEC09}"/>
              </a:ext>
            </a:extLst>
          </p:cNvPr>
          <p:cNvSpPr txBox="1"/>
          <p:nvPr/>
        </p:nvSpPr>
        <p:spPr>
          <a:xfrm>
            <a:off x="1359981" y="2238935"/>
            <a:ext cx="174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5EEF39-F6C1-B3FE-13AD-B21EC1E2041E}"/>
              </a:ext>
            </a:extLst>
          </p:cNvPr>
          <p:cNvSpPr/>
          <p:nvPr/>
        </p:nvSpPr>
        <p:spPr>
          <a:xfrm>
            <a:off x="948074" y="1854710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5E0A25-B447-9B49-A39F-68354358196E}"/>
              </a:ext>
            </a:extLst>
          </p:cNvPr>
          <p:cNvSpPr txBox="1"/>
          <p:nvPr/>
        </p:nvSpPr>
        <p:spPr>
          <a:xfrm>
            <a:off x="710310" y="1516553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原子序数特征向量（收集了邻居信息的）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7DA1E1-5752-CB8E-E2D2-0632E76E5BD3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AE8550-47BD-7E56-DF59-F8A3B8B9C96B}"/>
              </a:ext>
            </a:extLst>
          </p:cNvPr>
          <p:cNvSpPr/>
          <p:nvPr/>
        </p:nvSpPr>
        <p:spPr>
          <a:xfrm>
            <a:off x="1327783" y="3160552"/>
            <a:ext cx="1808135" cy="30350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:[2,num_edges]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0E326D-7034-08C9-189B-A717EFAC7DA3}"/>
              </a:ext>
            </a:extLst>
          </p:cNvPr>
          <p:cNvSpPr txBox="1"/>
          <p:nvPr/>
        </p:nvSpPr>
        <p:spPr>
          <a:xfrm>
            <a:off x="1951632" y="2883553"/>
            <a:ext cx="793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边索引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145B2E-23C5-3738-8B8F-77EFDA513841}"/>
              </a:ext>
            </a:extLst>
          </p:cNvPr>
          <p:cNvSpPr/>
          <p:nvPr/>
        </p:nvSpPr>
        <p:spPr>
          <a:xfrm>
            <a:off x="1146968" y="3768529"/>
            <a:ext cx="198895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F00F14-4792-7629-454C-26CDEAC8FB3B}"/>
              </a:ext>
            </a:extLst>
          </p:cNvPr>
          <p:cNvSpPr txBox="1"/>
          <p:nvPr/>
        </p:nvSpPr>
        <p:spPr>
          <a:xfrm>
            <a:off x="1960582" y="3499574"/>
            <a:ext cx="511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1ACCC5-ED4D-5FA6-1138-661559EBC4A8}"/>
              </a:ext>
            </a:extLst>
          </p:cNvPr>
          <p:cNvSpPr/>
          <p:nvPr/>
        </p:nvSpPr>
        <p:spPr>
          <a:xfrm>
            <a:off x="0" y="4411059"/>
            <a:ext cx="31359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</a:t>
            </a:r>
            <a:r>
              <a:rPr lang="en-US" altLang="zh-CN" sz="1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F9B3DE-2CE3-E169-12DB-C90EF3914CD9}"/>
              </a:ext>
            </a:extLst>
          </p:cNvPr>
          <p:cNvSpPr txBox="1"/>
          <p:nvPr/>
        </p:nvSpPr>
        <p:spPr>
          <a:xfrm>
            <a:off x="981700" y="4137031"/>
            <a:ext cx="1167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78D51A-37D6-3725-B33C-79EA82379A0D}"/>
              </a:ext>
            </a:extLst>
          </p:cNvPr>
          <p:cNvSpPr/>
          <p:nvPr/>
        </p:nvSpPr>
        <p:spPr>
          <a:xfrm>
            <a:off x="1354350" y="5273446"/>
            <a:ext cx="17150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B6B8365-AC0B-EEA9-DA9F-6EBCCFE227DC}"/>
              </a:ext>
            </a:extLst>
          </p:cNvPr>
          <p:cNvSpPr txBox="1"/>
          <p:nvPr/>
        </p:nvSpPr>
        <p:spPr>
          <a:xfrm>
            <a:off x="635525" y="4953574"/>
            <a:ext cx="2500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边所连原子的相对位置（已归一化）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631AA9-6533-0B7A-B107-0BE2C9BC3D41}"/>
              </a:ext>
            </a:extLst>
          </p:cNvPr>
          <p:cNvSpPr/>
          <p:nvPr/>
        </p:nvSpPr>
        <p:spPr>
          <a:xfrm>
            <a:off x="347602" y="5897767"/>
            <a:ext cx="2756116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D2E30B-25B6-182A-D3A1-C6A295DBD8C2}"/>
              </a:ext>
            </a:extLst>
          </p:cNvPr>
          <p:cNvSpPr txBox="1"/>
          <p:nvPr/>
        </p:nvSpPr>
        <p:spPr>
          <a:xfrm>
            <a:off x="1280059" y="5619827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原子特征向量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ACD229F-48C3-DB68-E25B-A0569002C0A4}"/>
              </a:ext>
            </a:extLst>
          </p:cNvPr>
          <p:cNvSpPr/>
          <p:nvPr/>
        </p:nvSpPr>
        <p:spPr>
          <a:xfrm>
            <a:off x="2744721" y="6456646"/>
            <a:ext cx="3638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9A24EE2-D26F-4C6D-0095-CAB0449C3623}"/>
              </a:ext>
            </a:extLst>
          </p:cNvPr>
          <p:cNvSpPr txBox="1"/>
          <p:nvPr/>
        </p:nvSpPr>
        <p:spPr>
          <a:xfrm>
            <a:off x="2642508" y="6201275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D2A1157-CDF9-98AF-6DF1-C5D6D83E3952}"/>
              </a:ext>
            </a:extLst>
          </p:cNvPr>
          <p:cNvSpPr/>
          <p:nvPr/>
        </p:nvSpPr>
        <p:spPr>
          <a:xfrm>
            <a:off x="4706319" y="3943302"/>
            <a:ext cx="3202983" cy="38745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5B65C6E-B9FF-6B95-EEFC-13B7FD2B9F72}"/>
              </a:ext>
            </a:extLst>
          </p:cNvPr>
          <p:cNvCxnSpPr>
            <a:stCxn id="8" idx="3"/>
            <a:endCxn id="37" idx="1"/>
          </p:cNvCxnSpPr>
          <p:nvPr/>
        </p:nvCxnSpPr>
        <p:spPr>
          <a:xfrm>
            <a:off x="3135918" y="2006464"/>
            <a:ext cx="1570401" cy="21305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F8D3DBB-7D7D-06A2-9EFA-0D7796865917}"/>
              </a:ext>
            </a:extLst>
          </p:cNvPr>
          <p:cNvCxnSpPr>
            <a:stCxn id="34" idx="3"/>
          </p:cNvCxnSpPr>
          <p:nvPr/>
        </p:nvCxnSpPr>
        <p:spPr>
          <a:xfrm flipV="1">
            <a:off x="3108538" y="3878308"/>
            <a:ext cx="808794" cy="273009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17AE50D-2936-37A4-9448-D900D7A6A8A0}"/>
              </a:ext>
            </a:extLst>
          </p:cNvPr>
          <p:cNvCxnSpPr>
            <a:stCxn id="3" idx="3"/>
          </p:cNvCxnSpPr>
          <p:nvPr/>
        </p:nvCxnSpPr>
        <p:spPr>
          <a:xfrm>
            <a:off x="3135918" y="2669776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A2FB3DE-CE26-1C5D-F204-E0DCF8EEBD27}"/>
              </a:ext>
            </a:extLst>
          </p:cNvPr>
          <p:cNvCxnSpPr>
            <a:stCxn id="14" idx="3"/>
          </p:cNvCxnSpPr>
          <p:nvPr/>
        </p:nvCxnSpPr>
        <p:spPr>
          <a:xfrm>
            <a:off x="3135918" y="3312306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4979EFB-3E74-A671-D2A6-6099AF004C0E}"/>
              </a:ext>
            </a:extLst>
          </p:cNvPr>
          <p:cNvCxnSpPr>
            <a:stCxn id="18" idx="3"/>
          </p:cNvCxnSpPr>
          <p:nvPr/>
        </p:nvCxnSpPr>
        <p:spPr>
          <a:xfrm>
            <a:off x="3135918" y="3920283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56FC042-4D83-2698-C577-041F4EEBDC66}"/>
              </a:ext>
            </a:extLst>
          </p:cNvPr>
          <p:cNvCxnSpPr>
            <a:stCxn id="22" idx="3"/>
          </p:cNvCxnSpPr>
          <p:nvPr/>
        </p:nvCxnSpPr>
        <p:spPr>
          <a:xfrm>
            <a:off x="3135918" y="4562813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DBB3F03-7D0B-81AB-720F-DD032B638718}"/>
              </a:ext>
            </a:extLst>
          </p:cNvPr>
          <p:cNvCxnSpPr>
            <a:stCxn id="26" idx="3"/>
          </p:cNvCxnSpPr>
          <p:nvPr/>
        </p:nvCxnSpPr>
        <p:spPr>
          <a:xfrm>
            <a:off x="3069405" y="5425200"/>
            <a:ext cx="8479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078D25D-99A0-5919-85AF-69B0D06B469A}"/>
              </a:ext>
            </a:extLst>
          </p:cNvPr>
          <p:cNvCxnSpPr>
            <a:stCxn id="30" idx="3"/>
          </p:cNvCxnSpPr>
          <p:nvPr/>
        </p:nvCxnSpPr>
        <p:spPr>
          <a:xfrm>
            <a:off x="3103718" y="6049521"/>
            <a:ext cx="813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C986AD36-6D52-00FB-9D06-3C258FB0E20E}"/>
              </a:ext>
            </a:extLst>
          </p:cNvPr>
          <p:cNvSpPr txBox="1"/>
          <p:nvPr/>
        </p:nvSpPr>
        <p:spPr>
          <a:xfrm>
            <a:off x="8296758" y="3952365"/>
            <a:ext cx="1585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✖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num_layers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9CCA3B5-52FC-2E31-A53F-86D545FB99D0}"/>
              </a:ext>
            </a:extLst>
          </p:cNvPr>
          <p:cNvCxnSpPr>
            <a:stCxn id="37" idx="3"/>
          </p:cNvCxnSpPr>
          <p:nvPr/>
        </p:nvCxnSpPr>
        <p:spPr>
          <a:xfrm flipH="1" flipV="1">
            <a:off x="206644" y="1374681"/>
            <a:ext cx="7702658" cy="2762350"/>
          </a:xfrm>
          <a:prstGeom prst="bentConnector3">
            <a:avLst>
              <a:gd name="adj1" fmla="val -29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784F79B2-872F-7E49-81EA-F4D131103335}"/>
              </a:ext>
            </a:extLst>
          </p:cNvPr>
          <p:cNvCxnSpPr>
            <a:endCxn id="8" idx="1"/>
          </p:cNvCxnSpPr>
          <p:nvPr/>
        </p:nvCxnSpPr>
        <p:spPr>
          <a:xfrm>
            <a:off x="206644" y="1374681"/>
            <a:ext cx="741430" cy="631783"/>
          </a:xfrm>
          <a:prstGeom prst="bentConnector3">
            <a:avLst>
              <a:gd name="adj1" fmla="val -15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115E3A4-DA71-95CD-A577-B22A56D534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513" y="2126262"/>
            <a:ext cx="663312" cy="4237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4AEE53EE-CD3E-3831-E4E0-95CCDB5DB78D}"/>
              </a:ext>
            </a:extLst>
          </p:cNvPr>
          <p:cNvSpPr txBox="1"/>
          <p:nvPr/>
        </p:nvSpPr>
        <p:spPr>
          <a:xfrm>
            <a:off x="135815" y="2400470"/>
            <a:ext cx="664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更新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1D30EAE-B1F2-8832-3F74-E99E4730D8FB}"/>
              </a:ext>
            </a:extLst>
          </p:cNvPr>
          <p:cNvSpPr txBox="1"/>
          <p:nvPr/>
        </p:nvSpPr>
        <p:spPr>
          <a:xfrm>
            <a:off x="126011" y="1710469"/>
            <a:ext cx="664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E906AE8-0C32-C0F0-D133-3488A8BB8104}"/>
              </a:ext>
            </a:extLst>
          </p:cNvPr>
          <p:cNvSpPr txBox="1"/>
          <p:nvPr/>
        </p:nvSpPr>
        <p:spPr>
          <a:xfrm>
            <a:off x="8077249" y="2538969"/>
            <a:ext cx="119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x=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x+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dx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vec+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dvec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30048D2-7A6F-6A71-C7EF-2539C5C5161C}"/>
              </a:ext>
            </a:extLst>
          </p:cNvPr>
          <p:cNvSpPr/>
          <p:nvPr/>
        </p:nvSpPr>
        <p:spPr>
          <a:xfrm>
            <a:off x="9717437" y="3828042"/>
            <a:ext cx="922148" cy="2305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949AA18-0C55-13BA-E9F0-E628DA6B8B01}"/>
              </a:ext>
            </a:extLst>
          </p:cNvPr>
          <p:cNvSpPr/>
          <p:nvPr/>
        </p:nvSpPr>
        <p:spPr>
          <a:xfrm>
            <a:off x="9055462" y="5138944"/>
            <a:ext cx="2464945" cy="91362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</a:t>
            </a: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:[num_atoms,3,hidden_channels];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z:[num_atoms];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E3F3EC29-B17D-8EA6-8C91-B48121255C17}"/>
              </a:ext>
            </a:extLst>
          </p:cNvPr>
          <p:cNvCxnSpPr>
            <a:stCxn id="57" idx="3"/>
          </p:cNvCxnSpPr>
          <p:nvPr/>
        </p:nvCxnSpPr>
        <p:spPr>
          <a:xfrm>
            <a:off x="9882751" y="4137031"/>
            <a:ext cx="371961" cy="7558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76F6C5EC-C442-4E13-CFD9-BC196F7E5A4D}"/>
              </a:ext>
            </a:extLst>
          </p:cNvPr>
          <p:cNvSpPr txBox="1"/>
          <p:nvPr/>
        </p:nvSpPr>
        <p:spPr>
          <a:xfrm>
            <a:off x="8587582" y="4832887"/>
            <a:ext cx="3604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标量特征，向量特征，原子序数，原子坐标，批次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3ACE150-C01D-99A6-8EFB-D063E5C1C66D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0EDFAB58-79BB-6670-55F6-A676B16553B5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STAGEⅡ</a:t>
            </a: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196992-1822-9986-6BA6-4747192C3720}"/>
              </a:ext>
            </a:extLst>
          </p:cNvPr>
          <p:cNvSpPr/>
          <p:nvPr/>
        </p:nvSpPr>
        <p:spPr>
          <a:xfrm>
            <a:off x="3970782" y="5037939"/>
            <a:ext cx="2730478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source_x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:[num_atoms,hidden_channels]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9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CFC8-E644-EC19-DA06-7191C2E7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6E5A44D1-D339-21F5-5876-D92DDA7FF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717" y="-27058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7A21AA8-7D94-0E6B-A8BF-5043F42596A2}"/>
              </a:ext>
            </a:extLst>
          </p:cNvPr>
          <p:cNvSpPr txBox="1"/>
          <p:nvPr/>
        </p:nvSpPr>
        <p:spPr>
          <a:xfrm>
            <a:off x="905359" y="253314"/>
            <a:ext cx="316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C9BA94-1D25-2200-B6BD-9C781BE71E80}"/>
              </a:ext>
            </a:extLst>
          </p:cNvPr>
          <p:cNvSpPr/>
          <p:nvPr/>
        </p:nvSpPr>
        <p:spPr>
          <a:xfrm>
            <a:off x="73618" y="1902998"/>
            <a:ext cx="580024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x:[num_atoms,hidden_channels];t:[num_atoms,1];node_attr:[num_atoms,hidden_channels]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971E93-9F65-27AE-52B8-F7EF94127C86}"/>
              </a:ext>
            </a:extLst>
          </p:cNvPr>
          <p:cNvSpPr txBox="1"/>
          <p:nvPr/>
        </p:nvSpPr>
        <p:spPr>
          <a:xfrm>
            <a:off x="6904459" y="3635193"/>
            <a:ext cx="5731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旋转不变的标量特征，可以用于安全地更新标量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；从方向信息到标量信息的通道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9EFF14-DDCE-322F-87D5-0D20C8722D0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873858" y="2054752"/>
            <a:ext cx="1343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AA2CA4-C58A-9E17-52B4-CF5E357A9B08}"/>
              </a:ext>
            </a:extLst>
          </p:cNvPr>
          <p:cNvSpPr/>
          <p:nvPr/>
        </p:nvSpPr>
        <p:spPr>
          <a:xfrm>
            <a:off x="6096000" y="1701876"/>
            <a:ext cx="971227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mixing_mlp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393C06-B707-6F19-03BF-A92FC9E6B875}"/>
              </a:ext>
            </a:extLst>
          </p:cNvPr>
          <p:cNvSpPr/>
          <p:nvPr/>
        </p:nvSpPr>
        <p:spPr>
          <a:xfrm>
            <a:off x="7217044" y="1902998"/>
            <a:ext cx="22188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72C82F-92EB-F64B-6E03-7720D334D003}"/>
              </a:ext>
            </a:extLst>
          </p:cNvPr>
          <p:cNvSpPr txBox="1"/>
          <p:nvPr/>
        </p:nvSpPr>
        <p:spPr>
          <a:xfrm>
            <a:off x="7959671" y="1584670"/>
            <a:ext cx="116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原子标量特征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ECDA70A-DE92-4361-D380-5F162221FAF3}"/>
              </a:ext>
            </a:extLst>
          </p:cNvPr>
          <p:cNvSpPr/>
          <p:nvPr/>
        </p:nvSpPr>
        <p:spPr>
          <a:xfrm>
            <a:off x="6096000" y="2130629"/>
            <a:ext cx="971227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F11F0453-85C1-E3CA-30DE-F948A1F81272}"/>
              </a:ext>
            </a:extLst>
          </p:cNvPr>
          <p:cNvCxnSpPr>
            <a:stCxn id="16" idx="3"/>
          </p:cNvCxnSpPr>
          <p:nvPr/>
        </p:nvCxnSpPr>
        <p:spPr>
          <a:xfrm flipV="1">
            <a:off x="9435885" y="1374681"/>
            <a:ext cx="782664" cy="680071"/>
          </a:xfrm>
          <a:prstGeom prst="bentConnector3">
            <a:avLst>
              <a:gd name="adj1" fmla="val 24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9C35C5E-09EA-7D0C-B4F9-BF6C78B0EA62}"/>
              </a:ext>
            </a:extLst>
          </p:cNvPr>
          <p:cNvSpPr/>
          <p:nvPr/>
        </p:nvSpPr>
        <p:spPr>
          <a:xfrm>
            <a:off x="10298624" y="1222927"/>
            <a:ext cx="246681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q:[num_atoms,num_heads,head_dim]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E2B8E6-A95D-5FE1-F11F-56FD72C36EB9}"/>
              </a:ext>
            </a:extLst>
          </p:cNvPr>
          <p:cNvSpPr/>
          <p:nvPr/>
        </p:nvSpPr>
        <p:spPr>
          <a:xfrm>
            <a:off x="10298624" y="1902998"/>
            <a:ext cx="246681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k:[num_atoms,num_heads,head_dim]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5235581-75CB-17FF-D4D6-B8029940FA48}"/>
              </a:ext>
            </a:extLst>
          </p:cNvPr>
          <p:cNvCxnSpPr/>
          <p:nvPr/>
        </p:nvCxnSpPr>
        <p:spPr>
          <a:xfrm>
            <a:off x="9583119" y="2054752"/>
            <a:ext cx="635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F11E3152-3F55-E51E-AD5C-EC6DDB91F64C}"/>
              </a:ext>
            </a:extLst>
          </p:cNvPr>
          <p:cNvCxnSpPr>
            <a:stCxn id="16" idx="3"/>
          </p:cNvCxnSpPr>
          <p:nvPr/>
        </p:nvCxnSpPr>
        <p:spPr>
          <a:xfrm>
            <a:off x="9435885" y="2054752"/>
            <a:ext cx="782664" cy="750441"/>
          </a:xfrm>
          <a:prstGeom prst="bentConnector3">
            <a:avLst>
              <a:gd name="adj1" fmla="val 24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B111FB3-78A5-0913-0C0E-988850DFD66D}"/>
              </a:ext>
            </a:extLst>
          </p:cNvPr>
          <p:cNvSpPr/>
          <p:nvPr/>
        </p:nvSpPr>
        <p:spPr>
          <a:xfrm>
            <a:off x="10298624" y="2695995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v:[num_atoms,num_heads,head_dim*3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4B61BB-A05A-B235-75DC-1A589D144AED}"/>
              </a:ext>
            </a:extLst>
          </p:cNvPr>
          <p:cNvSpPr/>
          <p:nvPr/>
        </p:nvSpPr>
        <p:spPr>
          <a:xfrm>
            <a:off x="73618" y="3496159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CB16F66-1CC7-1CEF-4270-F728663A0748}"/>
              </a:ext>
            </a:extLst>
          </p:cNvPr>
          <p:cNvSpPr/>
          <p:nvPr/>
        </p:nvSpPr>
        <p:spPr>
          <a:xfrm>
            <a:off x="9580535" y="1027313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C3F0106-E73D-4D7F-97D7-D31902A7EAE2}"/>
              </a:ext>
            </a:extLst>
          </p:cNvPr>
          <p:cNvSpPr/>
          <p:nvPr/>
        </p:nvSpPr>
        <p:spPr>
          <a:xfrm>
            <a:off x="9554704" y="1723169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2E1BA22-C430-A5C1-3D51-0ABF0734C200}"/>
              </a:ext>
            </a:extLst>
          </p:cNvPr>
          <p:cNvSpPr/>
          <p:nvPr/>
        </p:nvSpPr>
        <p:spPr>
          <a:xfrm>
            <a:off x="9554704" y="2457824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EC9052D-B877-AD3F-D192-AAF6724D8334}"/>
              </a:ext>
            </a:extLst>
          </p:cNvPr>
          <p:cNvCxnSpPr>
            <a:stCxn id="47" idx="3"/>
          </p:cNvCxnSpPr>
          <p:nvPr/>
        </p:nvCxnSpPr>
        <p:spPr>
          <a:xfrm>
            <a:off x="2579177" y="3647913"/>
            <a:ext cx="1378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7B8C258B-EE82-EE59-8ECB-04A7F1808851}"/>
              </a:ext>
            </a:extLst>
          </p:cNvPr>
          <p:cNvCxnSpPr/>
          <p:nvPr/>
        </p:nvCxnSpPr>
        <p:spPr>
          <a:xfrm>
            <a:off x="2805193" y="3647913"/>
            <a:ext cx="1079715" cy="6864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37AC975-04F0-998A-0D20-8BC2746669B1}"/>
              </a:ext>
            </a:extLst>
          </p:cNvPr>
          <p:cNvSpPr txBox="1"/>
          <p:nvPr/>
        </p:nvSpPr>
        <p:spPr>
          <a:xfrm>
            <a:off x="745032" y="3152001"/>
            <a:ext cx="174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原子向量特征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46123EF-2CDF-6B10-5630-24AB744D19C9}"/>
              </a:ext>
            </a:extLst>
          </p:cNvPr>
          <p:cNvSpPr/>
          <p:nvPr/>
        </p:nvSpPr>
        <p:spPr>
          <a:xfrm>
            <a:off x="3042834" y="3991136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CF46D06-B846-B178-0B68-259099A509F9}"/>
              </a:ext>
            </a:extLst>
          </p:cNvPr>
          <p:cNvSpPr/>
          <p:nvPr/>
        </p:nvSpPr>
        <p:spPr>
          <a:xfrm>
            <a:off x="3957234" y="4182605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26F9950-FF63-F06E-42FC-40E782EA138E}"/>
              </a:ext>
            </a:extLst>
          </p:cNvPr>
          <p:cNvSpPr/>
          <p:nvPr/>
        </p:nvSpPr>
        <p:spPr>
          <a:xfrm>
            <a:off x="2579177" y="3146835"/>
            <a:ext cx="1378057" cy="4846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A4783A2-9E7F-5EAC-2247-8578356F5AF5}"/>
              </a:ext>
            </a:extLst>
          </p:cNvPr>
          <p:cNvSpPr/>
          <p:nvPr/>
        </p:nvSpPr>
        <p:spPr>
          <a:xfrm>
            <a:off x="3109992" y="3304690"/>
            <a:ext cx="847242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58AC8B9-0B98-7973-7A21-AB34948A758F}"/>
              </a:ext>
            </a:extLst>
          </p:cNvPr>
          <p:cNvSpPr txBox="1"/>
          <p:nvPr/>
        </p:nvSpPr>
        <p:spPr>
          <a:xfrm>
            <a:off x="2629545" y="3290500"/>
            <a:ext cx="1255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899E8FE-BB1F-27E4-464E-D3E5ABD8BF4B}"/>
              </a:ext>
            </a:extLst>
          </p:cNvPr>
          <p:cNvSpPr/>
          <p:nvPr/>
        </p:nvSpPr>
        <p:spPr>
          <a:xfrm>
            <a:off x="4037309" y="2958755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47634A8-FFA3-BD31-D560-51AB35E47C13}"/>
              </a:ext>
            </a:extLst>
          </p:cNvPr>
          <p:cNvSpPr/>
          <p:nvPr/>
        </p:nvSpPr>
        <p:spPr>
          <a:xfrm>
            <a:off x="4026977" y="337690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B37C6B1-D372-62EC-8335-CCA35845EDE3}"/>
              </a:ext>
            </a:extLst>
          </p:cNvPr>
          <p:cNvSpPr/>
          <p:nvPr/>
        </p:nvSpPr>
        <p:spPr>
          <a:xfrm>
            <a:off x="4026976" y="3738869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C1016B28-6F1D-B78D-FBEF-3F06B1F3B4D1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542868" y="3110509"/>
            <a:ext cx="462366" cy="2618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7A317394-D79B-2A5A-8F01-C5846A5ECA53}"/>
              </a:ext>
            </a:extLst>
          </p:cNvPr>
          <p:cNvCxnSpPr>
            <a:cxnSpLocks/>
          </p:cNvCxnSpPr>
          <p:nvPr/>
        </p:nvCxnSpPr>
        <p:spPr>
          <a:xfrm flipV="1">
            <a:off x="6537702" y="3376903"/>
            <a:ext cx="431369" cy="151754"/>
          </a:xfrm>
          <a:prstGeom prst="bentConnector3">
            <a:avLst>
              <a:gd name="adj1" fmla="val 5479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2EEA33D-F421-7898-BC6D-4ADBFE2C8BB7}"/>
              </a:ext>
            </a:extLst>
          </p:cNvPr>
          <p:cNvSpPr/>
          <p:nvPr/>
        </p:nvSpPr>
        <p:spPr>
          <a:xfrm>
            <a:off x="6891579" y="2983133"/>
            <a:ext cx="1813302" cy="2618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(vec1 * vec2).sum(dim=1)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3474A8F-2D7E-60AB-8D80-E1EF9FE5C5A1}"/>
              </a:ext>
            </a:extLst>
          </p:cNvPr>
          <p:cNvSpPr/>
          <p:nvPr/>
        </p:nvSpPr>
        <p:spPr>
          <a:xfrm>
            <a:off x="7005234" y="3313472"/>
            <a:ext cx="254947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vec_dot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E5CEE1D-2A0D-89C8-75FD-BB5883E22551}"/>
              </a:ext>
            </a:extLst>
          </p:cNvPr>
          <p:cNvSpPr txBox="1"/>
          <p:nvPr/>
        </p:nvSpPr>
        <p:spPr>
          <a:xfrm>
            <a:off x="2048936" y="1617781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原子标量特征；时间；原子特征向量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56F19D7-84E2-BC46-EE6E-A49A828ABF43}"/>
              </a:ext>
            </a:extLst>
          </p:cNvPr>
          <p:cNvSpPr/>
          <p:nvPr/>
        </p:nvSpPr>
        <p:spPr>
          <a:xfrm>
            <a:off x="48941" y="5273798"/>
            <a:ext cx="31359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EAF2513-045E-62BD-C415-14488BAC5603}"/>
              </a:ext>
            </a:extLst>
          </p:cNvPr>
          <p:cNvSpPr txBox="1"/>
          <p:nvPr/>
        </p:nvSpPr>
        <p:spPr>
          <a:xfrm>
            <a:off x="883226" y="4996799"/>
            <a:ext cx="1167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C64BDDFC-B0F4-8F11-DEBD-0C7F24FEBDE4}"/>
              </a:ext>
            </a:extLst>
          </p:cNvPr>
          <p:cNvSpPr/>
          <p:nvPr/>
        </p:nvSpPr>
        <p:spPr>
          <a:xfrm>
            <a:off x="3076413" y="4816999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dk_proj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A465E1CB-C515-C763-CB91-9DFB64B52251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3184859" y="5163841"/>
            <a:ext cx="2288626" cy="2617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3A334CCF-B5FE-A70A-ADB0-E710D6873F66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3184859" y="5425552"/>
            <a:ext cx="2288626" cy="2769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BCE0FA9C-7386-7173-015D-4C5C60EA405C}"/>
              </a:ext>
            </a:extLst>
          </p:cNvPr>
          <p:cNvSpPr/>
          <p:nvPr/>
        </p:nvSpPr>
        <p:spPr>
          <a:xfrm>
            <a:off x="3076413" y="5808490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8A0C636-E447-1149-3A33-4D973B3458AE}"/>
              </a:ext>
            </a:extLst>
          </p:cNvPr>
          <p:cNvSpPr/>
          <p:nvPr/>
        </p:nvSpPr>
        <p:spPr>
          <a:xfrm>
            <a:off x="4765729" y="4810030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F8BAC15C-482B-57D1-E8D5-2830B5962DCC}"/>
              </a:ext>
            </a:extLst>
          </p:cNvPr>
          <p:cNvSpPr/>
          <p:nvPr/>
        </p:nvSpPr>
        <p:spPr>
          <a:xfrm>
            <a:off x="4765729" y="5808489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7E3E1BD-D485-379F-6A43-779132B63426}"/>
              </a:ext>
            </a:extLst>
          </p:cNvPr>
          <p:cNvSpPr/>
          <p:nvPr/>
        </p:nvSpPr>
        <p:spPr>
          <a:xfrm>
            <a:off x="3291872" y="981200"/>
            <a:ext cx="144651" cy="14846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B04564E9-5222-996B-A168-7185B801D92F}"/>
              </a:ext>
            </a:extLst>
          </p:cNvPr>
          <p:cNvSpPr/>
          <p:nvPr/>
        </p:nvSpPr>
        <p:spPr>
          <a:xfrm>
            <a:off x="3905573" y="4809260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ABFF419-72CD-EA0D-E513-673E10A2069B}"/>
              </a:ext>
            </a:extLst>
          </p:cNvPr>
          <p:cNvSpPr/>
          <p:nvPr/>
        </p:nvSpPr>
        <p:spPr>
          <a:xfrm>
            <a:off x="3927529" y="5808489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81A925F-F380-3C05-94A7-3DE24D699865}"/>
              </a:ext>
            </a:extLst>
          </p:cNvPr>
          <p:cNvSpPr/>
          <p:nvPr/>
        </p:nvSpPr>
        <p:spPr>
          <a:xfrm>
            <a:off x="5510892" y="5020804"/>
            <a:ext cx="25263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dk:[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E9CCEC5-A1A8-4BD0-C54A-2AAFFEC07BD5}"/>
              </a:ext>
            </a:extLst>
          </p:cNvPr>
          <p:cNvSpPr/>
          <p:nvPr/>
        </p:nvSpPr>
        <p:spPr>
          <a:xfrm>
            <a:off x="5510891" y="5555495"/>
            <a:ext cx="29925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21CBC0-FD7C-2410-1A78-C822034CDC3E}"/>
              </a:ext>
            </a:extLst>
          </p:cNvPr>
          <p:cNvSpPr/>
          <p:nvPr/>
        </p:nvSpPr>
        <p:spPr>
          <a:xfrm>
            <a:off x="92346" y="912892"/>
            <a:ext cx="2730478" cy="3035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source_x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:[num_atoms,hidden_channels]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ED9318E-E54A-0163-4756-48C9B124E87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822824" y="1049363"/>
            <a:ext cx="1239945" cy="15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942E4DF-EAAE-881E-1191-D78B78F09847}"/>
              </a:ext>
            </a:extLst>
          </p:cNvPr>
          <p:cNvSpPr/>
          <p:nvPr/>
        </p:nvSpPr>
        <p:spPr>
          <a:xfrm>
            <a:off x="2893017" y="658158"/>
            <a:ext cx="826575" cy="22720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941936-0995-7C0B-B1F4-02A979AD04FB}"/>
              </a:ext>
            </a:extLst>
          </p:cNvPr>
          <p:cNvSpPr/>
          <p:nvPr/>
        </p:nvSpPr>
        <p:spPr>
          <a:xfrm>
            <a:off x="603983" y="1251498"/>
            <a:ext cx="22188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D2B84E38-779B-C336-0B65-DE648EDB1BE6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2822824" y="1055434"/>
            <a:ext cx="1082749" cy="34781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BFB1672-EE9C-398E-E541-1E72BE4D2BD2}"/>
              </a:ext>
            </a:extLst>
          </p:cNvPr>
          <p:cNvCxnSpPr>
            <a:stCxn id="29" idx="1"/>
            <a:endCxn id="29" idx="0"/>
          </p:cNvCxnSpPr>
          <p:nvPr/>
        </p:nvCxnSpPr>
        <p:spPr>
          <a:xfrm flipV="1">
            <a:off x="3313056" y="981200"/>
            <a:ext cx="51142" cy="21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F46AEED-5765-D030-1A71-D9BE7CCCDBD3}"/>
              </a:ext>
            </a:extLst>
          </p:cNvPr>
          <p:cNvCxnSpPr/>
          <p:nvPr/>
        </p:nvCxnSpPr>
        <p:spPr>
          <a:xfrm flipV="1">
            <a:off x="3364198" y="1027313"/>
            <a:ext cx="0" cy="373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5AD8C9F-CDFA-4487-74F3-FD130D92DF3E}"/>
              </a:ext>
            </a:extLst>
          </p:cNvPr>
          <p:cNvCxnSpPr/>
          <p:nvPr/>
        </p:nvCxnSpPr>
        <p:spPr>
          <a:xfrm>
            <a:off x="3364198" y="952253"/>
            <a:ext cx="0" cy="1047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D5D8189B-2717-078A-99FA-DDBE5BA8208E}"/>
              </a:ext>
            </a:extLst>
          </p:cNvPr>
          <p:cNvSpPr/>
          <p:nvPr/>
        </p:nvSpPr>
        <p:spPr>
          <a:xfrm>
            <a:off x="4083953" y="912892"/>
            <a:ext cx="22188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07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AF6F-EC65-8C85-E8EE-E24D2C7B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C18091C6-EDD8-C636-F94B-9876935F8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B920DF-6C01-D262-EBAE-852E03799DE2}"/>
              </a:ext>
            </a:extLst>
          </p:cNvPr>
          <p:cNvSpPr txBox="1"/>
          <p:nvPr/>
        </p:nvSpPr>
        <p:spPr>
          <a:xfrm>
            <a:off x="1901125" y="644030"/>
            <a:ext cx="6597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vec = self.propagate(edge_index,  q=q,k=k,v=v,vec=vec,dk=dk,dv=dv,r_ij=r_ij,d_ij=d_ij,size=None,)</a:t>
            </a:r>
          </a:p>
          <a:p>
            <a:pPr algn="ctr"/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03E2FF-870A-BB91-C768-570ED4F82E5D}"/>
              </a:ext>
            </a:extLst>
          </p:cNvPr>
          <p:cNvSpPr txBox="1"/>
          <p:nvPr/>
        </p:nvSpPr>
        <p:spPr>
          <a:xfrm>
            <a:off x="552773" y="1374681"/>
            <a:ext cx="11262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通过边更新原子自己的标量特征和向量特征，其中边的特征向量会影响源原子向目标原子传递的信息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标量边消息与向量边消息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6BA05C-F19C-EC2A-5818-6DA95E618BB3}"/>
              </a:ext>
            </a:extLst>
          </p:cNvPr>
          <p:cNvSpPr/>
          <p:nvPr/>
        </p:nvSpPr>
        <p:spPr>
          <a:xfrm>
            <a:off x="126569" y="2688661"/>
            <a:ext cx="751926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q_i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]; dk:[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16B973-EF1A-8731-A65A-B5CED7D2C141}"/>
              </a:ext>
            </a:extLst>
          </p:cNvPr>
          <p:cNvSpPr txBox="1"/>
          <p:nvPr/>
        </p:nvSpPr>
        <p:spPr>
          <a:xfrm>
            <a:off x="475192" y="2377157"/>
            <a:ext cx="2237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目标原子的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485853E-AD3A-7CBD-36F1-D7E66B8E854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645831" y="2840415"/>
            <a:ext cx="630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5B3ECF9-BF14-8F35-192F-DF196B9C1ECF}"/>
              </a:ext>
            </a:extLst>
          </p:cNvPr>
          <p:cNvSpPr/>
          <p:nvPr/>
        </p:nvSpPr>
        <p:spPr>
          <a:xfrm>
            <a:off x="7679321" y="2572722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丨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22136-7E94-EC26-210E-85614B45B73A}"/>
              </a:ext>
            </a:extLst>
          </p:cNvPr>
          <p:cNvSpPr/>
          <p:nvPr/>
        </p:nvSpPr>
        <p:spPr>
          <a:xfrm>
            <a:off x="8498237" y="2758612"/>
            <a:ext cx="20406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attn: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370A41-0D4D-5BE2-BAA3-1D7133A765ED}"/>
              </a:ext>
            </a:extLst>
          </p:cNvPr>
          <p:cNvSpPr txBox="1"/>
          <p:nvPr/>
        </p:nvSpPr>
        <p:spPr>
          <a:xfrm>
            <a:off x="8565397" y="2423145"/>
            <a:ext cx="2905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product attention, a score for each edge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A6F070C-523C-69D3-F0D4-3BDB8FFD5A97}"/>
              </a:ext>
            </a:extLst>
          </p:cNvPr>
          <p:cNvSpPr/>
          <p:nvPr/>
        </p:nvSpPr>
        <p:spPr>
          <a:xfrm>
            <a:off x="7679321" y="2992169"/>
            <a:ext cx="4262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BF805B3-58DD-96B8-847F-194B94305686}"/>
              </a:ext>
            </a:extLst>
          </p:cNvPr>
          <p:cNvSpPr/>
          <p:nvPr/>
        </p:nvSpPr>
        <p:spPr>
          <a:xfrm>
            <a:off x="7645831" y="3204184"/>
            <a:ext cx="919566" cy="2366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cut_off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E543D1-DF36-AF28-F9BC-B474BDB93A87}"/>
              </a:ext>
            </a:extLst>
          </p:cNvPr>
          <p:cNvSpPr/>
          <p:nvPr/>
        </p:nvSpPr>
        <p:spPr>
          <a:xfrm>
            <a:off x="104568" y="3998372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83522CA-08F1-E668-72CD-22B70154ACE3}"/>
              </a:ext>
            </a:extLst>
          </p:cNvPr>
          <p:cNvSpPr txBox="1"/>
          <p:nvPr/>
        </p:nvSpPr>
        <p:spPr>
          <a:xfrm>
            <a:off x="366793" y="3651254"/>
            <a:ext cx="2237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76F5B6D-6EAF-934C-A1FD-BACB18955E6C}"/>
              </a:ext>
            </a:extLst>
          </p:cNvPr>
          <p:cNvCxnSpPr>
            <a:stCxn id="27" idx="3"/>
          </p:cNvCxnSpPr>
          <p:nvPr/>
        </p:nvCxnSpPr>
        <p:spPr>
          <a:xfrm>
            <a:off x="3082825" y="4150126"/>
            <a:ext cx="1530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FA6997B-FC28-D33D-68DA-45A18EF822BD}"/>
              </a:ext>
            </a:extLst>
          </p:cNvPr>
          <p:cNvSpPr/>
          <p:nvPr/>
        </p:nvSpPr>
        <p:spPr>
          <a:xfrm>
            <a:off x="3456700" y="3843440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8CB162-34E0-335E-E060-31903418C082}"/>
              </a:ext>
            </a:extLst>
          </p:cNvPr>
          <p:cNvSpPr/>
          <p:nvPr/>
        </p:nvSpPr>
        <p:spPr>
          <a:xfrm>
            <a:off x="3103489" y="4341221"/>
            <a:ext cx="29925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886DAE-160F-ACAF-1F8A-9AEB8D6F358E}"/>
              </a:ext>
            </a:extLst>
          </p:cNvPr>
          <p:cNvSpPr/>
          <p:nvPr/>
        </p:nvSpPr>
        <p:spPr>
          <a:xfrm>
            <a:off x="4751477" y="3959031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99A1547-77E5-AC14-6137-269B25504292}"/>
              </a:ext>
            </a:extLst>
          </p:cNvPr>
          <p:cNvSpPr txBox="1"/>
          <p:nvPr/>
        </p:nvSpPr>
        <p:spPr>
          <a:xfrm>
            <a:off x="5189349" y="3641670"/>
            <a:ext cx="2456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v(</a:t>
            </a:r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dv</a:t>
            </a:r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影响之后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ECFB647C-7EB3-82B0-D048-615D26716B4F}"/>
              </a:ext>
            </a:extLst>
          </p:cNvPr>
          <p:cNvCxnSpPr>
            <a:stCxn id="37" idx="3"/>
          </p:cNvCxnSpPr>
          <p:nvPr/>
        </p:nvCxnSpPr>
        <p:spPr>
          <a:xfrm flipV="1">
            <a:off x="7729734" y="3724759"/>
            <a:ext cx="680680" cy="3860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5B7838AB-8410-37A1-624E-8BC284F8A1D5}"/>
              </a:ext>
            </a:extLst>
          </p:cNvPr>
          <p:cNvCxnSpPr>
            <a:stCxn id="37" idx="3"/>
          </p:cNvCxnSpPr>
          <p:nvPr/>
        </p:nvCxnSpPr>
        <p:spPr>
          <a:xfrm>
            <a:off x="7729734" y="4110785"/>
            <a:ext cx="680680" cy="3837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9C0CC27-59EB-DC84-81B9-6E5723ADD9C3}"/>
              </a:ext>
            </a:extLst>
          </p:cNvPr>
          <p:cNvCxnSpPr>
            <a:cxnSpLocks/>
          </p:cNvCxnSpPr>
          <p:nvPr/>
        </p:nvCxnSpPr>
        <p:spPr>
          <a:xfrm>
            <a:off x="8074617" y="3959031"/>
            <a:ext cx="3357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046127B-6EB5-FAAC-A5AF-BB1D434AB924}"/>
              </a:ext>
            </a:extLst>
          </p:cNvPr>
          <p:cNvCxnSpPr/>
          <p:nvPr/>
        </p:nvCxnSpPr>
        <p:spPr>
          <a:xfrm>
            <a:off x="8074617" y="430188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F24B164E-FD3E-D1A5-8654-C66631D09087}"/>
              </a:ext>
            </a:extLst>
          </p:cNvPr>
          <p:cNvSpPr/>
          <p:nvPr/>
        </p:nvSpPr>
        <p:spPr>
          <a:xfrm>
            <a:off x="8494317" y="3502786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8492ED5-CF13-F0E0-7933-37A3C9DCBC6B}"/>
              </a:ext>
            </a:extLst>
          </p:cNvPr>
          <p:cNvSpPr/>
          <p:nvPr/>
        </p:nvSpPr>
        <p:spPr>
          <a:xfrm>
            <a:off x="8494316" y="3812922"/>
            <a:ext cx="26934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F85FC7-0932-D2B4-771B-0B518D63682B}"/>
              </a:ext>
            </a:extLst>
          </p:cNvPr>
          <p:cNvSpPr/>
          <p:nvPr/>
        </p:nvSpPr>
        <p:spPr>
          <a:xfrm>
            <a:off x="8494317" y="4123058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20B32D3-5B21-A96B-0667-20ED5E0614B8}"/>
              </a:ext>
            </a:extLst>
          </p:cNvPr>
          <p:cNvSpPr/>
          <p:nvPr/>
        </p:nvSpPr>
        <p:spPr>
          <a:xfrm>
            <a:off x="8494317" y="4433194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15CA05D-B5F9-3692-23C7-12D7EE43DB8C}"/>
              </a:ext>
            </a:extLst>
          </p:cNvPr>
          <p:cNvSpPr/>
          <p:nvPr/>
        </p:nvSpPr>
        <p:spPr>
          <a:xfrm>
            <a:off x="126569" y="4894279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6486544-775A-C325-2A24-4D9A01A5599C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2583051" y="5046033"/>
            <a:ext cx="21684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8030227-3966-9BAA-F842-765D075546DC}"/>
              </a:ext>
            </a:extLst>
          </p:cNvPr>
          <p:cNvSpPr/>
          <p:nvPr/>
        </p:nvSpPr>
        <p:spPr>
          <a:xfrm>
            <a:off x="3225851" y="4780741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A69CE56-815C-1CCA-FA39-4B38BB8F4AD2}"/>
              </a:ext>
            </a:extLst>
          </p:cNvPr>
          <p:cNvSpPr/>
          <p:nvPr/>
        </p:nvSpPr>
        <p:spPr>
          <a:xfrm>
            <a:off x="2646958" y="5144510"/>
            <a:ext cx="20406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attn: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973B9A7-1C78-DBBD-EF91-786ED7E25891}"/>
              </a:ext>
            </a:extLst>
          </p:cNvPr>
          <p:cNvSpPr/>
          <p:nvPr/>
        </p:nvSpPr>
        <p:spPr>
          <a:xfrm>
            <a:off x="4751477" y="4894279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262F8-8FAA-9DB5-7CCA-039A56C95CE9}"/>
              </a:ext>
            </a:extLst>
          </p:cNvPr>
          <p:cNvSpPr/>
          <p:nvPr/>
        </p:nvSpPr>
        <p:spPr>
          <a:xfrm>
            <a:off x="-36163" y="5736908"/>
            <a:ext cx="290459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62C49-EFDC-22CA-2543-0D8B286AB660}"/>
              </a:ext>
            </a:extLst>
          </p:cNvPr>
          <p:cNvSpPr txBox="1"/>
          <p:nvPr/>
        </p:nvSpPr>
        <p:spPr>
          <a:xfrm>
            <a:off x="2890342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1B56BC-A755-8896-73A9-DB5905A01F19}"/>
              </a:ext>
            </a:extLst>
          </p:cNvPr>
          <p:cNvSpPr/>
          <p:nvPr/>
        </p:nvSpPr>
        <p:spPr>
          <a:xfrm>
            <a:off x="3158980" y="5728373"/>
            <a:ext cx="26934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A1428-16FF-CEC1-8A19-342D41119ADB}"/>
              </a:ext>
            </a:extLst>
          </p:cNvPr>
          <p:cNvSpPr txBox="1"/>
          <p:nvPr/>
        </p:nvSpPr>
        <p:spPr>
          <a:xfrm>
            <a:off x="5852435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837DD-8BEB-ADF7-2F60-CCB635D26368}"/>
              </a:ext>
            </a:extLst>
          </p:cNvPr>
          <p:cNvSpPr/>
          <p:nvPr/>
        </p:nvSpPr>
        <p:spPr>
          <a:xfrm>
            <a:off x="6121074" y="5723712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992897-7DA1-54C3-CF70-7D79B873533C}"/>
              </a:ext>
            </a:extLst>
          </p:cNvPr>
          <p:cNvSpPr/>
          <p:nvPr/>
        </p:nvSpPr>
        <p:spPr>
          <a:xfrm>
            <a:off x="9042505" y="5703996"/>
            <a:ext cx="14071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4F2254-5DE8-9836-6714-0382D056F020}"/>
              </a:ext>
            </a:extLst>
          </p:cNvPr>
          <p:cNvSpPr txBox="1"/>
          <p:nvPr/>
        </p:nvSpPr>
        <p:spPr>
          <a:xfrm>
            <a:off x="8814528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2BB8377-EF57-2BE7-E70C-42C1A3ADF7A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449687" y="5855750"/>
            <a:ext cx="501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5D59B0B-20EE-068D-77EB-CF3DF5135AD5}"/>
              </a:ext>
            </a:extLst>
          </p:cNvPr>
          <p:cNvSpPr/>
          <p:nvPr/>
        </p:nvSpPr>
        <p:spPr>
          <a:xfrm>
            <a:off x="11059287" y="5703996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BC80C9F-7D89-9DF9-7853-F73D7FD48FA6}"/>
              </a:ext>
            </a:extLst>
          </p:cNvPr>
          <p:cNvSpPr txBox="1"/>
          <p:nvPr/>
        </p:nvSpPr>
        <p:spPr>
          <a:xfrm>
            <a:off x="240556" y="6106213"/>
            <a:ext cx="572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决定邻居原子之前积累的方向信息，要以多大强度传递给目标原子。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16CE25B-2732-F171-AD93-4597C6A85AA3}"/>
              </a:ext>
            </a:extLst>
          </p:cNvPr>
          <p:cNvSpPr txBox="1"/>
          <p:nvPr/>
        </p:nvSpPr>
        <p:spPr>
          <a:xfrm>
            <a:off x="6022916" y="6046817"/>
            <a:ext cx="572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根据两个原子的相对方向，为目标原子创建新的方向特征。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129C11-8F34-F49D-B38D-3EE3CF58A64B}"/>
              </a:ext>
            </a:extLst>
          </p:cNvPr>
          <p:cNvSpPr/>
          <p:nvPr/>
        </p:nvSpPr>
        <p:spPr>
          <a:xfrm>
            <a:off x="6121074" y="6473883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F9AA6F5-8AF4-9A4A-D50F-F66341FA7861}"/>
              </a:ext>
            </a:extLst>
          </p:cNvPr>
          <p:cNvSpPr txBox="1"/>
          <p:nvPr/>
        </p:nvSpPr>
        <p:spPr>
          <a:xfrm>
            <a:off x="8814527" y="6440971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72E696-12E6-6821-4F0C-60E9188B0551}"/>
              </a:ext>
            </a:extLst>
          </p:cNvPr>
          <p:cNvSpPr/>
          <p:nvPr/>
        </p:nvSpPr>
        <p:spPr>
          <a:xfrm>
            <a:off x="9067754" y="6473883"/>
            <a:ext cx="43589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:[num_edges,3,num_heads,head_dim]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❌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9B6BDF8-277B-FEBD-BCAF-C4C14C32375B}"/>
              </a:ext>
            </a:extLst>
          </p:cNvPr>
          <p:cNvCxnSpPr/>
          <p:nvPr/>
        </p:nvCxnSpPr>
        <p:spPr>
          <a:xfrm flipV="1">
            <a:off x="10781654" y="5855750"/>
            <a:ext cx="0" cy="61813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23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DACB-195F-5950-821A-B6428A31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740045CC-F554-7803-77E8-0BCCF8723D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C564EE5-F7DC-8AA7-0CB8-2B860DAC4782}"/>
              </a:ext>
            </a:extLst>
          </p:cNvPr>
          <p:cNvSpPr txBox="1"/>
          <p:nvPr/>
        </p:nvSpPr>
        <p:spPr>
          <a:xfrm>
            <a:off x="1813302" y="724977"/>
            <a:ext cx="316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47D11F-CE27-4740-5FEF-ACC7879CC475}"/>
              </a:ext>
            </a:extLst>
          </p:cNvPr>
          <p:cNvSpPr/>
          <p:nvPr/>
        </p:nvSpPr>
        <p:spPr>
          <a:xfrm>
            <a:off x="530772" y="1577642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00B4DC-6D2D-9581-437D-ABB6C8852167}"/>
              </a:ext>
            </a:extLst>
          </p:cNvPr>
          <p:cNvSpPr/>
          <p:nvPr/>
        </p:nvSpPr>
        <p:spPr>
          <a:xfrm>
            <a:off x="223390" y="2364483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ACE368-4C21-465A-8970-542F0C295173}"/>
              </a:ext>
            </a:extLst>
          </p:cNvPr>
          <p:cNvSpPr txBox="1"/>
          <p:nvPr/>
        </p:nvSpPr>
        <p:spPr>
          <a:xfrm>
            <a:off x="340963" y="1297270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每条边源原子传递给目标原子的标量特征信息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8FFB7B-D1D1-E121-9E58-DD46096C64E2}"/>
              </a:ext>
            </a:extLst>
          </p:cNvPr>
          <p:cNvSpPr txBox="1"/>
          <p:nvPr/>
        </p:nvSpPr>
        <p:spPr>
          <a:xfrm>
            <a:off x="348712" y="20874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每条边源原子传递给目标原子的向量特征信息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B869AFF-4DFA-ED14-C221-C0ED319F3A83}"/>
              </a:ext>
            </a:extLst>
          </p:cNvPr>
          <p:cNvCxnSpPr>
            <a:stCxn id="13" idx="3"/>
          </p:cNvCxnSpPr>
          <p:nvPr/>
        </p:nvCxnSpPr>
        <p:spPr>
          <a:xfrm>
            <a:off x="2987254" y="1729396"/>
            <a:ext cx="995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04675CD-E919-82CF-308B-B4D05A4FB5AF}"/>
              </a:ext>
            </a:extLst>
          </p:cNvPr>
          <p:cNvCxnSpPr>
            <a:stCxn id="15" idx="3"/>
          </p:cNvCxnSpPr>
          <p:nvPr/>
        </p:nvCxnSpPr>
        <p:spPr>
          <a:xfrm>
            <a:off x="2987254" y="2516237"/>
            <a:ext cx="995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BCF8BE4-1FF8-73B0-03DA-304AC89707FB}"/>
              </a:ext>
            </a:extLst>
          </p:cNvPr>
          <p:cNvSpPr/>
          <p:nvPr/>
        </p:nvSpPr>
        <p:spPr>
          <a:xfrm>
            <a:off x="3983064" y="1580445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70B0F9-834C-2D97-D1C1-5DBB672BE3D4}"/>
              </a:ext>
            </a:extLst>
          </p:cNvPr>
          <p:cNvSpPr txBox="1"/>
          <p:nvPr/>
        </p:nvSpPr>
        <p:spPr>
          <a:xfrm>
            <a:off x="3884908" y="1330525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每个原子接受的标量特征信息汇总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855336-96A0-F2DD-0B9C-852A586EB1B2}"/>
              </a:ext>
            </a:extLst>
          </p:cNvPr>
          <p:cNvSpPr/>
          <p:nvPr/>
        </p:nvSpPr>
        <p:spPr>
          <a:xfrm>
            <a:off x="3983064" y="2382015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8B864B-BCA6-808E-0B5C-D8E15B553A6A}"/>
              </a:ext>
            </a:extLst>
          </p:cNvPr>
          <p:cNvSpPr txBox="1"/>
          <p:nvPr/>
        </p:nvSpPr>
        <p:spPr>
          <a:xfrm>
            <a:off x="3884908" y="2103540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每个原子接受的向量特征信息汇总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486BD74-26E3-D2C2-D867-9B3DA2BA1093}"/>
              </a:ext>
            </a:extLst>
          </p:cNvPr>
          <p:cNvCxnSpPr>
            <a:stCxn id="25" idx="3"/>
          </p:cNvCxnSpPr>
          <p:nvPr/>
        </p:nvCxnSpPr>
        <p:spPr>
          <a:xfrm flipV="1">
            <a:off x="6266481" y="1729396"/>
            <a:ext cx="1322522" cy="2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7519F58-DDCE-9D2D-3B6C-0FF6FB804880}"/>
              </a:ext>
            </a:extLst>
          </p:cNvPr>
          <p:cNvSpPr/>
          <p:nvPr/>
        </p:nvSpPr>
        <p:spPr>
          <a:xfrm>
            <a:off x="6562195" y="1465436"/>
            <a:ext cx="716841" cy="2030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E4B9296-651B-92AA-2881-B4A2E1D1CE71}"/>
              </a:ext>
            </a:extLst>
          </p:cNvPr>
          <p:cNvSpPr/>
          <p:nvPr/>
        </p:nvSpPr>
        <p:spPr>
          <a:xfrm>
            <a:off x="6504122" y="1792637"/>
            <a:ext cx="924732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F8AB269-75F5-6498-0922-68ACCE9C18CD}"/>
              </a:ext>
            </a:extLst>
          </p:cNvPr>
          <p:cNvSpPr/>
          <p:nvPr/>
        </p:nvSpPr>
        <p:spPr>
          <a:xfrm>
            <a:off x="7630332" y="1210304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o1:[num_atoms,hidden_channels]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C6023E0-5F90-293D-E806-0613E0B2350C}"/>
              </a:ext>
            </a:extLst>
          </p:cNvPr>
          <p:cNvSpPr/>
          <p:nvPr/>
        </p:nvSpPr>
        <p:spPr>
          <a:xfrm>
            <a:off x="7630332" y="1820696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o3:[num_atoms,hidden_channels]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0597F14-C256-145A-99A6-94A2E5FD7153}"/>
              </a:ext>
            </a:extLst>
          </p:cNvPr>
          <p:cNvSpPr/>
          <p:nvPr/>
        </p:nvSpPr>
        <p:spPr>
          <a:xfrm>
            <a:off x="7630332" y="1517188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o2:[num_atoms,hidden_channels]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F30EDD7-3BE4-FD9E-3C69-AA0999BE9666}"/>
              </a:ext>
            </a:extLst>
          </p:cNvPr>
          <p:cNvSpPr/>
          <p:nvPr/>
        </p:nvSpPr>
        <p:spPr>
          <a:xfrm>
            <a:off x="3089329" y="1807293"/>
            <a:ext cx="743918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81483C4-DDAD-9DB0-E26D-C848A8109994}"/>
              </a:ext>
            </a:extLst>
          </p:cNvPr>
          <p:cNvSpPr/>
          <p:nvPr/>
        </p:nvSpPr>
        <p:spPr>
          <a:xfrm>
            <a:off x="3080243" y="2603502"/>
            <a:ext cx="743918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596B410-55D6-7952-E26E-72322F180850}"/>
              </a:ext>
            </a:extLst>
          </p:cNvPr>
          <p:cNvSpPr txBox="1"/>
          <p:nvPr/>
        </p:nvSpPr>
        <p:spPr>
          <a:xfrm>
            <a:off x="3186148" y="1492942"/>
            <a:ext cx="73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汇聚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DE045F8-0554-1D71-4777-EE3D04200332}"/>
              </a:ext>
            </a:extLst>
          </p:cNvPr>
          <p:cNvSpPr txBox="1"/>
          <p:nvPr/>
        </p:nvSpPr>
        <p:spPr>
          <a:xfrm>
            <a:off x="3181651" y="2258095"/>
            <a:ext cx="73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汇聚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4BC08B4-DA7A-A8C7-CF24-4E5630A06A4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444712" y="2533769"/>
            <a:ext cx="16040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F5CDE23-3922-336D-1886-0E46A8B16CB9}"/>
              </a:ext>
            </a:extLst>
          </p:cNvPr>
          <p:cNvSpPr/>
          <p:nvPr/>
        </p:nvSpPr>
        <p:spPr>
          <a:xfrm>
            <a:off x="6753342" y="2258095"/>
            <a:ext cx="952477" cy="2184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coors_norm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EE5920-DA94-1F43-6E53-54BC7160C6D2}"/>
              </a:ext>
            </a:extLst>
          </p:cNvPr>
          <p:cNvSpPr/>
          <p:nvPr/>
        </p:nvSpPr>
        <p:spPr>
          <a:xfrm>
            <a:off x="8092120" y="2379228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FABA1FB-C968-FF66-DADC-ED988946DE89}"/>
              </a:ext>
            </a:extLst>
          </p:cNvPr>
          <p:cNvSpPr txBox="1"/>
          <p:nvPr/>
        </p:nvSpPr>
        <p:spPr>
          <a:xfrm>
            <a:off x="5241009" y="3463272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DB4ECA9-C615-F37B-F327-214851D27EF8}"/>
              </a:ext>
            </a:extLst>
          </p:cNvPr>
          <p:cNvSpPr/>
          <p:nvPr/>
        </p:nvSpPr>
        <p:spPr>
          <a:xfrm>
            <a:off x="223390" y="352189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CFF5A55-DB77-3E4E-3BF3-3B86F4B10E3B}"/>
              </a:ext>
            </a:extLst>
          </p:cNvPr>
          <p:cNvSpPr txBox="1"/>
          <p:nvPr/>
        </p:nvSpPr>
        <p:spPr>
          <a:xfrm>
            <a:off x="2739280" y="3488981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0B57635-1ABD-32BD-BD13-7FD28E49F7E5}"/>
              </a:ext>
            </a:extLst>
          </p:cNvPr>
          <p:cNvSpPr/>
          <p:nvPr/>
        </p:nvSpPr>
        <p:spPr>
          <a:xfrm>
            <a:off x="2987254" y="3506513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o1:[num_atoms,hidden_channels]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73BC09C-9C6A-FC98-2F7F-792C4428C07B}"/>
              </a:ext>
            </a:extLst>
          </p:cNvPr>
          <p:cNvSpPr/>
          <p:nvPr/>
        </p:nvSpPr>
        <p:spPr>
          <a:xfrm>
            <a:off x="5581972" y="3488981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61ABC8E-B750-FB09-271D-0D43094E290D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8043620" y="3637947"/>
            <a:ext cx="728420" cy="2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4DFC1FB6-9B79-553D-F404-CB39782CD539}"/>
              </a:ext>
            </a:extLst>
          </p:cNvPr>
          <p:cNvSpPr/>
          <p:nvPr/>
        </p:nvSpPr>
        <p:spPr>
          <a:xfrm>
            <a:off x="8808203" y="3458996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49964FC-271A-187B-5F40-9EAE0DE231C7}"/>
              </a:ext>
            </a:extLst>
          </p:cNvPr>
          <p:cNvSpPr/>
          <p:nvPr/>
        </p:nvSpPr>
        <p:spPr>
          <a:xfrm>
            <a:off x="5581972" y="4111862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o3:[num_atoms,hidden_channels]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4A8F7D9-DBF1-96D9-5354-49887BDDC7D9}"/>
              </a:ext>
            </a:extLst>
          </p:cNvPr>
          <p:cNvSpPr/>
          <p:nvPr/>
        </p:nvSpPr>
        <p:spPr>
          <a:xfrm>
            <a:off x="2987254" y="4111862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o2:[num_atoms,hidden_channels]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927D693-87D2-7230-8949-643753581F72}"/>
              </a:ext>
            </a:extLst>
          </p:cNvPr>
          <p:cNvSpPr txBox="1"/>
          <p:nvPr/>
        </p:nvSpPr>
        <p:spPr>
          <a:xfrm flipV="1">
            <a:off x="5393409" y="4071747"/>
            <a:ext cx="18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6C0747F-A68C-A161-CEEF-B44F92FC48B8}"/>
              </a:ext>
            </a:extLst>
          </p:cNvPr>
          <p:cNvSpPr txBox="1"/>
          <p:nvPr/>
        </p:nvSpPr>
        <p:spPr>
          <a:xfrm>
            <a:off x="2722491" y="4069504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6098B10-E8DA-0302-A4AF-BC711FE882EF}"/>
              </a:ext>
            </a:extLst>
          </p:cNvPr>
          <p:cNvSpPr/>
          <p:nvPr/>
        </p:nvSpPr>
        <p:spPr>
          <a:xfrm>
            <a:off x="173021" y="4135328"/>
            <a:ext cx="254947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vec_dot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1AB8AF2C-235F-90C8-43F8-53EC90F2F777}"/>
              </a:ext>
            </a:extLst>
          </p:cNvPr>
          <p:cNvCxnSpPr>
            <a:stCxn id="73" idx="3"/>
          </p:cNvCxnSpPr>
          <p:nvPr/>
        </p:nvCxnSpPr>
        <p:spPr>
          <a:xfrm>
            <a:off x="7865389" y="4263616"/>
            <a:ext cx="9428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89A60027-18BA-A10A-42E7-EA243D62803D}"/>
              </a:ext>
            </a:extLst>
          </p:cNvPr>
          <p:cNvSpPr/>
          <p:nvPr/>
        </p:nvSpPr>
        <p:spPr>
          <a:xfrm>
            <a:off x="8808203" y="4135328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21288-49CB-82B8-71B0-8FA2A7FAF2D1}"/>
              </a:ext>
            </a:extLst>
          </p:cNvPr>
          <p:cNvSpPr txBox="1"/>
          <p:nvPr/>
        </p:nvSpPr>
        <p:spPr>
          <a:xfrm>
            <a:off x="9913749" y="1182424"/>
            <a:ext cx="2559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控制已有向量信息如何更新向量流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ED0ABB3-9D8A-83A1-25F4-7DA339A9B9F3}"/>
              </a:ext>
            </a:extLst>
          </p:cNvPr>
          <p:cNvSpPr txBox="1"/>
          <p:nvPr/>
        </p:nvSpPr>
        <p:spPr>
          <a:xfrm>
            <a:off x="9926948" y="1543697"/>
            <a:ext cx="25332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控制向量几何信息如何影响标量流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29F5D09-E2F9-4E49-C89A-C3604A73F86D}"/>
              </a:ext>
            </a:extLst>
          </p:cNvPr>
          <p:cNvSpPr txBox="1"/>
          <p:nvPr/>
        </p:nvSpPr>
        <p:spPr>
          <a:xfrm>
            <a:off x="9949911" y="1832247"/>
            <a:ext cx="1735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直接提供标量更新信息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1569FBF-F31F-6EFF-BD22-60C38404E3F9}"/>
              </a:ext>
            </a:extLst>
          </p:cNvPr>
          <p:cNvSpPr txBox="1"/>
          <p:nvPr/>
        </p:nvSpPr>
        <p:spPr>
          <a:xfrm>
            <a:off x="5487690" y="3164803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每个原子接受的向量特征信息汇总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5901F745-F6BE-1F82-8EFC-A97901219462}"/>
              </a:ext>
            </a:extLst>
          </p:cNvPr>
          <p:cNvSpPr txBox="1"/>
          <p:nvPr/>
        </p:nvSpPr>
        <p:spPr>
          <a:xfrm>
            <a:off x="-164242" y="3175838"/>
            <a:ext cx="44045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进入消息传播前的原子向量特征经过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vec_proj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得到的第三个投影</a:t>
            </a:r>
          </a:p>
        </p:txBody>
      </p:sp>
    </p:spTree>
    <p:extLst>
      <p:ext uri="{BB962C8B-B14F-4D97-AF65-F5344CB8AC3E}">
        <p14:creationId xmlns:p14="http://schemas.microsoft.com/office/powerpoint/2010/main" val="236789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E09B-F7CA-FD62-9E76-F6E94C82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E59ABD0D-BAD0-6C4D-F369-945588999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70CB86-6643-2EA2-ECB5-CD5CFFFCC718}"/>
              </a:ext>
            </a:extLst>
          </p:cNvPr>
          <p:cNvSpPr/>
          <p:nvPr/>
        </p:nvSpPr>
        <p:spPr>
          <a:xfrm>
            <a:off x="3616272" y="2705746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288E060-A43E-DAF3-067E-C9779D49FA7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887851" y="3429000"/>
            <a:ext cx="728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5BC8978-CD96-ED42-DA0B-E667998F1D8C}"/>
              </a:ext>
            </a:extLst>
          </p:cNvPr>
          <p:cNvSpPr/>
          <p:nvPr/>
        </p:nvSpPr>
        <p:spPr>
          <a:xfrm>
            <a:off x="10748028" y="3078351"/>
            <a:ext cx="1033219" cy="70129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0E13D8D-5D5C-5BE4-3856-8797015310D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493791" y="3429000"/>
            <a:ext cx="754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D528DBE-DA02-9209-66E1-C2C2581B590E}"/>
              </a:ext>
            </a:extLst>
          </p:cNvPr>
          <p:cNvSpPr/>
          <p:nvPr/>
        </p:nvSpPr>
        <p:spPr>
          <a:xfrm>
            <a:off x="410753" y="3107410"/>
            <a:ext cx="2464945" cy="91362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</a:t>
            </a: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:[num_atoms,3,hidden_channels];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z:[num_atoms];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7B3BDB-05F4-F05E-ED84-C13859D64BB9}"/>
              </a:ext>
            </a:extLst>
          </p:cNvPr>
          <p:cNvSpPr txBox="1"/>
          <p:nvPr/>
        </p:nvSpPr>
        <p:spPr>
          <a:xfrm>
            <a:off x="-57127" y="2801353"/>
            <a:ext cx="3604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标量特征，向量特征，原子序数，原子坐标，批次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F8B0C6-110E-D601-4494-36249EBBCC00}"/>
              </a:ext>
            </a:extLst>
          </p:cNvPr>
          <p:cNvSpPr/>
          <p:nvPr/>
        </p:nvSpPr>
        <p:spPr>
          <a:xfrm>
            <a:off x="7248041" y="3078351"/>
            <a:ext cx="2216260" cy="70129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_,v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4CA3123-44CD-3520-9F54-AEE2F08C9E24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9464301" y="3429000"/>
            <a:ext cx="1283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01BE031-8034-9891-1CDF-BA5300F271C0}"/>
              </a:ext>
            </a:extLst>
          </p:cNvPr>
          <p:cNvSpPr/>
          <p:nvPr/>
        </p:nvSpPr>
        <p:spPr>
          <a:xfrm>
            <a:off x="9752286" y="3078351"/>
            <a:ext cx="707757" cy="26862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89CC6A-CAB7-E79F-7E71-41FDE3265417}"/>
              </a:ext>
            </a:extLst>
          </p:cNvPr>
          <p:cNvSpPr txBox="1"/>
          <p:nvPr/>
        </p:nvSpPr>
        <p:spPr>
          <a:xfrm>
            <a:off x="1813302" y="788071"/>
            <a:ext cx="6124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self.output_model = EquivariantVectorOutput</a:t>
            </a:r>
            <a:endParaRPr lang="zh-CN" altLang="zh-CN" sz="10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C8A65F1-8DCE-9EEB-5EE8-BC72709DFB77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5644C94-A1D6-3065-3806-44E2C1E40DF9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STAGEⅢ</a:t>
            </a: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590B72E-22A4-C0E9-7A7B-7E0CCABA1565}"/>
              </a:ext>
            </a:extLst>
          </p:cNvPr>
          <p:cNvSpPr txBox="1"/>
          <p:nvPr/>
        </p:nvSpPr>
        <p:spPr>
          <a:xfrm>
            <a:off x="6194156" y="83423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b="1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3D 几何专用输出层，专门预测「带方向的 3D 向量属性」</a:t>
            </a:r>
            <a:endParaRPr lang="zh-CN" altLang="zh-CN" sz="700" b="1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6C9E439-2D23-5B92-0CC4-EB4EBAE8C7A3}"/>
              </a:ext>
            </a:extLst>
          </p:cNvPr>
          <p:cNvSpPr/>
          <p:nvPr/>
        </p:nvSpPr>
        <p:spPr>
          <a:xfrm>
            <a:off x="4170717" y="3142918"/>
            <a:ext cx="1768628" cy="40812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7958BD4-2280-FA47-40A0-19A54C3D27F6}"/>
              </a:ext>
            </a:extLst>
          </p:cNvPr>
          <p:cNvSpPr/>
          <p:nvPr/>
        </p:nvSpPr>
        <p:spPr>
          <a:xfrm>
            <a:off x="4170717" y="3551039"/>
            <a:ext cx="1768628" cy="40812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00485F-37FD-57A4-126A-B54D173E1DDE}"/>
              </a:ext>
            </a:extLst>
          </p:cNvPr>
          <p:cNvSpPr txBox="1"/>
          <p:nvPr/>
        </p:nvSpPr>
        <p:spPr>
          <a:xfrm>
            <a:off x="4081336" y="2765148"/>
            <a:ext cx="2694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output_model.pre_reduce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052CAA-4F31-4EBB-1CDB-5743B30CFF69}"/>
              </a:ext>
            </a:extLst>
          </p:cNvPr>
          <p:cNvSpPr txBox="1"/>
          <p:nvPr/>
        </p:nvSpPr>
        <p:spPr>
          <a:xfrm>
            <a:off x="9577953" y="3820660"/>
            <a:ext cx="2438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这个时刻的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该往哪个方向移动</a:t>
            </a:r>
          </a:p>
        </p:txBody>
      </p:sp>
    </p:spTree>
    <p:extLst>
      <p:ext uri="{BB962C8B-B14F-4D97-AF65-F5344CB8AC3E}">
        <p14:creationId xmlns:p14="http://schemas.microsoft.com/office/powerpoint/2010/main" val="46539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4F44-26B0-F327-7064-A70F21FF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A5744308-5AA3-A9E3-8475-BCDECD098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F93DC53-0536-5F4F-018B-CEE090358B4A}"/>
              </a:ext>
            </a:extLst>
          </p:cNvPr>
          <p:cNvSpPr txBox="1"/>
          <p:nvPr/>
        </p:nvSpPr>
        <p:spPr>
          <a:xfrm>
            <a:off x="1813302" y="788071"/>
            <a:ext cx="256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118E24-8786-941D-68FD-B26E2FB7E67F}"/>
              </a:ext>
            </a:extLst>
          </p:cNvPr>
          <p:cNvSpPr/>
          <p:nvPr/>
        </p:nvSpPr>
        <p:spPr>
          <a:xfrm>
            <a:off x="139579" y="1639492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CEAB14-7149-C62D-A159-0BC75075DE76}"/>
              </a:ext>
            </a:extLst>
          </p:cNvPr>
          <p:cNvSpPr/>
          <p:nvPr/>
        </p:nvSpPr>
        <p:spPr>
          <a:xfrm>
            <a:off x="93084" y="247873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0F3142-A321-83B2-683B-F84E3AD8DA35}"/>
              </a:ext>
            </a:extLst>
          </p:cNvPr>
          <p:cNvSpPr txBox="1"/>
          <p:nvPr/>
        </p:nvSpPr>
        <p:spPr>
          <a:xfrm>
            <a:off x="1077872" y="1371149"/>
            <a:ext cx="853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6B747F-C295-7662-83A3-1309FDCD3A51}"/>
              </a:ext>
            </a:extLst>
          </p:cNvPr>
          <p:cNvSpPr txBox="1"/>
          <p:nvPr/>
        </p:nvSpPr>
        <p:spPr>
          <a:xfrm>
            <a:off x="1077872" y="2194327"/>
            <a:ext cx="977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DC0B977-61D7-C93C-854C-8384C8838C0E}"/>
              </a:ext>
            </a:extLst>
          </p:cNvPr>
          <p:cNvCxnSpPr>
            <a:stCxn id="14" idx="3"/>
          </p:cNvCxnSpPr>
          <p:nvPr/>
        </p:nvCxnSpPr>
        <p:spPr>
          <a:xfrm>
            <a:off x="2598643" y="2630487"/>
            <a:ext cx="1405085" cy="1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7CB7D13-33B1-D31D-6095-061B54F10C6B}"/>
              </a:ext>
            </a:extLst>
          </p:cNvPr>
          <p:cNvSpPr/>
          <p:nvPr/>
        </p:nvSpPr>
        <p:spPr>
          <a:xfrm>
            <a:off x="2820692" y="235381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C21AD2-42ED-F083-CC58-CD71D5D72ECA}"/>
              </a:ext>
            </a:extLst>
          </p:cNvPr>
          <p:cNvSpPr/>
          <p:nvPr/>
        </p:nvSpPr>
        <p:spPr>
          <a:xfrm>
            <a:off x="4073565" y="2495330"/>
            <a:ext cx="30401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vec1_buffer:[num_atoms,3,hidden_channels]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5CC949F-BD5B-8C68-3193-1EE27ED9254F}"/>
              </a:ext>
            </a:extLst>
          </p:cNvPr>
          <p:cNvCxnSpPr>
            <a:stCxn id="27" idx="3"/>
          </p:cNvCxnSpPr>
          <p:nvPr/>
        </p:nvCxnSpPr>
        <p:spPr>
          <a:xfrm>
            <a:off x="7113724" y="2647084"/>
            <a:ext cx="1276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D40ABA2-8CD8-BD1B-46A7-C6E4E6638776}"/>
              </a:ext>
            </a:extLst>
          </p:cNvPr>
          <p:cNvSpPr/>
          <p:nvPr/>
        </p:nvSpPr>
        <p:spPr>
          <a:xfrm>
            <a:off x="7248041" y="234071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torch.zeros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07C574-A4E6-1B85-5B0D-E0335491D1D9}"/>
              </a:ext>
            </a:extLst>
          </p:cNvPr>
          <p:cNvSpPr/>
          <p:nvPr/>
        </p:nvSpPr>
        <p:spPr>
          <a:xfrm>
            <a:off x="8389749" y="2478733"/>
            <a:ext cx="239190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BA76F7D-D66B-152B-B1FE-C4B12E417CBA}"/>
              </a:ext>
            </a:extLst>
          </p:cNvPr>
          <p:cNvSpPr/>
          <p:nvPr/>
        </p:nvSpPr>
        <p:spPr>
          <a:xfrm>
            <a:off x="7248041" y="269325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torch.norm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3A42391-EF8F-83AF-2178-3F4EE1CDA25B}"/>
              </a:ext>
            </a:extLst>
          </p:cNvPr>
          <p:cNvSpPr txBox="1"/>
          <p:nvPr/>
        </p:nvSpPr>
        <p:spPr>
          <a:xfrm>
            <a:off x="6775342" y="2967189"/>
            <a:ext cx="29885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计算三维空间维度范数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-&gt;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53A221D-3998-36E7-19FD-8F45AC58B4D0}"/>
              </a:ext>
            </a:extLst>
          </p:cNvPr>
          <p:cNvCxnSpPr/>
          <p:nvPr/>
        </p:nvCxnSpPr>
        <p:spPr>
          <a:xfrm>
            <a:off x="2676040" y="2630487"/>
            <a:ext cx="1327688" cy="759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8D099F1-037F-5995-2055-E97AC3E55F05}"/>
              </a:ext>
            </a:extLst>
          </p:cNvPr>
          <p:cNvSpPr/>
          <p:nvPr/>
        </p:nvSpPr>
        <p:spPr>
          <a:xfrm>
            <a:off x="3014421" y="343917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A84C985-94BB-A170-2345-4A65FE3CA59A}"/>
              </a:ext>
            </a:extLst>
          </p:cNvPr>
          <p:cNvSpPr/>
          <p:nvPr/>
        </p:nvSpPr>
        <p:spPr>
          <a:xfrm>
            <a:off x="4038645" y="3265325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2E4D143-8EC7-6384-024A-C1FF634575A0}"/>
              </a:ext>
            </a:extLst>
          </p:cNvPr>
          <p:cNvCxnSpPr>
            <a:stCxn id="6" idx="3"/>
          </p:cNvCxnSpPr>
          <p:nvPr/>
        </p:nvCxnSpPr>
        <p:spPr>
          <a:xfrm>
            <a:off x="2327423" y="1791246"/>
            <a:ext cx="7258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B0A3298-78A9-8799-9AC6-F96E89A50A16}"/>
              </a:ext>
            </a:extLst>
          </p:cNvPr>
          <p:cNvCxnSpPr/>
          <p:nvPr/>
        </p:nvCxnSpPr>
        <p:spPr>
          <a:xfrm>
            <a:off x="9061342" y="1791246"/>
            <a:ext cx="0" cy="676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2D496C57-C026-C465-3A7C-06913C6C0786}"/>
              </a:ext>
            </a:extLst>
          </p:cNvPr>
          <p:cNvSpPr/>
          <p:nvPr/>
        </p:nvSpPr>
        <p:spPr>
          <a:xfrm>
            <a:off x="9585700" y="1645985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x:[num_atoms,hidden_channels*2]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8EFE9A-30AD-1F97-B273-4982EF1958CC}"/>
              </a:ext>
            </a:extLst>
          </p:cNvPr>
          <p:cNvSpPr/>
          <p:nvPr/>
        </p:nvSpPr>
        <p:spPr>
          <a:xfrm>
            <a:off x="139579" y="458808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x:[num_atoms,hidden_channels*2]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CBAEE7F-7F61-18BD-B103-A40FC7F4C5BA}"/>
              </a:ext>
            </a:extLst>
          </p:cNvPr>
          <p:cNvCxnSpPr>
            <a:stCxn id="50" idx="3"/>
          </p:cNvCxnSpPr>
          <p:nvPr/>
        </p:nvCxnSpPr>
        <p:spPr>
          <a:xfrm flipV="1">
            <a:off x="2466906" y="4737315"/>
            <a:ext cx="1448999" cy="2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B35EA71-4D02-2836-A0E0-352E14B02911}"/>
              </a:ext>
            </a:extLst>
          </p:cNvPr>
          <p:cNvSpPr/>
          <p:nvPr/>
        </p:nvSpPr>
        <p:spPr>
          <a:xfrm>
            <a:off x="2554638" y="4001743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F95540D-1ED2-E0D8-E0EE-2C9BA37B7A1A}"/>
              </a:ext>
            </a:extLst>
          </p:cNvPr>
          <p:cNvSpPr/>
          <p:nvPr/>
        </p:nvSpPr>
        <p:spPr>
          <a:xfrm>
            <a:off x="2554638" y="4488554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458A93C-2AB9-2141-5A81-CEA823C49F96}"/>
              </a:ext>
            </a:extLst>
          </p:cNvPr>
          <p:cNvSpPr/>
          <p:nvPr/>
        </p:nvSpPr>
        <p:spPr>
          <a:xfrm>
            <a:off x="2554637" y="4245148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D027835-5B6D-B6F4-6D5C-175A6C8C6AF4}"/>
              </a:ext>
            </a:extLst>
          </p:cNvPr>
          <p:cNvSpPr/>
          <p:nvPr/>
        </p:nvSpPr>
        <p:spPr>
          <a:xfrm>
            <a:off x="4003637" y="460274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4A580DB-B18E-83D6-DA6A-29A5BBA5B041}"/>
              </a:ext>
            </a:extLst>
          </p:cNvPr>
          <p:cNvSpPr/>
          <p:nvPr/>
        </p:nvSpPr>
        <p:spPr>
          <a:xfrm>
            <a:off x="7403022" y="4761179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990E4B8-184F-3B97-C2EF-B19F7D61F7D1}"/>
              </a:ext>
            </a:extLst>
          </p:cNvPr>
          <p:cNvSpPr/>
          <p:nvPr/>
        </p:nvSpPr>
        <p:spPr>
          <a:xfrm>
            <a:off x="7397767" y="445098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06FC023-72E3-0C93-A154-5F905AEEF587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330964" y="4754494"/>
            <a:ext cx="1072058" cy="14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226BFD6-DD97-E3C2-6E86-9041E4C16A72}"/>
              </a:ext>
            </a:extLst>
          </p:cNvPr>
          <p:cNvSpPr/>
          <p:nvPr/>
        </p:nvSpPr>
        <p:spPr>
          <a:xfrm>
            <a:off x="6576399" y="4460663"/>
            <a:ext cx="534691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6F6BD38-1A20-E478-9DC5-E4C31876752F}"/>
              </a:ext>
            </a:extLst>
          </p:cNvPr>
          <p:cNvCxnSpPr>
            <a:stCxn id="62" idx="3"/>
          </p:cNvCxnSpPr>
          <p:nvPr/>
        </p:nvCxnSpPr>
        <p:spPr>
          <a:xfrm>
            <a:off x="9730349" y="4912933"/>
            <a:ext cx="854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B05366C-F685-FA8E-4D4E-1EEA138F15D3}"/>
              </a:ext>
            </a:extLst>
          </p:cNvPr>
          <p:cNvCxnSpPr>
            <a:stCxn id="64" idx="3"/>
          </p:cNvCxnSpPr>
          <p:nvPr/>
        </p:nvCxnSpPr>
        <p:spPr>
          <a:xfrm>
            <a:off x="9725094" y="4602740"/>
            <a:ext cx="84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C3843C7-A2AC-9902-08D0-464C2860BE83}"/>
              </a:ext>
            </a:extLst>
          </p:cNvPr>
          <p:cNvSpPr/>
          <p:nvPr/>
        </p:nvSpPr>
        <p:spPr>
          <a:xfrm>
            <a:off x="9763932" y="4984807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8174D8F-A7CE-72EF-6B19-A72EAABADD0E}"/>
              </a:ext>
            </a:extLst>
          </p:cNvPr>
          <p:cNvSpPr/>
          <p:nvPr/>
        </p:nvSpPr>
        <p:spPr>
          <a:xfrm>
            <a:off x="10618923" y="477181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18E91923-6D8B-2847-2DC4-F1F36C0A40F2}"/>
              </a:ext>
            </a:extLst>
          </p:cNvPr>
          <p:cNvCxnSpPr>
            <a:stCxn id="42" idx="3"/>
            <a:endCxn id="64" idx="0"/>
          </p:cNvCxnSpPr>
          <p:nvPr/>
        </p:nvCxnSpPr>
        <p:spPr>
          <a:xfrm>
            <a:off x="6679769" y="3417079"/>
            <a:ext cx="1881662" cy="1033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B091E003-D9F6-C28B-8D18-DEDD4DEA0D8A}"/>
              </a:ext>
            </a:extLst>
          </p:cNvPr>
          <p:cNvSpPr/>
          <p:nvPr/>
        </p:nvSpPr>
        <p:spPr>
          <a:xfrm>
            <a:off x="8618993" y="3816148"/>
            <a:ext cx="401022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8BDD93F-51C2-E19D-0ACE-A62DD8ACBD5D}"/>
              </a:ext>
            </a:extLst>
          </p:cNvPr>
          <p:cNvSpPr/>
          <p:nvPr/>
        </p:nvSpPr>
        <p:spPr>
          <a:xfrm>
            <a:off x="10618923" y="4436326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3605560-EEF0-31E8-B999-7327746326FD}"/>
              </a:ext>
            </a:extLst>
          </p:cNvPr>
          <p:cNvSpPr/>
          <p:nvPr/>
        </p:nvSpPr>
        <p:spPr>
          <a:xfrm>
            <a:off x="9087174" y="2060546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 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6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7704-574E-5FD8-52A5-7D56E082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480C6DF7-F60F-2D80-CD16-0D8ED4E2E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57D6C81-F86F-CDD8-3975-8A8A8C34A6C5}"/>
              </a:ext>
            </a:extLst>
          </p:cNvPr>
          <p:cNvSpPr txBox="1"/>
          <p:nvPr/>
        </p:nvSpPr>
        <p:spPr>
          <a:xfrm>
            <a:off x="1813302" y="788071"/>
            <a:ext cx="256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7D174C-7EF8-1FD4-EB4A-09FD136971AD}"/>
              </a:ext>
            </a:extLst>
          </p:cNvPr>
          <p:cNvSpPr/>
          <p:nvPr/>
        </p:nvSpPr>
        <p:spPr>
          <a:xfrm>
            <a:off x="0" y="1639492"/>
            <a:ext cx="232742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579757-91D2-3E73-DD71-9E9E35DCAFF0}"/>
              </a:ext>
            </a:extLst>
          </p:cNvPr>
          <p:cNvSpPr/>
          <p:nvPr/>
        </p:nvSpPr>
        <p:spPr>
          <a:xfrm>
            <a:off x="0" y="2478733"/>
            <a:ext cx="259864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2C3835-2278-F647-A972-4EA5A20114A0}"/>
              </a:ext>
            </a:extLst>
          </p:cNvPr>
          <p:cNvSpPr txBox="1"/>
          <p:nvPr/>
        </p:nvSpPr>
        <p:spPr>
          <a:xfrm>
            <a:off x="1077872" y="1371149"/>
            <a:ext cx="853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D0A684-C09A-9825-A599-2125795041AD}"/>
              </a:ext>
            </a:extLst>
          </p:cNvPr>
          <p:cNvSpPr txBox="1"/>
          <p:nvPr/>
        </p:nvSpPr>
        <p:spPr>
          <a:xfrm>
            <a:off x="1077872" y="2194327"/>
            <a:ext cx="977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69E34F1-AD7D-EA01-0787-0F401CD8DC9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598643" y="2630487"/>
            <a:ext cx="1405085" cy="1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5862458-5ECA-5D05-B069-F63171F88D0E}"/>
              </a:ext>
            </a:extLst>
          </p:cNvPr>
          <p:cNvSpPr/>
          <p:nvPr/>
        </p:nvSpPr>
        <p:spPr>
          <a:xfrm>
            <a:off x="2820692" y="235381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F28B16-B088-50D5-1671-10F531C34D28}"/>
              </a:ext>
            </a:extLst>
          </p:cNvPr>
          <p:cNvSpPr/>
          <p:nvPr/>
        </p:nvSpPr>
        <p:spPr>
          <a:xfrm>
            <a:off x="4003637" y="2495330"/>
            <a:ext cx="311008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vec1_buffer:[num_atoms,3,hidden_channels//2]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DEE80A2-D264-D97B-8ADE-C2103B526E6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113724" y="2647084"/>
            <a:ext cx="1276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6C987CA-DF9A-54DB-A754-21279FFFC311}"/>
              </a:ext>
            </a:extLst>
          </p:cNvPr>
          <p:cNvSpPr/>
          <p:nvPr/>
        </p:nvSpPr>
        <p:spPr>
          <a:xfrm>
            <a:off x="7248041" y="234071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torch.zeros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B5825A-2B9B-414F-D152-5BF0D841032F}"/>
              </a:ext>
            </a:extLst>
          </p:cNvPr>
          <p:cNvSpPr/>
          <p:nvPr/>
        </p:nvSpPr>
        <p:spPr>
          <a:xfrm>
            <a:off x="8389749" y="2478733"/>
            <a:ext cx="25933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91CC362-1A56-990C-1DF6-251240C98363}"/>
              </a:ext>
            </a:extLst>
          </p:cNvPr>
          <p:cNvSpPr/>
          <p:nvPr/>
        </p:nvSpPr>
        <p:spPr>
          <a:xfrm>
            <a:off x="7248041" y="269325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torch.norm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50C330-D43A-93B4-23F1-1B66E412E6CF}"/>
              </a:ext>
            </a:extLst>
          </p:cNvPr>
          <p:cNvSpPr txBox="1"/>
          <p:nvPr/>
        </p:nvSpPr>
        <p:spPr>
          <a:xfrm>
            <a:off x="6775342" y="2967189"/>
            <a:ext cx="29885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计算三维空间维度范数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-&gt;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D54A66BF-F1CD-2BD5-F0D5-85D0081EAB05}"/>
              </a:ext>
            </a:extLst>
          </p:cNvPr>
          <p:cNvCxnSpPr/>
          <p:nvPr/>
        </p:nvCxnSpPr>
        <p:spPr>
          <a:xfrm>
            <a:off x="2676040" y="2630487"/>
            <a:ext cx="1327688" cy="759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29B5B5E-9B5A-D7D4-689F-69E60E784A7A}"/>
              </a:ext>
            </a:extLst>
          </p:cNvPr>
          <p:cNvSpPr/>
          <p:nvPr/>
        </p:nvSpPr>
        <p:spPr>
          <a:xfrm>
            <a:off x="3014421" y="343917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BC2442E-B0C5-3F3C-0FE5-281554DFD56D}"/>
              </a:ext>
            </a:extLst>
          </p:cNvPr>
          <p:cNvSpPr/>
          <p:nvPr/>
        </p:nvSpPr>
        <p:spPr>
          <a:xfrm>
            <a:off x="4038645" y="3265325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9D96A18-DF3B-AE22-CE0D-47B0CA9033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27423" y="1791246"/>
            <a:ext cx="7258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01CAEF6-214B-8ACC-0CB7-1BBD4241D02B}"/>
              </a:ext>
            </a:extLst>
          </p:cNvPr>
          <p:cNvCxnSpPr/>
          <p:nvPr/>
        </p:nvCxnSpPr>
        <p:spPr>
          <a:xfrm>
            <a:off x="9061342" y="1791246"/>
            <a:ext cx="0" cy="676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B03D033-D4EB-80D7-BDB6-9C90ED64D2E5}"/>
              </a:ext>
            </a:extLst>
          </p:cNvPr>
          <p:cNvSpPr/>
          <p:nvPr/>
        </p:nvSpPr>
        <p:spPr>
          <a:xfrm>
            <a:off x="9585700" y="1645985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15417C9-AA53-DAD2-07FB-83C2C9764952}"/>
              </a:ext>
            </a:extLst>
          </p:cNvPr>
          <p:cNvSpPr/>
          <p:nvPr/>
        </p:nvSpPr>
        <p:spPr>
          <a:xfrm>
            <a:off x="139579" y="458808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5C00431-8A2E-A241-F58E-73E68833D905}"/>
              </a:ext>
            </a:extLst>
          </p:cNvPr>
          <p:cNvCxnSpPr>
            <a:stCxn id="50" idx="3"/>
          </p:cNvCxnSpPr>
          <p:nvPr/>
        </p:nvCxnSpPr>
        <p:spPr>
          <a:xfrm flipV="1">
            <a:off x="2466906" y="4737315"/>
            <a:ext cx="1448999" cy="2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6C2E1EB-8902-114D-F479-05DF6AE4A99C}"/>
              </a:ext>
            </a:extLst>
          </p:cNvPr>
          <p:cNvSpPr/>
          <p:nvPr/>
        </p:nvSpPr>
        <p:spPr>
          <a:xfrm>
            <a:off x="2554638" y="4001743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DB5AB3D-3A4C-0525-CDD4-97A4BEDBA489}"/>
              </a:ext>
            </a:extLst>
          </p:cNvPr>
          <p:cNvSpPr/>
          <p:nvPr/>
        </p:nvSpPr>
        <p:spPr>
          <a:xfrm>
            <a:off x="2554638" y="4488554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3EC7F682-D127-EE82-8586-2138E4B30CEF}"/>
              </a:ext>
            </a:extLst>
          </p:cNvPr>
          <p:cNvSpPr/>
          <p:nvPr/>
        </p:nvSpPr>
        <p:spPr>
          <a:xfrm>
            <a:off x="2554637" y="4245148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ABB7351-734A-9F7F-C442-9E8206EB5917}"/>
              </a:ext>
            </a:extLst>
          </p:cNvPr>
          <p:cNvSpPr/>
          <p:nvPr/>
        </p:nvSpPr>
        <p:spPr>
          <a:xfrm>
            <a:off x="3915905" y="4602740"/>
            <a:ext cx="24150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out:[num_atoms,hidden_channels+1]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50F9126-0B9E-AD66-06F2-3AFAABABC58B}"/>
              </a:ext>
            </a:extLst>
          </p:cNvPr>
          <p:cNvSpPr/>
          <p:nvPr/>
        </p:nvSpPr>
        <p:spPr>
          <a:xfrm>
            <a:off x="7403022" y="4761179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38FA0E2-ED6D-02CF-7689-4344A0E02C93}"/>
              </a:ext>
            </a:extLst>
          </p:cNvPr>
          <p:cNvSpPr/>
          <p:nvPr/>
        </p:nvSpPr>
        <p:spPr>
          <a:xfrm>
            <a:off x="7397767" y="445098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47C910A-7EC3-D686-3EAB-9F46F9A7287C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330964" y="4754494"/>
            <a:ext cx="1072058" cy="14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702CAF4-C9E9-6F40-1463-CD67CAA2D045}"/>
              </a:ext>
            </a:extLst>
          </p:cNvPr>
          <p:cNvSpPr/>
          <p:nvPr/>
        </p:nvSpPr>
        <p:spPr>
          <a:xfrm>
            <a:off x="6576399" y="4460663"/>
            <a:ext cx="534691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621A10FC-CA00-2C6B-05B0-9C49704DDA39}"/>
              </a:ext>
            </a:extLst>
          </p:cNvPr>
          <p:cNvCxnSpPr>
            <a:stCxn id="62" idx="3"/>
          </p:cNvCxnSpPr>
          <p:nvPr/>
        </p:nvCxnSpPr>
        <p:spPr>
          <a:xfrm>
            <a:off x="9730349" y="4912933"/>
            <a:ext cx="854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B783F84-2122-F39A-F937-C738B8C0F113}"/>
              </a:ext>
            </a:extLst>
          </p:cNvPr>
          <p:cNvCxnSpPr>
            <a:stCxn id="64" idx="3"/>
          </p:cNvCxnSpPr>
          <p:nvPr/>
        </p:nvCxnSpPr>
        <p:spPr>
          <a:xfrm>
            <a:off x="9725094" y="4602740"/>
            <a:ext cx="84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D27DDAA-8611-3B0A-31ED-FB18DDD55599}"/>
              </a:ext>
            </a:extLst>
          </p:cNvPr>
          <p:cNvSpPr/>
          <p:nvPr/>
        </p:nvSpPr>
        <p:spPr>
          <a:xfrm>
            <a:off x="9763932" y="4984807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0052EF6-D813-F205-CFE6-FE1C59BDD795}"/>
              </a:ext>
            </a:extLst>
          </p:cNvPr>
          <p:cNvSpPr/>
          <p:nvPr/>
        </p:nvSpPr>
        <p:spPr>
          <a:xfrm>
            <a:off x="10618923" y="477181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9183BC0F-0F40-9B8B-0E25-D42C88E8404F}"/>
              </a:ext>
            </a:extLst>
          </p:cNvPr>
          <p:cNvCxnSpPr>
            <a:stCxn id="42" idx="3"/>
            <a:endCxn id="64" idx="0"/>
          </p:cNvCxnSpPr>
          <p:nvPr/>
        </p:nvCxnSpPr>
        <p:spPr>
          <a:xfrm>
            <a:off x="6679769" y="3417079"/>
            <a:ext cx="1881662" cy="1033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1F395F85-2451-262C-A55C-6388B359C0E8}"/>
              </a:ext>
            </a:extLst>
          </p:cNvPr>
          <p:cNvSpPr/>
          <p:nvPr/>
        </p:nvSpPr>
        <p:spPr>
          <a:xfrm>
            <a:off x="8618993" y="3816148"/>
            <a:ext cx="401022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29E5ECD-4B28-6C02-BCFC-79EEEF792829}"/>
              </a:ext>
            </a:extLst>
          </p:cNvPr>
          <p:cNvSpPr/>
          <p:nvPr/>
        </p:nvSpPr>
        <p:spPr>
          <a:xfrm>
            <a:off x="10618923" y="4436326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v:[num_atoms,3,1]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DEDAEAB-3BE4-89D5-D721-2661025FBEDD}"/>
              </a:ext>
            </a:extLst>
          </p:cNvPr>
          <p:cNvSpPr/>
          <p:nvPr/>
        </p:nvSpPr>
        <p:spPr>
          <a:xfrm>
            <a:off x="9087174" y="2060546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 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831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CE9A-9793-3FE1-BAC5-E04175BD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3A98D582-425C-F456-07D8-3605A8211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0829801-DED1-3398-BFEF-7EB098E15C37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预测置信度与构象真实准确度具有经验相关性，并能用于样本排序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5387D1-9639-5263-9067-D1BDC84C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26" y="1374681"/>
            <a:ext cx="3062616" cy="289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42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30E9-082F-E175-3613-0B16DB84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F5E696DD-AAE1-8618-E5B0-3C225D2C3B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AE0F47E-DD87-C918-CC7C-3D47EF437B51}"/>
              </a:ext>
            </a:extLst>
          </p:cNvPr>
          <p:cNvSpPr txBox="1"/>
          <p:nvPr/>
        </p:nvSpPr>
        <p:spPr>
          <a:xfrm>
            <a:off x="609600" y="1330395"/>
            <a:ext cx="111432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显示条件化不会对模型等变性产生影响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向量特征的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nn.Linear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不会对模型等变性产生影响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都只作用于最后的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hidden_channels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特征通道，且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bias=False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；旋转作用于空间维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作用于通道维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hidden_channels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，二者可以交换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3.representation_model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输出后的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LayerNorm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不会对模型等变性产生影响，因为它只对标量特征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进行层归一化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edge_vec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直接归一化，不用截断短边长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配置改为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clip_during_norm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false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就能取消该下限</a:t>
            </a:r>
          </a:p>
        </p:txBody>
      </p:sp>
    </p:spTree>
    <p:extLst>
      <p:ext uri="{BB962C8B-B14F-4D97-AF65-F5344CB8AC3E}">
        <p14:creationId xmlns:p14="http://schemas.microsoft.com/office/powerpoint/2010/main" val="1877440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8CDE-32E4-0495-062E-4E9C7201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2B32966C-C95A-4B75-5665-C5D3BD9A93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A9AF15A-BC9D-DBE1-C539-153D70645E53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AUDIT_REPORT_20260909.md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398EB-6BC7-8809-E6B3-FC4D94B3D99B}"/>
              </a:ext>
            </a:extLst>
          </p:cNvPr>
          <p:cNvSpPr txBox="1"/>
          <p:nvPr/>
        </p:nvSpPr>
        <p:spPr>
          <a:xfrm>
            <a:off x="343546" y="1565453"/>
            <a:ext cx="853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没有一定要改的</a:t>
            </a:r>
          </a:p>
        </p:txBody>
      </p:sp>
    </p:spTree>
    <p:extLst>
      <p:ext uri="{BB962C8B-B14F-4D97-AF65-F5344CB8AC3E}">
        <p14:creationId xmlns:p14="http://schemas.microsoft.com/office/powerpoint/2010/main" val="231822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47E2-2379-9396-22D8-CCF534EA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58C82692-828C-BBB6-4B0C-E443273B01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DD0DA96-89A2-2B9C-F8D2-ED9590F8579B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AUDIT_REPORT_20260909.md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A4C387-C0BB-7C55-FFC2-B08FF512AC7F}"/>
              </a:ext>
            </a:extLst>
          </p:cNvPr>
          <p:cNvSpPr txBox="1"/>
          <p:nvPr/>
        </p:nvSpPr>
        <p:spPr>
          <a:xfrm>
            <a:off x="317716" y="1255486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:Data leakage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审计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0C4755-686B-8E7F-5FA3-4B7925331228}"/>
              </a:ext>
            </a:extLst>
          </p:cNvPr>
          <p:cNvSpPr txBox="1"/>
          <p:nvPr/>
        </p:nvSpPr>
        <p:spPr>
          <a:xfrm>
            <a:off x="459782" y="1598987"/>
            <a:ext cx="12377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Protenix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训练数据重叠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当前训练集数据截止日期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(2021-9-30)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与模型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protenix_base_default_v1.0.0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训练数据截止日期相同；目前只用这个模型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protenix_base_default_v1.0.0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15B73F-3B45-728A-ACE6-16CA61B09E9A}"/>
              </a:ext>
            </a:extLst>
          </p:cNvPr>
          <p:cNvSpPr txBox="1"/>
          <p:nvPr/>
        </p:nvSpPr>
        <p:spPr>
          <a:xfrm>
            <a:off x="459782" y="2041673"/>
            <a:ext cx="12377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/test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分布错位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被限制了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去除了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超过阈值的），学的简单，但是之后要求处理的任务难？</a:t>
            </a:r>
            <a:endParaRPr lang="en-US" altLang="zh-CN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EAB099-265C-F84D-A8FD-E532B7949703}"/>
              </a:ext>
            </a:extLst>
          </p:cNvPr>
          <p:cNvSpPr txBox="1"/>
          <p:nvPr/>
        </p:nvSpPr>
        <p:spPr>
          <a:xfrm>
            <a:off x="459782" y="2531468"/>
            <a:ext cx="12377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测试集序列去冗余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mmseq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，但是没有结构去冗余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或至少在报告中做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hard/easy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分层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要</a:t>
            </a:r>
            <a:r>
              <a:rPr lang="zh-CN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求按</a:t>
            </a:r>
            <a:r>
              <a:rPr lang="zh-CN" altLang="zh-CN" sz="12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ax-train-structure-similarity、initial RMSD、leng</a:t>
            </a:r>
            <a:r>
              <a:rPr lang="zh-CN" altLang="zh-CN" sz="12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</a:t>
            </a:r>
            <a:r>
              <a:rPr lang="zh-CN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层,当前均未做。</a:t>
            </a:r>
            <a:endParaRPr lang="en-US" altLang="zh-CN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34EFDC-13C4-5420-37C1-F2D33E4F305C}"/>
              </a:ext>
            </a:extLst>
          </p:cNvPr>
          <p:cNvSpPr txBox="1"/>
          <p:nvPr/>
        </p:nvSpPr>
        <p:spPr>
          <a:xfrm>
            <a:off x="459781" y="3004857"/>
            <a:ext cx="12377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验证集没有对训练集去冗余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15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702D-43A6-5B93-9380-4710CBFE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9528DBFD-B90F-50F0-3C36-91046A705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B79D3CA-0F54-3B88-23E2-4EA3463C5683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AUDIT_REPORT_20260909.md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1A9E5A-E350-982F-20AA-D516F80BCFB5}"/>
              </a:ext>
            </a:extLst>
          </p:cNvPr>
          <p:cNvSpPr txBox="1"/>
          <p:nvPr/>
        </p:nvSpPr>
        <p:spPr>
          <a:xfrm>
            <a:off x="317716" y="1255486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模型框架流程</a:t>
            </a:r>
          </a:p>
        </p:txBody>
      </p:sp>
    </p:spTree>
    <p:extLst>
      <p:ext uri="{BB962C8B-B14F-4D97-AF65-F5344CB8AC3E}">
        <p14:creationId xmlns:p14="http://schemas.microsoft.com/office/powerpoint/2010/main" val="1135506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4EEE-1A16-2693-C15F-95CC6355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279C2D08-502A-7919-CEAC-3D63B233F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E3BB2E-4CA0-2B6E-3739-57736F5D8EB9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AUDIT_REPORT_20260909.md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89DDB2-0890-ACE7-0C85-A837E3F2710A}"/>
              </a:ext>
            </a:extLst>
          </p:cNvPr>
          <p:cNvSpPr txBox="1"/>
          <p:nvPr/>
        </p:nvSpPr>
        <p:spPr>
          <a:xfrm>
            <a:off x="322882" y="1255486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3.Bug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清单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65BB35-11AC-7F8F-08B2-18F3227CF85A}"/>
              </a:ext>
            </a:extLst>
          </p:cNvPr>
          <p:cNvSpPr txBox="1"/>
          <p:nvPr/>
        </p:nvSpPr>
        <p:spPr>
          <a:xfrm>
            <a:off x="402955" y="1766806"/>
            <a:ext cx="8247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self.sigma * 0.5 * (1 - 2*t) / torch.sqrt(t*(1-t))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正常来说不会触发</a:t>
            </a:r>
            <a:endParaRPr lang="zh-CN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EC4AE6-6FD5-FEF8-F4E8-7B22E0701869}"/>
              </a:ext>
            </a:extLst>
          </p:cNvPr>
          <p:cNvSpPr txBox="1"/>
          <p:nvPr/>
        </p:nvSpPr>
        <p:spPr>
          <a:xfrm>
            <a:off x="402955" y="2388052"/>
            <a:ext cx="88598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模型输出永远是质心在原点的结构,绝对平移量与原始 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pos_pred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的参考帧丢失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077399-842C-A26E-50E6-CADD2F02D7A2}"/>
              </a:ext>
            </a:extLst>
          </p:cNvPr>
          <p:cNvSpPr txBox="1"/>
          <p:nvPr/>
        </p:nvSpPr>
        <p:spPr>
          <a:xfrm>
            <a:off x="402955" y="3009298"/>
            <a:ext cx="10321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数据增强占比过高</a:t>
            </a:r>
            <a:r>
              <a:rPr lang="en-US" altLang="zh-CN" sz="1200" i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0.3占比偏大,可能使模型在大误差样本上训练不足。建议消融0.1/0.05等更小值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近真值 主要用在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residual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一步修正模式中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1682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C715-2A5C-3BAC-1C5B-56FB2060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B177B7D5-E71F-05CD-487C-C8DA98522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CFB5E5-D16C-BF9B-6E78-E7E324FA80B7}"/>
              </a:ext>
            </a:extLst>
          </p:cNvPr>
          <p:cNvSpPr txBox="1"/>
          <p:nvPr/>
        </p:nvSpPr>
        <p:spPr>
          <a:xfrm>
            <a:off x="1890794" y="674300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AUDIT_REPORT_20260909.md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530D84-CC4F-E8DA-5CAB-76E2426B751E}"/>
              </a:ext>
            </a:extLst>
          </p:cNvPr>
          <p:cNvSpPr txBox="1"/>
          <p:nvPr/>
        </p:nvSpPr>
        <p:spPr>
          <a:xfrm>
            <a:off x="317716" y="1255486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与提案报告对齐检查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32097C-8C0F-14C7-8C73-715D5A65D87B}"/>
              </a:ext>
            </a:extLst>
          </p:cNvPr>
          <p:cNvSpPr txBox="1"/>
          <p:nvPr/>
        </p:nvSpPr>
        <p:spPr>
          <a:xfrm>
            <a:off x="317716" y="1698172"/>
            <a:ext cx="9469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base-pair/stacking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图、无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torsion/pucker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层(属提案Phase2/3规划</a:t>
            </a:r>
            <a:r>
              <a:rPr lang="zh-CN" altLang="en-US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预期未实现)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0DB94E-FD83-116C-CCCE-B060140CF7A5}"/>
              </a:ext>
            </a:extLst>
          </p:cNvPr>
          <p:cNvSpPr txBox="1"/>
          <p:nvPr/>
        </p:nvSpPr>
        <p:spPr>
          <a:xfrm>
            <a:off x="317716" y="235271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 Δ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TM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/Δ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lDDT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INF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stacking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refinement-specific</a:t>
            </a:r>
            <a:r>
              <a:rPr lang="zh-CN" altLang="zh-CN" sz="1200" i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指标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4F7CB9-6575-CA16-D877-C8A06E286EAE}"/>
              </a:ext>
            </a:extLst>
          </p:cNvPr>
          <p:cNvSpPr txBox="1"/>
          <p:nvPr/>
        </p:nvSpPr>
        <p:spPr>
          <a:xfrm>
            <a:off x="317716" y="300725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QA accept/reject</a:t>
            </a:r>
            <a:r>
              <a:rPr lang="zh-CN" altLang="zh-CN" sz="1200" i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未实现(差距最大)</a:t>
            </a:r>
            <a:endParaRPr lang="zh-CN" altLang="en-US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936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4"/>
          </a:solidFill>
        </a:ln>
      </a:spPr>
      <a:bodyPr rtlCol="0" anchor="ctr"/>
      <a:lstStyle>
        <a:defPPr algn="ctr">
          <a:defRPr sz="1200" dirty="0" err="1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  <a:sym typeface="Wingdings" panose="05000000000000000000" pitchFamily="2" charset="2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3439</TotalTime>
  <Words>4730</Words>
  <Application>Microsoft Office PowerPoint</Application>
  <PresentationFormat>宽屏</PresentationFormat>
  <Paragraphs>379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黑体</vt:lpstr>
      <vt:lpstr>Arial</vt:lpstr>
      <vt:lpstr>Times New Roman</vt:lpstr>
      <vt:lpstr>Office 主题​​</vt:lpstr>
      <vt:lpstr>显式条件化：网络在所有时间都同时看到x_t和原始x_pred-&gt;影响vec的初始化 边的特征矩阵以及原子标量特征x的初始化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631</cp:revision>
  <dcterms:created xsi:type="dcterms:W3CDTF">2026-08-27T08:06:20Z</dcterms:created>
  <dcterms:modified xsi:type="dcterms:W3CDTF">2026-09-10T09:36:00Z</dcterms:modified>
</cp:coreProperties>
</file>