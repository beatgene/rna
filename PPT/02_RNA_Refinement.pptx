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2" r:id="rId4"/>
    <p:sldId id="263" r:id="rId5"/>
    <p:sldId id="264" r:id="rId6"/>
    <p:sldId id="266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41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/>
              <a:t>共</a:t>
            </a:r>
            <a:r>
              <a:rPr lang="en-US" altLang="zh-CN" dirty="0"/>
              <a:t>9428</a:t>
            </a:r>
            <a:r>
              <a:rPr lang="zh-CN" altLang="en-US" dirty="0"/>
              <a:t>个</a:t>
            </a:r>
            <a:r>
              <a:rPr lang="en-US" altLang="zh-CN" dirty="0"/>
              <a:t>.</a:t>
            </a:r>
            <a:r>
              <a:rPr lang="en-US" altLang="zh-CN" dirty="0" err="1"/>
              <a:t>cif</a:t>
            </a:r>
            <a:r>
              <a:rPr lang="zh-CN" altLang="en-US" dirty="0"/>
              <a:t>文件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C4D-462A-9CED-A7CF89155D7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C4D-462A-9CED-A7CF89155D7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C4D-462A-9CED-A7CF89155D7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C4D-462A-9CED-A7CF89155D7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9-0C4D-462A-9CED-A7CF89155D7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纯RNA</c:v>
                </c:pt>
                <c:pt idx="1">
                  <c:v>RNA-蛋白质</c:v>
                </c:pt>
                <c:pt idx="2">
                  <c:v>游离核糖体</c:v>
                </c:pt>
                <c:pt idx="3">
                  <c:v>RNA-核糖体</c:v>
                </c:pt>
                <c:pt idx="4">
                  <c:v>其他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1977</c:v>
                </c:pt>
                <c:pt idx="1">
                  <c:v>4368</c:v>
                </c:pt>
                <c:pt idx="2">
                  <c:v>1383</c:v>
                </c:pt>
                <c:pt idx="3">
                  <c:v>1599</c:v>
                </c:pt>
                <c:pt idx="4">
                  <c:v>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C8-4C78-85DF-338CE917B1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E803F-E891-4F14-A328-E54E4081CF79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7DFDE-A632-4726-B802-E42C0FDAE0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693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2211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5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7DFDE-A632-4726-B802-E42C0FDAE0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423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87C76C-C94C-8266-6EBB-CBE0F6087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73403C-B0F7-1AF5-F5C3-0B2CABF515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7659EB-30E2-2D39-D185-60D268C17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6D357-EB63-CB24-69CB-440C331C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3D7D90-528C-BBA0-4880-CFB84DFDF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00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20952-1926-EB09-F1A0-8C00E7CB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F57EA7-A62D-91C6-553E-68D055740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B10D59-C292-71D3-0D95-5B753AC2F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E95DEE-7D5E-8DBD-68D3-F42ECE7A5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8DE566-BF0B-10CD-1C28-6BE765DC3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782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543C3-9E2D-561C-3FEA-5EEF466D8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279051-A18F-B196-176F-A7A5D8F9D6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4AC403-9E2F-E5BF-80F7-2B974FE4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325DF-CBDC-2BFF-B58E-F8D90C75B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BC94E1-3E09-15FE-8BF8-D9DED9EB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252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97700F-FDE4-68AE-5FC7-DC08C764C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1469952-C49E-EBAC-AB4D-ECB1D444D7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572B91-135B-F221-A68C-6E180868B6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EE84A5-7649-0C3C-D49E-97443A4B1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DF3DDA-B8E4-AF6D-7F45-85E2652DB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ABF3F5-85B3-1D70-30BE-1DDD41F02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69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DC7BAC-7F02-6ADE-B6B1-448BE26CF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661251-1215-FA44-43C0-F6C673C7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96C9E9-573A-D040-64B3-0E39975ECC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07BFC6-C4ED-582F-7B7A-528ECE6F4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C4CF01C-D969-F12A-8F6A-CB24A0A786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4C9B088-6D2D-4BEE-2453-E762B81A0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EAEEAC-B5C1-43EB-B703-814AC47C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3723DF1-B9F6-6949-17CD-810ECC4D7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390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005E57-229E-98D8-ADE8-46C0D9F8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0884F8-1D8F-043B-C039-628AAFE5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47E230-5564-B443-A78A-77E2C97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2583CB-1429-5E6E-B9C0-FF5774396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970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1B9D2C-EAC7-1E70-0372-75CEAC2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3BE5143-5A1F-CCE7-AF7E-4D9FF154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E0299B5-A7FB-931B-722D-44FA30A6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466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8EDEE7-F874-11FE-678E-91A9B9B4A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597F84-837B-1C3A-4702-501D9B634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79D6EE1-E1ED-5F53-0CBF-F6888519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7FFD000-FD8B-83F2-50A2-BFD54E40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ECFA44-0B6F-91D3-0815-B55BFEF02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20AEE9-AEB2-30CC-1532-2078A29E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233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BB2738-8115-C87F-6887-9EC5BAB90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1B334AB-FDE4-491A-0713-26E3AC9F8E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DFDB759-4CB7-EF2B-8F70-7A9BB00D55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BF5195-99DF-0DA1-3FED-51FA3F6D6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A52923-3D37-7F5E-D26D-5A7B2E1AA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00C4EE-44D2-FA15-27A9-6231FC44E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09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DDA72-9BFA-4789-A1D7-ACC52F124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D7EB79-697D-CBB0-DB85-463BD9A854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864BA4-9537-22FE-585E-C6F8C82B2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D4F5-184D-DC42-09BD-1160C03CD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038A1BA-4949-324A-FA6A-A25437394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607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E57B154-74E3-1011-5BBC-6FA81E284E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39723E-9D0E-CA98-F003-FE8D437F4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02F07C-82E3-C580-0336-7F4BD9C37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A0D6F7-E6D8-F8E0-1AF3-7E442C2E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6E0B1-5817-9CE7-3E5A-E5F83A0B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633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8FCBB06-B653-774E-3CB2-8308833BF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194B102-798E-D43D-910B-56771B66C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B0E3D-94B9-25FB-0DFB-469BE0456B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93D9D-5A04-45BF-B8B1-4218537275FF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3E5FA-1AC2-3B28-72C8-257033EF5E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880FA8-A0B4-471D-F2B3-91458952B6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974CC2-A621-48D9-8C85-9EE7F9EB25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271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451A39-34E8-69B1-DCDA-A3F992115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99" y="42409"/>
            <a:ext cx="10515600" cy="1325563"/>
          </a:xfrm>
        </p:spPr>
        <p:txBody>
          <a:bodyPr/>
          <a:lstStyle/>
          <a:p>
            <a:r>
              <a:rPr lang="en-US" altLang="zh-CN" b="1" dirty="0"/>
              <a:t>Overview</a:t>
            </a:r>
            <a:endParaRPr lang="zh-CN" altLang="en-US" b="1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8148CB47-C8A6-BEB4-EDF8-E5D1850CAE67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7CCDC073-478A-5407-6D54-866A5E5BC2FC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5B3948F4-39A1-2CC0-CD17-0BE4548A26A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F9649E0-9AC3-FEDE-75CC-F4627E59A1D0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BC683FBB-4DDC-F824-02A1-82BEE592D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C331FCE-6C9E-FE38-E92A-FCBB4419AD46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48C45DF-EDDB-A377-6FFF-64519AC21F75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926DEA86-9D98-5F0D-EA4A-0630C525667C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87D6E69-8206-5240-FCDC-9CCA45E6B1AC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261C34F-C031-2D25-F4C4-53D6ADA7512B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CED8EB6-A162-0711-F39E-57C6D1A78A8B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6ACB446-477D-9D52-88D5-C47CC5F8BF9C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C31630FF-A774-9559-008D-FE968CB90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3CF260E-5D9E-3230-483A-FC60C7D1E759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9E5FE781-82B5-7F95-0C10-8870589B846D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C628006E-56E9-4401-11DE-E8323A7AD12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6DCA818-8E8B-C914-8E00-BFC4F10515A2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EFADF24-FE28-92AD-7B51-4520E80BEA1E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7773B87F-D2CD-08BB-B2B2-A3A1D78AECC2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C7736A0-AFA8-BBD9-674F-016A5B4F951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5C07BB0-D90E-3CB2-7058-768B65247A2F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A75264B1-5433-887D-01C8-E964BDAC9B9B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6BC506BF-D9BF-2C40-56D3-3699E952B4A1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6EEA2BD6-83E0-E4D6-2A44-3A68CBC6AC16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0C04B037-A2F9-0451-4530-3CDA7AAAF90F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59EEE9A-6B11-6B31-A9DD-2334D3069857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113F21F-562D-C6AC-1B2D-D282BB19AE47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4448E76C-091E-B509-FB39-7C6D330E2DAE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8F49CFD7-51FA-E529-35E2-2825DFE7ED89}"/>
              </a:ext>
            </a:extLst>
          </p:cNvPr>
          <p:cNvGrpSpPr/>
          <p:nvPr/>
        </p:nvGrpSpPr>
        <p:grpSpPr>
          <a:xfrm>
            <a:off x="7733264" y="4526244"/>
            <a:ext cx="1981148" cy="432299"/>
            <a:chOff x="7733264" y="4526244"/>
            <a:chExt cx="198114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C3AC6129-5943-B574-F356-41FFDF3D4DF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72280325-0963-5216-E9FC-EAA3927A768A}"/>
                </a:ext>
              </a:extLst>
            </p:cNvPr>
            <p:cNvSpPr txBox="1"/>
            <p:nvPr/>
          </p:nvSpPr>
          <p:spPr>
            <a:xfrm>
              <a:off x="7733264" y="4569472"/>
              <a:ext cx="19811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FEF0DD7F-BD12-8700-F4EB-507EEB287CE1}"/>
              </a:ext>
            </a:extLst>
          </p:cNvPr>
          <p:cNvSpPr txBox="1"/>
          <p:nvPr/>
        </p:nvSpPr>
        <p:spPr>
          <a:xfrm>
            <a:off x="5467370" y="4082914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4B197A1-ED7D-C093-886F-245BAFA073B0}"/>
              </a:ext>
            </a:extLst>
          </p:cNvPr>
          <p:cNvSpPr txBox="1"/>
          <p:nvPr/>
        </p:nvSpPr>
        <p:spPr>
          <a:xfrm>
            <a:off x="5469160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D4395858-A05D-EE4D-A95C-4E8448860780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C3A7CF09-924D-0BB9-5016-E0D2F57B2603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2605" y="3587817"/>
            <a:ext cx="14701" cy="2153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7131BD1-0044-24C2-7337-88EEC17EFEC3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779418" cy="10182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99D0A39B-B0D0-571D-6B0D-4AD0954AC289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63BDED6-B32F-62E0-3CC5-02C7446FCD07}"/>
              </a:ext>
            </a:extLst>
          </p:cNvPr>
          <p:cNvGrpSpPr/>
          <p:nvPr/>
        </p:nvGrpSpPr>
        <p:grpSpPr>
          <a:xfrm>
            <a:off x="9448260" y="5741651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1751EAEB-E9D1-1AC3-B0FD-3D6FF3DEBC21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D26768C8-B80D-AA3B-7988-AF64F696425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51AC08C1-D6A1-894A-48E1-CD3A5877D4AB}"/>
              </a:ext>
            </a:extLst>
          </p:cNvPr>
          <p:cNvSpPr/>
          <p:nvPr/>
        </p:nvSpPr>
        <p:spPr>
          <a:xfrm>
            <a:off x="8981093" y="5579625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4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46B7B-826D-3758-D2B6-DF59E2032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BE833DF4-181D-EF32-B922-5D56B0B4F272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9E32B4C8-0590-9925-2DEA-DFE7F26FDE44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DB05F0E6-CA0C-5B7B-3A1D-30DF4DBE45FD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D10F0927-1456-FBF6-63EA-033D39F87A8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5B2DD5C3-C8E6-469D-2C4F-1A04255554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41D68699-B217-3B2E-04ED-FFBA1FDC2878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E40185F4-A418-675A-AFB6-DE0DAD94177F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06532F03-D419-1DDC-140D-F320029DA5FB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E984445-2D9C-CE18-CD1F-8E60858F1152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554555AD-1D8F-AA9B-43CE-44F8A53CDD2F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4987826-4675-EB5B-7391-73D887C4F253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D19ADE7-BD2E-9F60-E7F8-D02028839DD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94F3DCD3-EE06-931D-0A6B-0A3BAF244C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F06BE80-D935-74B7-78C2-E30CADE7A21C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258A0E9E-87BF-BC55-AC37-11387ABD4FC1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40BA0AB-2879-8993-2B36-F4FDFAE2019E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1E0D383-44C1-F66F-15B6-4F37314E723C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812701-9CDA-840A-E80F-7FCF9AD3CD7B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A104765-CA9B-C4B6-E25A-889CCDB41D1A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04405131-57D9-0516-BF32-DDD873856A8D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44AD251-903D-B6BD-C098-3A35706C71F7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3616325-4518-777F-90A5-84052B4809C8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435D051-95BE-FE9F-B284-1E47E4E4F518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60509E2F-EC8A-C71D-93E5-C2469935DC6C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920B56C-E632-BF66-F68B-FE125E283206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15C779BA-1CDD-BCC1-6AB8-981C975C395A}"/>
              </a:ext>
            </a:extLst>
          </p:cNvPr>
          <p:cNvCxnSpPr>
            <a:stCxn id="20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293E5BC-A2C5-C41C-6C7D-060319260C4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B632A6F-7AC3-C82C-7623-8BB93ACF66A3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187C9A4F-5998-67FD-94BD-F5D38C17F679}"/>
              </a:ext>
            </a:extLst>
          </p:cNvPr>
          <p:cNvGrpSpPr/>
          <p:nvPr/>
        </p:nvGrpSpPr>
        <p:grpSpPr>
          <a:xfrm>
            <a:off x="7721309" y="4526244"/>
            <a:ext cx="1193074" cy="432299"/>
            <a:chOff x="7721309" y="4526244"/>
            <a:chExt cx="1193074" cy="432299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80125817-5089-1744-5951-0CB5EC05EA0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CF29954-86E4-96C8-3C83-5A9D3B949DBF}"/>
                </a:ext>
              </a:extLst>
            </p:cNvPr>
            <p:cNvSpPr txBox="1"/>
            <p:nvPr/>
          </p:nvSpPr>
          <p:spPr>
            <a:xfrm>
              <a:off x="7721309" y="4578717"/>
              <a:ext cx="119307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BF971F3B-F860-A9E2-F977-0F996298436B}"/>
              </a:ext>
            </a:extLst>
          </p:cNvPr>
          <p:cNvSpPr txBox="1"/>
          <p:nvPr/>
        </p:nvSpPr>
        <p:spPr>
          <a:xfrm>
            <a:off x="5494327" y="4071170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0BFDE48-CF92-FE19-A7DC-2433727EE1E7}"/>
              </a:ext>
            </a:extLst>
          </p:cNvPr>
          <p:cNvSpPr txBox="1"/>
          <p:nvPr/>
        </p:nvSpPr>
        <p:spPr>
          <a:xfrm>
            <a:off x="5492929" y="424443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A738E15B-376C-3E73-4927-388C48975765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95415C74-4819-3AD5-F96F-ADFBED6E8AE3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9966959" y="3587817"/>
            <a:ext cx="90212" cy="21469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6C92223-937B-AE37-2BFE-CEF3FC058EC5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21468" cy="10114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FFFB35E3-3B29-107C-D242-23AEA5F3B9E1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chemeClr val="accent1">
                <a:shade val="15000"/>
              </a:schemeClr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1188A962-AC5D-5A7B-4915-B3A1FF4B65B0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9870C5EF-03FC-594F-B9BC-A7CCF65BC8E7}"/>
              </a:ext>
            </a:extLst>
          </p:cNvPr>
          <p:cNvGrpSpPr/>
          <p:nvPr/>
        </p:nvGrpSpPr>
        <p:grpSpPr>
          <a:xfrm>
            <a:off x="9528125" y="5734777"/>
            <a:ext cx="3095879" cy="445551"/>
            <a:chOff x="232954" y="5737744"/>
            <a:chExt cx="3095879" cy="445551"/>
          </a:xfrm>
        </p:grpSpPr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D4AC93-9573-09CF-9183-A1A4D0449A7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6F0AF8F-3898-0C17-6F7D-4CC41F60A2EC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469799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2D621-8353-0D97-45D9-81942CA4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0DF34-941F-F707-AEA5-6F0DADE90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12350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800" b="1" dirty="0"/>
              <a:t>Data screening</a:t>
            </a:r>
            <a:endParaRPr lang="zh-CN" altLang="en-US" sz="2800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B990435-6A77-2BD8-A4AA-B47407775741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23B8EB9E-52C8-87C7-13B3-C765B01B7E39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30D5571-3EC5-01EF-2FAE-58F9677E5332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07EAB71B-5C4D-979F-BDC4-FBBF25DC9A61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8" name="图形 7" descr="数据库 轮廓">
              <a:extLst>
                <a:ext uri="{FF2B5EF4-FFF2-40B4-BE49-F238E27FC236}">
                  <a16:creationId xmlns:a16="http://schemas.microsoft.com/office/drawing/2014/main" id="{85D74743-6448-1C4D-F323-EAE9C6A0F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5827320F-727B-26EF-1D3C-C22A6CC8E610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0A3398E-8199-FC1D-7C19-4A43E8245A3B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EEEA73E-DC24-A84A-7A60-B1026CE0BCBE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704319F-721C-D667-E40A-9964AD17AFE1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F8D56C0D-D07A-BF0D-3364-330BC5F9473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C592336-09BE-8356-3BE3-5C13978C1DE7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B92A0E5B-F711-EF02-FF81-AAA7FB845C1B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16" name="图形 15" descr="筛选 轮廓">
              <a:extLst>
                <a:ext uri="{FF2B5EF4-FFF2-40B4-BE49-F238E27FC236}">
                  <a16:creationId xmlns:a16="http://schemas.microsoft.com/office/drawing/2014/main" id="{662E5D35-A8AE-9C6D-1217-3740BEE50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4589590-9E20-168C-65A3-DDFE69CA11B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18" name="左大括号 17">
            <a:extLst>
              <a:ext uri="{FF2B5EF4-FFF2-40B4-BE49-F238E27FC236}">
                <a16:creationId xmlns:a16="http://schemas.microsoft.com/office/drawing/2014/main" id="{5339F088-015F-9704-FCEC-1A9972777419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84C1C4FB-966B-968E-C138-57233D87C4C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94E2617-78E3-EF1C-58F7-84F15650FFA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ABDAEB-A6C9-482F-B359-BB9837BC187A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866B4CC-F86F-2766-88D8-27589A15A64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23" name="矩形: 圆角 22">
              <a:extLst>
                <a:ext uri="{FF2B5EF4-FFF2-40B4-BE49-F238E27FC236}">
                  <a16:creationId xmlns:a16="http://schemas.microsoft.com/office/drawing/2014/main" id="{ED841A3B-FF27-ED24-770B-FB99EFD4E4E5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54ED8F7E-49BF-3039-1CBE-3F11415C80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C457E6C4-3D92-7FE1-699B-96F7274D79B5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1865E06C-59C1-6082-DC06-E93CB267FD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577" y="4279909"/>
            <a:ext cx="2485439" cy="2251132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BE3FF906-80D8-9963-7D52-465E9ED548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6275" y="4164288"/>
            <a:ext cx="1975572" cy="2650921"/>
          </a:xfrm>
          <a:prstGeom prst="rect">
            <a:avLst/>
          </a:prstGeom>
        </p:spPr>
      </p:pic>
      <p:graphicFrame>
        <p:nvGraphicFramePr>
          <p:cNvPr id="54" name="图表 53">
            <a:extLst>
              <a:ext uri="{FF2B5EF4-FFF2-40B4-BE49-F238E27FC236}">
                <a16:creationId xmlns:a16="http://schemas.microsoft.com/office/drawing/2014/main" id="{AA2F9853-16F0-DA22-AA39-36ECCB8FF6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34011"/>
              </p:ext>
            </p:extLst>
          </p:nvPr>
        </p:nvGraphicFramePr>
        <p:xfrm>
          <a:off x="7400038" y="505993"/>
          <a:ext cx="3966860" cy="26172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66521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EB8F-4130-DFD0-E2DE-8592A9CDA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2983EC-EB93-25FF-58DA-C58AB1606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173F262F-FD68-F0B0-774D-F04087C1DCB5}"/>
              </a:ext>
            </a:extLst>
          </p:cNvPr>
          <p:cNvGrpSpPr/>
          <p:nvPr/>
        </p:nvGrpSpPr>
        <p:grpSpPr>
          <a:xfrm>
            <a:off x="232954" y="2592099"/>
            <a:ext cx="1754778" cy="457200"/>
            <a:chOff x="1071154" y="2311127"/>
            <a:chExt cx="1754778" cy="457200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1E20D56-8E84-1217-7C18-A4DAE659DB2A}"/>
                </a:ext>
              </a:extLst>
            </p:cNvPr>
            <p:cNvSpPr/>
            <p:nvPr/>
          </p:nvSpPr>
          <p:spPr>
            <a:xfrm>
              <a:off x="1071154" y="2311127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016811BF-20B1-F491-588D-32C3FD84EB25}"/>
                </a:ext>
              </a:extLst>
            </p:cNvPr>
            <p:cNvSpPr txBox="1"/>
            <p:nvPr/>
          </p:nvSpPr>
          <p:spPr>
            <a:xfrm>
              <a:off x="1188720" y="2355061"/>
              <a:ext cx="16372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Query</a:t>
              </a:r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37ECC3E-DC12-A4B3-5C44-27D9D35ECE3A}"/>
              </a:ext>
            </a:extLst>
          </p:cNvPr>
          <p:cNvGrpSpPr/>
          <p:nvPr/>
        </p:nvGrpSpPr>
        <p:grpSpPr>
          <a:xfrm>
            <a:off x="2037805" y="1246979"/>
            <a:ext cx="914400" cy="1109989"/>
            <a:chOff x="2991394" y="1974144"/>
            <a:chExt cx="914400" cy="1109989"/>
          </a:xfrm>
        </p:grpSpPr>
        <p:pic>
          <p:nvPicPr>
            <p:cNvPr id="7" name="图形 6" descr="数据库 轮廓">
              <a:extLst>
                <a:ext uri="{FF2B5EF4-FFF2-40B4-BE49-F238E27FC236}">
                  <a16:creationId xmlns:a16="http://schemas.microsoft.com/office/drawing/2014/main" id="{F6C49D04-DA70-29D4-15F8-088E15D745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91394" y="2169733"/>
              <a:ext cx="914400" cy="914400"/>
            </a:xfrm>
            <a:prstGeom prst="rect">
              <a:avLst/>
            </a:prstGeom>
          </p:spPr>
        </p:pic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B3692B71-9658-B351-C372-AAAE3B1AB731}"/>
                </a:ext>
              </a:extLst>
            </p:cNvPr>
            <p:cNvSpPr txBox="1"/>
            <p:nvPr/>
          </p:nvSpPr>
          <p:spPr>
            <a:xfrm>
              <a:off x="3145971" y="1974144"/>
              <a:ext cx="6052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PDB</a:t>
              </a:r>
              <a:endParaRPr lang="zh-CN" altLang="en-US" dirty="0"/>
            </a:p>
          </p:txBody>
        </p:sp>
      </p:grp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F2BE48E-6EEB-F247-6516-F7778E307E56}"/>
              </a:ext>
            </a:extLst>
          </p:cNvPr>
          <p:cNvCxnSpPr/>
          <p:nvPr/>
        </p:nvCxnSpPr>
        <p:spPr>
          <a:xfrm flipV="1">
            <a:off x="1123405" y="1950720"/>
            <a:ext cx="1101635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F4B811B-E855-EFC9-EBD6-960806004365}"/>
              </a:ext>
            </a:extLst>
          </p:cNvPr>
          <p:cNvCxnSpPr>
            <a:cxnSpLocks/>
          </p:cNvCxnSpPr>
          <p:nvPr/>
        </p:nvCxnSpPr>
        <p:spPr>
          <a:xfrm>
            <a:off x="2778033" y="1950720"/>
            <a:ext cx="1101600" cy="641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728F75C-B543-516C-CADE-4059F3439A5A}"/>
              </a:ext>
            </a:extLst>
          </p:cNvPr>
          <p:cNvGrpSpPr/>
          <p:nvPr/>
        </p:nvGrpSpPr>
        <p:grpSpPr>
          <a:xfrm>
            <a:off x="3350587" y="2594349"/>
            <a:ext cx="1247539" cy="457200"/>
            <a:chOff x="3955833" y="2585640"/>
            <a:chExt cx="1247539" cy="457200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D153A708-248A-C637-878E-83F579EF40F9}"/>
                </a:ext>
              </a:extLst>
            </p:cNvPr>
            <p:cNvSpPr/>
            <p:nvPr/>
          </p:nvSpPr>
          <p:spPr>
            <a:xfrm>
              <a:off x="3955833" y="2585640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AA4382C-7499-593C-6D49-56F6CCFA2176}"/>
                </a:ext>
              </a:extLst>
            </p:cNvPr>
            <p:cNvSpPr txBox="1"/>
            <p:nvPr/>
          </p:nvSpPr>
          <p:spPr>
            <a:xfrm>
              <a:off x="4267200" y="2627324"/>
              <a:ext cx="9361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CIF</a:t>
              </a:r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A36E7FB-AC81-FF03-91EA-223584305059}"/>
              </a:ext>
            </a:extLst>
          </p:cNvPr>
          <p:cNvGrpSpPr/>
          <p:nvPr/>
        </p:nvGrpSpPr>
        <p:grpSpPr>
          <a:xfrm>
            <a:off x="4319451" y="1814626"/>
            <a:ext cx="1841863" cy="1087506"/>
            <a:chOff x="4319451" y="1814626"/>
            <a:chExt cx="1841863" cy="1087506"/>
          </a:xfrm>
        </p:grpSpPr>
        <p:pic>
          <p:nvPicPr>
            <p:cNvPr id="24" name="图形 23" descr="筛选 轮廓">
              <a:extLst>
                <a:ext uri="{FF2B5EF4-FFF2-40B4-BE49-F238E27FC236}">
                  <a16:creationId xmlns:a16="http://schemas.microsoft.com/office/drawing/2014/main" id="{D52D76EE-7B04-AAA3-6144-1B05EEE36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08679" y="1987732"/>
              <a:ext cx="914400" cy="914400"/>
            </a:xfrm>
            <a:prstGeom prst="rect">
              <a:avLst/>
            </a:prstGeom>
          </p:spPr>
        </p:pic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F4801F96-0547-D3CD-2CAE-667C8AA62513}"/>
                </a:ext>
              </a:extLst>
            </p:cNvPr>
            <p:cNvSpPr txBox="1"/>
            <p:nvPr/>
          </p:nvSpPr>
          <p:spPr>
            <a:xfrm>
              <a:off x="4319451" y="1814626"/>
              <a:ext cx="18418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CLASSIFY</a:t>
              </a:r>
              <a:endParaRPr lang="zh-CN" altLang="en-US" dirty="0"/>
            </a:p>
          </p:txBody>
        </p:sp>
      </p:grpSp>
      <p:sp>
        <p:nvSpPr>
          <p:cNvPr id="28" name="左大括号 27">
            <a:extLst>
              <a:ext uri="{FF2B5EF4-FFF2-40B4-BE49-F238E27FC236}">
                <a16:creationId xmlns:a16="http://schemas.microsoft.com/office/drawing/2014/main" id="{ED2757A8-7881-F39E-DB24-7523F0CD0D1A}"/>
              </a:ext>
            </a:extLst>
          </p:cNvPr>
          <p:cNvSpPr/>
          <p:nvPr/>
        </p:nvSpPr>
        <p:spPr>
          <a:xfrm>
            <a:off x="5444999" y="2053580"/>
            <a:ext cx="265611" cy="1534237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363E365-01F4-E007-D2FC-57902FBD382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08679" y="2820699"/>
            <a:ext cx="10363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5C5CDC19-842D-8A96-15F4-5A6F0E818F77}"/>
              </a:ext>
            </a:extLst>
          </p:cNvPr>
          <p:cNvSpPr/>
          <p:nvPr/>
        </p:nvSpPr>
        <p:spPr>
          <a:xfrm>
            <a:off x="5710610" y="3369571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6D020D2-304C-1EFD-864F-3E53D432B838}"/>
              </a:ext>
            </a:extLst>
          </p:cNvPr>
          <p:cNvSpPr txBox="1"/>
          <p:nvPr/>
        </p:nvSpPr>
        <p:spPr>
          <a:xfrm>
            <a:off x="5669280" y="3413505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8CCDD9A4-6F57-74E8-32EF-A21885978686}"/>
              </a:ext>
            </a:extLst>
          </p:cNvPr>
          <p:cNvGrpSpPr/>
          <p:nvPr/>
        </p:nvGrpSpPr>
        <p:grpSpPr>
          <a:xfrm>
            <a:off x="5728044" y="1843566"/>
            <a:ext cx="1058092" cy="457200"/>
            <a:chOff x="5728044" y="1843566"/>
            <a:chExt cx="1058092" cy="457200"/>
          </a:xfrm>
        </p:grpSpPr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0A6C5D49-1A93-1478-68BE-64047FCCDA53}"/>
                </a:ext>
              </a:extLst>
            </p:cNvPr>
            <p:cNvSpPr/>
            <p:nvPr/>
          </p:nvSpPr>
          <p:spPr>
            <a:xfrm>
              <a:off x="5728044" y="1843566"/>
              <a:ext cx="1058092" cy="4572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BE3EF24-5EE4-4256-7755-0CDE91C969C2}"/>
                </a:ext>
              </a:extLst>
            </p:cNvPr>
            <p:cNvSpPr txBox="1"/>
            <p:nvPr/>
          </p:nvSpPr>
          <p:spPr>
            <a:xfrm>
              <a:off x="5811847" y="1887500"/>
              <a:ext cx="8556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Others</a:t>
              </a:r>
              <a:endParaRPr lang="zh-CN" altLang="en-US" dirty="0"/>
            </a:p>
          </p:txBody>
        </p:sp>
      </p:grp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12BBB04D-6F0D-4733-DFB5-7963EC185B5C}"/>
              </a:ext>
            </a:extLst>
          </p:cNvPr>
          <p:cNvSpPr/>
          <p:nvPr/>
        </p:nvSpPr>
        <p:spPr>
          <a:xfrm>
            <a:off x="128451" y="1277459"/>
            <a:ext cx="6799217" cy="283734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76ACBAF6-1534-2EDE-DCC7-FF7893C30680}"/>
              </a:ext>
            </a:extLst>
          </p:cNvPr>
          <p:cNvGrpSpPr/>
          <p:nvPr/>
        </p:nvGrpSpPr>
        <p:grpSpPr>
          <a:xfrm>
            <a:off x="5710609" y="4507211"/>
            <a:ext cx="1251893" cy="432299"/>
            <a:chOff x="5710609" y="4507211"/>
            <a:chExt cx="1251893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BE0A7B33-F1C9-7BD3-ED43-8CFA771DEE79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E05510C-CEAF-7204-57A2-DE63FF901489}"/>
                </a:ext>
              </a:extLst>
            </p:cNvPr>
            <p:cNvSpPr txBox="1"/>
            <p:nvPr/>
          </p:nvSpPr>
          <p:spPr>
            <a:xfrm>
              <a:off x="5769428" y="4526244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8C37385-4D68-3F70-4793-AD576E3D6EB9}"/>
              </a:ext>
            </a:extLst>
          </p:cNvPr>
          <p:cNvCxnSpPr>
            <a:stCxn id="33" idx="2"/>
          </p:cNvCxnSpPr>
          <p:nvPr/>
        </p:nvCxnSpPr>
        <p:spPr>
          <a:xfrm flipH="1">
            <a:off x="6239654" y="3826771"/>
            <a:ext cx="2" cy="6804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8FBA660E-AE3C-2CAD-DE0F-BF78F05EA6CE}"/>
              </a:ext>
            </a:extLst>
          </p:cNvPr>
          <p:cNvSpPr txBox="1"/>
          <p:nvPr/>
        </p:nvSpPr>
        <p:spPr>
          <a:xfrm>
            <a:off x="6204857" y="407117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A77FA2EA-1C41-DA98-EC18-8C651DA9872C}"/>
              </a:ext>
            </a:extLst>
          </p:cNvPr>
          <p:cNvCxnSpPr/>
          <p:nvPr/>
        </p:nvCxnSpPr>
        <p:spPr>
          <a:xfrm>
            <a:off x="6768700" y="4710910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585A900A-0BD9-E971-0D27-DA19EACF3598}"/>
              </a:ext>
            </a:extLst>
          </p:cNvPr>
          <p:cNvGrpSpPr/>
          <p:nvPr/>
        </p:nvGrpSpPr>
        <p:grpSpPr>
          <a:xfrm>
            <a:off x="7741920" y="4526244"/>
            <a:ext cx="1748300" cy="617000"/>
            <a:chOff x="7741920" y="4526244"/>
            <a:chExt cx="1748300" cy="617000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2CFFDFE6-7CFC-869D-C52E-9642A9FB13A8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550E68B5-48E9-0FCC-5BA8-B1BB2E826210}"/>
                </a:ext>
              </a:extLst>
            </p:cNvPr>
            <p:cNvSpPr txBox="1"/>
            <p:nvPr/>
          </p:nvSpPr>
          <p:spPr>
            <a:xfrm>
              <a:off x="7744794" y="4589246"/>
              <a:ext cx="174542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</a:p>
            <a:p>
              <a:endParaRPr lang="zh-CN" altLang="en-US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CB703C67-2874-22F1-6C65-66192C9076D9}"/>
              </a:ext>
            </a:extLst>
          </p:cNvPr>
          <p:cNvSpPr txBox="1"/>
          <p:nvPr/>
        </p:nvSpPr>
        <p:spPr>
          <a:xfrm>
            <a:off x="5492929" y="4065695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01DE72C-AB94-AD96-70FC-0D4902377500}"/>
              </a:ext>
            </a:extLst>
          </p:cNvPr>
          <p:cNvSpPr txBox="1"/>
          <p:nvPr/>
        </p:nvSpPr>
        <p:spPr>
          <a:xfrm>
            <a:off x="5501621" y="4249246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67AD3C6A-400A-CE8F-05FA-3EFE237DA9CB}"/>
              </a:ext>
            </a:extLst>
          </p:cNvPr>
          <p:cNvCxnSpPr>
            <a:cxnSpLocks/>
          </p:cNvCxnSpPr>
          <p:nvPr/>
        </p:nvCxnSpPr>
        <p:spPr>
          <a:xfrm>
            <a:off x="6768700" y="3598171"/>
            <a:ext cx="319390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0DB46DB8-3CBD-57EB-0E35-A9C128BBAC05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966959" y="3587817"/>
            <a:ext cx="69070" cy="21171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316E384-1F82-BCE3-330C-AFBDC2D19281}"/>
              </a:ext>
            </a:extLst>
          </p:cNvPr>
          <p:cNvCxnSpPr>
            <a:cxnSpLocks/>
          </p:cNvCxnSpPr>
          <p:nvPr/>
        </p:nvCxnSpPr>
        <p:spPr>
          <a:xfrm>
            <a:off x="8817482" y="4723360"/>
            <a:ext cx="834052" cy="977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A98EB101-338A-765F-8ED9-EE8F12529488}"/>
              </a:ext>
            </a:extLst>
          </p:cNvPr>
          <p:cNvSpPr/>
          <p:nvPr/>
        </p:nvSpPr>
        <p:spPr>
          <a:xfrm>
            <a:off x="5399314" y="3291840"/>
            <a:ext cx="5055326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20E5CC4B-FB0F-37E2-8944-13D2BA8A65D3}"/>
              </a:ext>
            </a:extLst>
          </p:cNvPr>
          <p:cNvGrpSpPr/>
          <p:nvPr/>
        </p:nvGrpSpPr>
        <p:grpSpPr>
          <a:xfrm>
            <a:off x="9506983" y="5704990"/>
            <a:ext cx="3095879" cy="445551"/>
            <a:chOff x="232954" y="5737744"/>
            <a:chExt cx="3095879" cy="445551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42B149DE-6560-67B2-2A04-98A33A67750E}"/>
                </a:ext>
              </a:extLst>
            </p:cNvPr>
            <p:cNvSpPr/>
            <p:nvPr/>
          </p:nvSpPr>
          <p:spPr>
            <a:xfrm>
              <a:off x="232954" y="5737744"/>
              <a:ext cx="1058091" cy="44555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2DF9F6B6-74ED-3637-E337-7B17508DADF4}"/>
                </a:ext>
              </a:extLst>
            </p:cNvPr>
            <p:cNvSpPr txBox="1"/>
            <p:nvPr/>
          </p:nvSpPr>
          <p:spPr>
            <a:xfrm>
              <a:off x="275240" y="5837408"/>
              <a:ext cx="305359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/>
                <a:t>Flow Matching</a:t>
              </a:r>
              <a:endParaRPr lang="zh-CN" altLang="en-US" sz="1000" dirty="0"/>
            </a:p>
          </p:txBody>
        </p:sp>
      </p:grp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AA1EC17A-4BED-E306-7606-8B6934A5D91D}"/>
              </a:ext>
            </a:extLst>
          </p:cNvPr>
          <p:cNvSpPr/>
          <p:nvPr/>
        </p:nvSpPr>
        <p:spPr>
          <a:xfrm>
            <a:off x="9113041" y="5558228"/>
            <a:ext cx="1963024" cy="769604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60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104E8-7873-7D49-BA92-A1740A141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91235-0296-E0A2-B43E-CE40A9AA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04" y="144654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sz="2000" b="1" dirty="0"/>
              <a:t>Decoys</a:t>
            </a:r>
            <a:r>
              <a:rPr lang="zh-CN" altLang="en-US" sz="2000" b="1" dirty="0"/>
              <a:t>生成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2BE8A563-91F5-B4B6-E961-80F14EF913D9}"/>
              </a:ext>
            </a:extLst>
          </p:cNvPr>
          <p:cNvSpPr/>
          <p:nvPr/>
        </p:nvSpPr>
        <p:spPr>
          <a:xfrm>
            <a:off x="634914" y="2028053"/>
            <a:ext cx="1058092" cy="4572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E8B0877B-AE07-538F-A027-59919393B5E8}"/>
              </a:ext>
            </a:extLst>
          </p:cNvPr>
          <p:cNvSpPr txBox="1"/>
          <p:nvPr/>
        </p:nvSpPr>
        <p:spPr>
          <a:xfrm>
            <a:off x="586841" y="2059797"/>
            <a:ext cx="1210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Pure_RNA</a:t>
            </a:r>
            <a:endParaRPr lang="zh-CN" altLang="en-US" dirty="0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23B8B30A-1042-8CC9-623C-6CDA19AE4F91}"/>
              </a:ext>
            </a:extLst>
          </p:cNvPr>
          <p:cNvGrpSpPr/>
          <p:nvPr/>
        </p:nvGrpSpPr>
        <p:grpSpPr>
          <a:xfrm>
            <a:off x="2850854" y="2054146"/>
            <a:ext cx="1230007" cy="432299"/>
            <a:chOff x="5710609" y="4507211"/>
            <a:chExt cx="1230007" cy="432299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D6D4F573-70AE-D800-3B56-588D49C3F9C0}"/>
                </a:ext>
              </a:extLst>
            </p:cNvPr>
            <p:cNvSpPr/>
            <p:nvPr/>
          </p:nvSpPr>
          <p:spPr>
            <a:xfrm>
              <a:off x="5710609" y="4507211"/>
              <a:ext cx="1058091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684F79D5-A6AB-D958-392F-385E9CFC16EE}"/>
                </a:ext>
              </a:extLst>
            </p:cNvPr>
            <p:cNvSpPr txBox="1"/>
            <p:nvPr/>
          </p:nvSpPr>
          <p:spPr>
            <a:xfrm>
              <a:off x="5747542" y="4510448"/>
              <a:ext cx="1193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/>
                <a:t>Protenix</a:t>
              </a:r>
              <a:endParaRPr lang="zh-CN" altLang="en-US" dirty="0"/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CE4D2B72-828A-766F-F8AE-30EEF28F1909}"/>
              </a:ext>
            </a:extLst>
          </p:cNvPr>
          <p:cNvCxnSpPr>
            <a:cxnSpLocks/>
            <a:endCxn id="48" idx="2"/>
          </p:cNvCxnSpPr>
          <p:nvPr/>
        </p:nvCxnSpPr>
        <p:spPr>
          <a:xfrm>
            <a:off x="1697372" y="2253148"/>
            <a:ext cx="1156063" cy="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650EDA17-A8CC-9C29-FCD8-FC8404D0FE60}"/>
              </a:ext>
            </a:extLst>
          </p:cNvPr>
          <p:cNvSpPr txBox="1"/>
          <p:nvPr/>
        </p:nvSpPr>
        <p:spPr>
          <a:xfrm>
            <a:off x="1697372" y="2007600"/>
            <a:ext cx="2312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RNA sequences</a:t>
            </a:r>
            <a:endParaRPr lang="zh-CN" altLang="en-US" sz="1000" dirty="0"/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B018AE1D-814E-C936-1849-5BE758979D25}"/>
              </a:ext>
            </a:extLst>
          </p:cNvPr>
          <p:cNvCxnSpPr/>
          <p:nvPr/>
        </p:nvCxnSpPr>
        <p:spPr>
          <a:xfrm>
            <a:off x="3908945" y="2245167"/>
            <a:ext cx="9732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A3935939-4722-EE19-51F7-0BD038ABB561}"/>
              </a:ext>
            </a:extLst>
          </p:cNvPr>
          <p:cNvGrpSpPr/>
          <p:nvPr/>
        </p:nvGrpSpPr>
        <p:grpSpPr>
          <a:xfrm>
            <a:off x="4882165" y="2072943"/>
            <a:ext cx="1661178" cy="432299"/>
            <a:chOff x="7741920" y="4526244"/>
            <a:chExt cx="1661178" cy="432299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6983C70F-9A41-C2B1-5CB3-2EE694D4BFBB}"/>
                </a:ext>
              </a:extLst>
            </p:cNvPr>
            <p:cNvSpPr/>
            <p:nvPr/>
          </p:nvSpPr>
          <p:spPr>
            <a:xfrm>
              <a:off x="7741920" y="4526244"/>
              <a:ext cx="1075562" cy="432299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123B27F7-3E91-DAF1-E98F-1BC7629555BC}"/>
                </a:ext>
              </a:extLst>
            </p:cNvPr>
            <p:cNvSpPr txBox="1"/>
            <p:nvPr/>
          </p:nvSpPr>
          <p:spPr>
            <a:xfrm>
              <a:off x="7741920" y="4584860"/>
              <a:ext cx="16611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/>
                <a:t>Pred Structure</a:t>
              </a:r>
              <a:endParaRPr lang="zh-CN" altLang="en-US" sz="1200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6C85F804-0637-23C6-27D5-6F3A78123FCC}"/>
              </a:ext>
            </a:extLst>
          </p:cNvPr>
          <p:cNvSpPr txBox="1"/>
          <p:nvPr/>
        </p:nvSpPr>
        <p:spPr>
          <a:xfrm>
            <a:off x="1671675" y="2259021"/>
            <a:ext cx="1968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+RNA MSA</a:t>
            </a:r>
            <a:endParaRPr lang="zh-CN" altLang="en-US" sz="1000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ACFDD70-4C86-59EF-04E8-3731CC9DE5C9}"/>
              </a:ext>
            </a:extLst>
          </p:cNvPr>
          <p:cNvSpPr txBox="1"/>
          <p:nvPr/>
        </p:nvSpPr>
        <p:spPr>
          <a:xfrm>
            <a:off x="1671675" y="2409628"/>
            <a:ext cx="25690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+Template</a:t>
            </a:r>
            <a:endParaRPr lang="zh-CN" altLang="en-US" sz="1000" dirty="0"/>
          </a:p>
        </p:txBody>
      </p:sp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FBDD854D-73A8-4E39-04FA-508F37CD6C10}"/>
              </a:ext>
            </a:extLst>
          </p:cNvPr>
          <p:cNvSpPr/>
          <p:nvPr/>
        </p:nvSpPr>
        <p:spPr>
          <a:xfrm>
            <a:off x="567257" y="1207176"/>
            <a:ext cx="5528744" cy="2103119"/>
          </a:xfrm>
          <a:prstGeom prst="roundRect">
            <a:avLst/>
          </a:prstGeom>
          <a:noFill/>
          <a:ln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形 19" descr="数据库 轮廓">
            <a:extLst>
              <a:ext uri="{FF2B5EF4-FFF2-40B4-BE49-F238E27FC236}">
                <a16:creationId xmlns:a16="http://schemas.microsoft.com/office/drawing/2014/main" id="{C5177D81-5E44-EBAE-652A-F58064B03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7604" y="1924931"/>
            <a:ext cx="914400" cy="914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BFFEED7-3506-0897-6740-E883FF70A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907" y="1700576"/>
            <a:ext cx="4529354" cy="145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390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F42C24-D1FA-1791-26A3-BD50C27A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Todo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D4B4D8-28B4-61D8-C0F9-ACE4F0FCA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/>
              <a:t>More Data </a:t>
            </a:r>
          </a:p>
          <a:p>
            <a:pPr lvl="1"/>
            <a:r>
              <a:rPr lang="zh-CN" altLang="en-US" dirty="0"/>
              <a:t>模型搭建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91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104</Words>
  <Application>Microsoft Office PowerPoint</Application>
  <PresentationFormat>宽屏</PresentationFormat>
  <Paragraphs>60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Overview</vt:lpstr>
      <vt:lpstr>Data screening</vt:lpstr>
      <vt:lpstr>Data screening</vt:lpstr>
      <vt:lpstr>Decoys生成</vt:lpstr>
      <vt:lpstr>Decoys生成</vt:lpstr>
      <vt:lpstr>Todo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庭浩 夏</dc:creator>
  <cp:lastModifiedBy>庭浩 夏</cp:lastModifiedBy>
  <cp:revision>74</cp:revision>
  <dcterms:created xsi:type="dcterms:W3CDTF">2026-03-11T09:45:15Z</dcterms:created>
  <dcterms:modified xsi:type="dcterms:W3CDTF">2026-03-26T15:11:07Z</dcterms:modified>
</cp:coreProperties>
</file>