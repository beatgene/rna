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8" r:id="rId4"/>
    <p:sldId id="259" r:id="rId5"/>
    <p:sldId id="269" r:id="rId6"/>
    <p:sldId id="27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623" autoAdjust="0"/>
  </p:normalViewPr>
  <p:slideViewPr>
    <p:cSldViewPr snapToGrid="0">
      <p:cViewPr varScale="1">
        <p:scale>
          <a:sx n="146" d="100"/>
          <a:sy n="146" d="100"/>
        </p:scale>
        <p:origin x="63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CC9CD-6638-49BE-BC62-B84BC9BF0AFE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C29-8C47-43D8-B711-B0BE1BDD4F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659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搜索到</a:t>
            </a:r>
            <a:r>
              <a:rPr lang="en-US" altLang="zh-CN" dirty="0"/>
              <a:t>9443</a:t>
            </a:r>
            <a:r>
              <a:rPr lang="zh-CN" altLang="en-US" dirty="0"/>
              <a:t>个，下载到服务器</a:t>
            </a:r>
            <a:r>
              <a:rPr lang="en-US" altLang="zh-CN" dirty="0"/>
              <a:t>9439</a:t>
            </a:r>
            <a:r>
              <a:rPr lang="zh-CN" altLang="en-US" dirty="0"/>
              <a:t>个，四个下载失败；</a:t>
            </a:r>
            <a:r>
              <a:rPr lang="en-US" altLang="zh-CN" dirty="0"/>
              <a:t>9438</a:t>
            </a:r>
            <a:r>
              <a:rPr lang="zh-CN" altLang="en-US" dirty="0"/>
              <a:t>是</a:t>
            </a:r>
            <a:r>
              <a:rPr lang="en-US" altLang="zh-CN" dirty="0"/>
              <a:t>all_rna_structures.csv</a:t>
            </a:r>
            <a:r>
              <a:rPr lang="zh-CN" altLang="en-US" dirty="0"/>
              <a:t>的数据；分类日志</a:t>
            </a:r>
            <a:r>
              <a:rPr lang="en-US" altLang="zh-CN" dirty="0"/>
              <a:t>9428</a:t>
            </a:r>
            <a:r>
              <a:rPr lang="zh-CN" altLang="en-US" dirty="0"/>
              <a:t>是旧数据；</a:t>
            </a:r>
            <a:r>
              <a:rPr lang="en-US" altLang="zh-CN" dirty="0">
                <a:solidFill>
                  <a:srgbClr val="FF0000"/>
                </a:solidFill>
              </a:rPr>
              <a:t>1979</a:t>
            </a:r>
            <a:r>
              <a:rPr lang="zh-CN" altLang="en-US" dirty="0">
                <a:solidFill>
                  <a:srgbClr val="FF0000"/>
                </a:solidFill>
              </a:rPr>
              <a:t>个</a:t>
            </a:r>
            <a:r>
              <a:rPr lang="en-US" altLang="zh-CN" dirty="0">
                <a:solidFill>
                  <a:srgbClr val="FF0000"/>
                </a:solidFill>
              </a:rPr>
              <a:t>pure+4373</a:t>
            </a:r>
            <a:r>
              <a:rPr lang="zh-CN" altLang="en-US" dirty="0">
                <a:solidFill>
                  <a:srgbClr val="FF0000"/>
                </a:solidFill>
              </a:rPr>
              <a:t>个</a:t>
            </a:r>
            <a:r>
              <a:rPr lang="en-US" altLang="zh-CN" dirty="0">
                <a:solidFill>
                  <a:srgbClr val="FF0000"/>
                </a:solidFill>
              </a:rPr>
              <a:t>RNA</a:t>
            </a:r>
            <a:r>
              <a:rPr lang="zh-CN" altLang="en-US" dirty="0">
                <a:solidFill>
                  <a:srgbClr val="FF0000"/>
                </a:solidFill>
              </a:rPr>
              <a:t>蛋白质复合物</a:t>
            </a:r>
            <a:r>
              <a:rPr lang="en-US" altLang="zh-CN" dirty="0">
                <a:solidFill>
                  <a:srgbClr val="FF0000"/>
                </a:solidFill>
              </a:rPr>
              <a:t>+1385</a:t>
            </a:r>
            <a:r>
              <a:rPr lang="zh-CN" altLang="en-US" dirty="0">
                <a:solidFill>
                  <a:srgbClr val="FF0000"/>
                </a:solidFill>
              </a:rPr>
              <a:t>个核糖体</a:t>
            </a:r>
            <a:r>
              <a:rPr lang="en-US" altLang="zh-CN" dirty="0">
                <a:solidFill>
                  <a:srgbClr val="FF0000"/>
                </a:solidFill>
              </a:rPr>
              <a:t>+1601Ribosome_Bound+101Failed</a:t>
            </a:r>
            <a:r>
              <a:rPr lang="en-US" altLang="zh-CN">
                <a:solidFill>
                  <a:srgbClr val="FF0000"/>
                </a:solidFill>
              </a:rPr>
              <a:t>=9439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E2C29-8C47-43D8-B711-B0BE1BDD4FA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713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Num_workers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E2C29-8C47-43D8-B711-B0BE1BDD4F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127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等变图注意力层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E6C7E-7D24-46BE-BF93-383979678C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716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带预热的余弦退火重启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E2C29-8C47-43D8-B711-B0BE1BDD4F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057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大幅缩减总训练步数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E2C29-8C47-43D8-B711-B0BE1BDD4FA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673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94E93-AB50-359E-2C9C-68ABAE3A7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0C3B8C-34F5-6F82-5D9E-C4A4E5FAE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5E4D28-971A-4692-C3A3-1C17F041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95F1CC-D9AF-9F0E-094D-6C7587374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CA7576-B2B8-4342-D130-955CCF30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46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B0690-435F-C248-BEA5-E7161A957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6EE637-93B4-6A17-CCEF-37D69F7CF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FCF204-D8B1-EF09-A5A8-90136A46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DBF490-9FE8-21F4-66A2-469F40E8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BCBA61-BA23-A21F-F27B-661BF2B5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36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E43F3-9D10-6A73-A7CD-C68FC088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A2858E-16A9-E6B8-267B-ED1F1D80F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2019B4-EE95-AA83-E363-E308242B7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AC4341-E62A-7215-F8D7-19F1D8EA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7749AB-A8C8-4BA4-62F9-40E55F0C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978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D6946-B34A-FE98-BBCE-A8755B241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2E86F-61E1-AC6A-F0BE-07538D8B1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68E58E-BCB1-8F2F-0438-1F6A55DE6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89ADE5-51B8-258A-0889-812B66C9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F5AF51-40AD-38D9-6812-A4B8955ED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6F348F-CA6D-2D9B-08C6-E230438D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80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7A173-12F0-36E0-3F4D-A420AAE6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587C01-B1A1-39F6-1AF0-27594B02D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D2FD2F-D14D-87E9-91B2-A46E5D5ED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4361A3-EC17-FA8E-D8B3-B1E03C6A1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D7C7EB-3D66-46B1-0C00-2130A5216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994148-C46F-6750-19DE-873015EA3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0EE3CF-6114-8D26-6169-91F606E5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6E07BA9-D237-8F44-8D10-2870754D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551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6D73F-887D-0B02-F776-251D9061B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446729-545F-5FF7-D036-0D1AEC01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EB323B-ED28-DDFF-343C-249641D84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6A30E1-2066-9CD4-8FB2-16954FBDA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33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F153A5-9C0E-A1B7-C6E6-ED5FD19E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868CD5-E454-2068-524A-CEBA52FA5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E25F8E-2AF1-0BED-6379-791EEA8F5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69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F3F8E-69D2-02E7-C2CA-5AA99C2F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A278FC-0C23-52D9-E632-40B977FBD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033EFF-D038-B84D-2002-CF364D528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1035F1-670F-7B02-EC18-16DC0ACC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9B1200-F5D1-818E-B873-181325792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DBA059-68FD-5D7D-0663-BF8070D3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255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8700C7-9FFD-91CD-0871-CAB0636B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23B0DF-FA10-97BA-E6A7-B5D8F5462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C1B9E8-FAC8-A6A9-B4B8-D99060948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4E32A3-FC1D-9E23-2DEB-9762D4D2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8C2573-D19A-4190-8868-F2038847D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81B2E7-0562-8A51-7F93-27DFAC51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1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3F856-D2C5-4AEE-5CFC-62720E20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6BF573-93F8-AC9C-6DB1-9A388E234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96F784-2E1F-AEE6-C23C-5E5F39DF7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BD2169-2FFF-3723-21EF-D1B269F9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9421AD-C29C-1DFD-77D7-174EDB05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671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DD13AD-B5F3-35CD-057A-FB7EA249F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E94B16-AD19-6146-2D16-1C2C6478E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AC024F-5B55-BBAB-53F0-F77412A6E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4977-D718-4801-9A76-1C02E492AAC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3243C8-F5F2-C8B6-5481-B9D048E4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D3D4BA-A304-D424-F925-F7C370F1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91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171196-E749-46D4-955F-28677A49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8B4FC9-E48B-0E40-67E2-DADC751A7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3148A0-5A12-70F6-DA76-9C1771224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04977-D718-4801-9A76-1C02E492AAC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EB24AC-EC5F-601D-07FD-C83EA3FE4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D54909-2051-291B-57CD-3B64F0990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A2273-69FA-4848-99F9-816465B24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84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3F80ABE-74B2-4EBE-383A-E29D92111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15" y="1162144"/>
            <a:ext cx="1052160" cy="1052160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CEB4A77-C9F3-CEA3-D831-AD6E6DBC2C8C}"/>
              </a:ext>
            </a:extLst>
          </p:cNvPr>
          <p:cNvCxnSpPr>
            <a:cxnSpLocks/>
          </p:cNvCxnSpPr>
          <p:nvPr/>
        </p:nvCxnSpPr>
        <p:spPr>
          <a:xfrm>
            <a:off x="1567542" y="1688224"/>
            <a:ext cx="1887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50B4B2E-7A29-899B-1C5E-F80D68AFB606}"/>
              </a:ext>
            </a:extLst>
          </p:cNvPr>
          <p:cNvSpPr txBox="1"/>
          <p:nvPr/>
        </p:nvSpPr>
        <p:spPr>
          <a:xfrm>
            <a:off x="1564539" y="1442003"/>
            <a:ext cx="19218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polymer_entity_count_RNA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形 16" descr="数据库 轮廓">
            <a:extLst>
              <a:ext uri="{FF2B5EF4-FFF2-40B4-BE49-F238E27FC236}">
                <a16:creationId xmlns:a16="http://schemas.microsoft.com/office/drawing/2014/main" id="{E2F3629B-A59B-CD0B-BA82-1DFA5929FB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9025" y="1442003"/>
            <a:ext cx="914400" cy="914400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DBCC1BA-05F8-7E7A-CD33-B2588025CACF}"/>
              </a:ext>
            </a:extLst>
          </p:cNvPr>
          <p:cNvCxnSpPr/>
          <p:nvPr/>
        </p:nvCxnSpPr>
        <p:spPr>
          <a:xfrm>
            <a:off x="4328761" y="1688224"/>
            <a:ext cx="14234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4438DD4-257E-044A-C011-A183F0643AEB}"/>
              </a:ext>
            </a:extLst>
          </p:cNvPr>
          <p:cNvSpPr txBox="1"/>
          <p:nvPr/>
        </p:nvSpPr>
        <p:spPr>
          <a:xfrm>
            <a:off x="3693073" y="1162144"/>
            <a:ext cx="438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图形 21" descr="筛选 轮廓">
            <a:extLst>
              <a:ext uri="{FF2B5EF4-FFF2-40B4-BE49-F238E27FC236}">
                <a16:creationId xmlns:a16="http://schemas.microsoft.com/office/drawing/2014/main" id="{1F0341A6-6A81-1BF4-6825-7015E3EB1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1357" y="1688224"/>
            <a:ext cx="914400" cy="914400"/>
          </a:xfrm>
          <a:prstGeom prst="rect">
            <a:avLst/>
          </a:prstGeom>
        </p:spPr>
      </p:pic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B80F53B6-1F9D-E00D-A1A1-7549432F035C}"/>
              </a:ext>
            </a:extLst>
          </p:cNvPr>
          <p:cNvCxnSpPr>
            <a:cxnSpLocks/>
          </p:cNvCxnSpPr>
          <p:nvPr/>
        </p:nvCxnSpPr>
        <p:spPr>
          <a:xfrm flipV="1">
            <a:off x="4864788" y="932418"/>
            <a:ext cx="887374" cy="7558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8" name="图形 27" descr="数据库 轮廓">
            <a:extLst>
              <a:ext uri="{FF2B5EF4-FFF2-40B4-BE49-F238E27FC236}">
                <a16:creationId xmlns:a16="http://schemas.microsoft.com/office/drawing/2014/main" id="{6F6AD8D4-AE5D-8C02-D7D9-7ABEEC14C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9025" y="404493"/>
            <a:ext cx="914400" cy="914400"/>
          </a:xfrm>
          <a:prstGeom prst="rect">
            <a:avLst/>
          </a:prstGeom>
        </p:spPr>
      </p:pic>
      <p:pic>
        <p:nvPicPr>
          <p:cNvPr id="29" name="图形 28" descr="数据库 轮廓">
            <a:extLst>
              <a:ext uri="{FF2B5EF4-FFF2-40B4-BE49-F238E27FC236}">
                <a16:creationId xmlns:a16="http://schemas.microsoft.com/office/drawing/2014/main" id="{B53E4ED9-2837-E7F0-D19A-21CC23027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17061" y="1321037"/>
            <a:ext cx="914400" cy="914400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F096CC93-8E06-6D3B-F31D-7F0CA9ED7071}"/>
              </a:ext>
            </a:extLst>
          </p:cNvPr>
          <p:cNvSpPr txBox="1"/>
          <p:nvPr/>
        </p:nvSpPr>
        <p:spPr>
          <a:xfrm>
            <a:off x="5841328" y="1295294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pure(1979)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106684B-1263-05F1-7F69-171ED813154E}"/>
              </a:ext>
            </a:extLst>
          </p:cNvPr>
          <p:cNvSpPr txBox="1"/>
          <p:nvPr/>
        </p:nvSpPr>
        <p:spPr>
          <a:xfrm>
            <a:off x="5982640" y="281383"/>
            <a:ext cx="1537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65092351-5421-75F1-BEBB-1CC7EABF0BF0}"/>
              </a:ext>
            </a:extLst>
          </p:cNvPr>
          <p:cNvCxnSpPr>
            <a:cxnSpLocks/>
          </p:cNvCxnSpPr>
          <p:nvPr/>
        </p:nvCxnSpPr>
        <p:spPr>
          <a:xfrm>
            <a:off x="6751490" y="1700799"/>
            <a:ext cx="15141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图片 34">
            <a:extLst>
              <a:ext uri="{FF2B5EF4-FFF2-40B4-BE49-F238E27FC236}">
                <a16:creationId xmlns:a16="http://schemas.microsoft.com/office/drawing/2014/main" id="{C5E9865E-785F-2DC8-DBBA-747C4A48B7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578" y="932418"/>
            <a:ext cx="722365" cy="722365"/>
          </a:xfrm>
          <a:prstGeom prst="rect">
            <a:avLst/>
          </a:prstGeom>
        </p:spPr>
      </p:pic>
      <p:pic>
        <p:nvPicPr>
          <p:cNvPr id="37" name="图形 36" descr="数据库 轮廓">
            <a:extLst>
              <a:ext uri="{FF2B5EF4-FFF2-40B4-BE49-F238E27FC236}">
                <a16:creationId xmlns:a16="http://schemas.microsoft.com/office/drawing/2014/main" id="{B6B924B9-AAC1-9305-4FA8-C1AB17060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98661" y="454339"/>
            <a:ext cx="588802" cy="588802"/>
          </a:xfrm>
          <a:prstGeom prst="rect">
            <a:avLst/>
          </a:prstGeom>
        </p:spPr>
      </p:pic>
      <p:sp>
        <p:nvSpPr>
          <p:cNvPr id="39" name="左大括号 38">
            <a:extLst>
              <a:ext uri="{FF2B5EF4-FFF2-40B4-BE49-F238E27FC236}">
                <a16:creationId xmlns:a16="http://schemas.microsoft.com/office/drawing/2014/main" id="{CACFF374-A4E3-C46C-FBF2-112E2B6D77A0}"/>
              </a:ext>
            </a:extLst>
          </p:cNvPr>
          <p:cNvSpPr/>
          <p:nvPr/>
        </p:nvSpPr>
        <p:spPr>
          <a:xfrm>
            <a:off x="8265635" y="692945"/>
            <a:ext cx="238735" cy="201570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形 39" descr="数据库 轮廓">
            <a:extLst>
              <a:ext uri="{FF2B5EF4-FFF2-40B4-BE49-F238E27FC236}">
                <a16:creationId xmlns:a16="http://schemas.microsoft.com/office/drawing/2014/main" id="{5DB45511-31AB-6ED6-8413-A1140A425E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98661" y="1097227"/>
            <a:ext cx="588802" cy="588802"/>
          </a:xfrm>
          <a:prstGeom prst="rect">
            <a:avLst/>
          </a:prstGeom>
        </p:spPr>
      </p:pic>
      <p:pic>
        <p:nvPicPr>
          <p:cNvPr id="41" name="图形 40" descr="数据库 轮廓">
            <a:extLst>
              <a:ext uri="{FF2B5EF4-FFF2-40B4-BE49-F238E27FC236}">
                <a16:creationId xmlns:a16="http://schemas.microsoft.com/office/drawing/2014/main" id="{683D5430-7822-8B81-EA37-CB69183399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9250" y="1740116"/>
            <a:ext cx="588802" cy="588802"/>
          </a:xfrm>
          <a:prstGeom prst="rect">
            <a:avLst/>
          </a:prstGeom>
        </p:spPr>
      </p:pic>
      <p:pic>
        <p:nvPicPr>
          <p:cNvPr id="42" name="图形 41" descr="数据库 轮廓">
            <a:extLst>
              <a:ext uri="{FF2B5EF4-FFF2-40B4-BE49-F238E27FC236}">
                <a16:creationId xmlns:a16="http://schemas.microsoft.com/office/drawing/2014/main" id="{910E49F8-3A54-F888-CAC5-9615D43B10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9250" y="2414251"/>
            <a:ext cx="588802" cy="588802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F261C41D-FDB7-171E-9A5F-1F9DC3D04784}"/>
              </a:ext>
            </a:extLst>
          </p:cNvPr>
          <p:cNvSpPr txBox="1"/>
          <p:nvPr/>
        </p:nvSpPr>
        <p:spPr>
          <a:xfrm>
            <a:off x="8498661" y="304185"/>
            <a:ext cx="6408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 42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6C38152-B91E-0602-42EB-6575B3049F2B}"/>
              </a:ext>
            </a:extLst>
          </p:cNvPr>
          <p:cNvSpPr txBox="1"/>
          <p:nvPr/>
        </p:nvSpPr>
        <p:spPr>
          <a:xfrm>
            <a:off x="8493253" y="966593"/>
            <a:ext cx="6408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 43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4059566-D1A2-6A99-E506-39059D66F3CB}"/>
              </a:ext>
            </a:extLst>
          </p:cNvPr>
          <p:cNvSpPr txBox="1"/>
          <p:nvPr/>
        </p:nvSpPr>
        <p:spPr>
          <a:xfrm>
            <a:off x="8500540" y="1601015"/>
            <a:ext cx="6408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 44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57D1CB8-6D0D-A6F2-D910-418390A3E097}"/>
              </a:ext>
            </a:extLst>
          </p:cNvPr>
          <p:cNvSpPr txBox="1"/>
          <p:nvPr/>
        </p:nvSpPr>
        <p:spPr>
          <a:xfrm>
            <a:off x="8509250" y="2235437"/>
            <a:ext cx="6408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 45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图形 51" descr="并购 纯色填充">
            <a:extLst>
              <a:ext uri="{FF2B5EF4-FFF2-40B4-BE49-F238E27FC236}">
                <a16:creationId xmlns:a16="http://schemas.microsoft.com/office/drawing/2014/main" id="{5C84EBB7-1D59-1919-EEF3-16B63C4CC5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39718" y="1243598"/>
            <a:ext cx="914400" cy="914400"/>
          </a:xfrm>
          <a:prstGeom prst="rect">
            <a:avLst/>
          </a:prstGeom>
        </p:spPr>
      </p:pic>
      <p:pic>
        <p:nvPicPr>
          <p:cNvPr id="53" name="图形 52" descr="数据库 轮廓">
            <a:extLst>
              <a:ext uri="{FF2B5EF4-FFF2-40B4-BE49-F238E27FC236}">
                <a16:creationId xmlns:a16="http://schemas.microsoft.com/office/drawing/2014/main" id="{849B35BF-2B89-B4AD-1175-91FCEE48B5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49441" y="996721"/>
            <a:ext cx="1454807" cy="1454807"/>
          </a:xfrm>
          <a:prstGeom prst="rect">
            <a:avLst/>
          </a:prstGeom>
        </p:spPr>
      </p:pic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B48491DC-22B6-F9BA-2972-0E9E2D8F8B5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98781" y="2580483"/>
            <a:ext cx="2377227" cy="21193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ABEECA35-0876-A678-1FA9-EE3380DE54AB}"/>
              </a:ext>
            </a:extLst>
          </p:cNvPr>
          <p:cNvCxnSpPr/>
          <p:nvPr/>
        </p:nvCxnSpPr>
        <p:spPr>
          <a:xfrm rot="5400000">
            <a:off x="8306251" y="2522123"/>
            <a:ext cx="2311059" cy="2230129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0" name="图形 59" descr="数据库 轮廓">
            <a:extLst>
              <a:ext uri="{FF2B5EF4-FFF2-40B4-BE49-F238E27FC236}">
                <a16:creationId xmlns:a16="http://schemas.microsoft.com/office/drawing/2014/main" id="{B5FB5667-77D6-4E11-5E38-1B7F6973D9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67734" y="4858886"/>
            <a:ext cx="1357963" cy="1357963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F4531CF4-8EE0-68F6-B256-1221A8DB2A77}"/>
              </a:ext>
            </a:extLst>
          </p:cNvPr>
          <p:cNvSpPr txBox="1"/>
          <p:nvPr/>
        </p:nvSpPr>
        <p:spPr>
          <a:xfrm>
            <a:off x="8165975" y="4805328"/>
            <a:ext cx="438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.pt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843E65C-AE09-C853-096A-C7086F8EDE55}"/>
              </a:ext>
            </a:extLst>
          </p:cNvPr>
          <p:cNvSpPr txBox="1"/>
          <p:nvPr/>
        </p:nvSpPr>
        <p:spPr>
          <a:xfrm>
            <a:off x="8793062" y="4883610"/>
            <a:ext cx="22301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'pos': 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pos_tensor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pos_pred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pos_pred_tensor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atomic_numbers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z_tensor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'sequence': sequence,</a:t>
            </a:r>
            <a:b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pdb_id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pdb_id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'seed': seed,</a:t>
            </a:r>
            <a:b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pred_filename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pred_cif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alignment_ratio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</a:t>
            </a:r>
            <a:r>
              <a:rPr lang="en-US" altLang="zh-C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alignment_ratio</a:t>
            </a:r>
            <a:endParaRPr lang="en-US" altLang="zh-CN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9673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7134F9B-5308-AC67-4752-6299316C328F}"/>
              </a:ext>
            </a:extLst>
          </p:cNvPr>
          <p:cNvSpPr txBox="1"/>
          <p:nvPr/>
        </p:nvSpPr>
        <p:spPr>
          <a:xfrm>
            <a:off x="3017969" y="6488668"/>
            <a:ext cx="165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z(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04A643A-808D-060E-FC57-9107A0990950}"/>
              </a:ext>
            </a:extLst>
          </p:cNvPr>
          <p:cNvCxnSpPr>
            <a:cxnSpLocks/>
          </p:cNvCxnSpPr>
          <p:nvPr/>
        </p:nvCxnSpPr>
        <p:spPr>
          <a:xfrm flipV="1">
            <a:off x="3844532" y="6048391"/>
            <a:ext cx="0" cy="525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5E58C43-AD73-4F89-FEFD-461C8BA1404C}"/>
              </a:ext>
            </a:extLst>
          </p:cNvPr>
          <p:cNvSpPr/>
          <p:nvPr/>
        </p:nvSpPr>
        <p:spPr>
          <a:xfrm>
            <a:off x="3063013" y="5624912"/>
            <a:ext cx="1608083" cy="3693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DD641F7-527A-C146-269D-56FF243F554B}"/>
              </a:ext>
            </a:extLst>
          </p:cNvPr>
          <p:cNvCxnSpPr>
            <a:cxnSpLocks/>
          </p:cNvCxnSpPr>
          <p:nvPr/>
        </p:nvCxnSpPr>
        <p:spPr>
          <a:xfrm flipV="1">
            <a:off x="3842281" y="4985188"/>
            <a:ext cx="2251" cy="585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DD5FB3A0-CBE5-F47B-0841-E9AFCA9CCA9C}"/>
              </a:ext>
            </a:extLst>
          </p:cNvPr>
          <p:cNvSpPr txBox="1"/>
          <p:nvPr/>
        </p:nvSpPr>
        <p:spPr>
          <a:xfrm>
            <a:off x="3842282" y="5182340"/>
            <a:ext cx="227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</a:t>
            </a:r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num_atoms,hidden_channels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1115BCA-AFA2-A91A-B491-08457493BC09}"/>
              </a:ext>
            </a:extLst>
          </p:cNvPr>
          <p:cNvSpPr/>
          <p:nvPr/>
        </p:nvSpPr>
        <p:spPr>
          <a:xfrm>
            <a:off x="3063014" y="4450283"/>
            <a:ext cx="1605831" cy="3693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neighbor_embedding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AEA30FA-6DC2-AD99-E341-8970E6A259E3}"/>
              </a:ext>
            </a:extLst>
          </p:cNvPr>
          <p:cNvCxnSpPr>
            <a:cxnSpLocks/>
          </p:cNvCxnSpPr>
          <p:nvPr/>
        </p:nvCxnSpPr>
        <p:spPr>
          <a:xfrm flipV="1">
            <a:off x="3842281" y="3833273"/>
            <a:ext cx="0" cy="504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DCA57CF-AC20-D76D-A3B9-2801B9FCFD55}"/>
              </a:ext>
            </a:extLst>
          </p:cNvPr>
          <p:cNvSpPr txBox="1"/>
          <p:nvPr/>
        </p:nvSpPr>
        <p:spPr>
          <a:xfrm>
            <a:off x="3796487" y="4028035"/>
            <a:ext cx="232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</a:t>
            </a:r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num_atoms,hidden_channels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F048D3-0266-3CBD-97E2-57756630F35A}"/>
              </a:ext>
            </a:extLst>
          </p:cNvPr>
          <p:cNvSpPr txBox="1"/>
          <p:nvPr/>
        </p:nvSpPr>
        <p:spPr>
          <a:xfrm>
            <a:off x="6309208" y="4024601"/>
            <a:ext cx="2762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(num_atoms,3,hidden_channels)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5843D45-7711-3065-AA10-8D4CDAA804C8}"/>
              </a:ext>
            </a:extLst>
          </p:cNvPr>
          <p:cNvCxnSpPr>
            <a:cxnSpLocks/>
          </p:cNvCxnSpPr>
          <p:nvPr/>
        </p:nvCxnSpPr>
        <p:spPr>
          <a:xfrm flipV="1">
            <a:off x="7526908" y="3833273"/>
            <a:ext cx="0" cy="194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0594664-2EA3-09CF-DA87-669F490D19FD}"/>
              </a:ext>
            </a:extLst>
          </p:cNvPr>
          <p:cNvSpPr/>
          <p:nvPr/>
        </p:nvSpPr>
        <p:spPr>
          <a:xfrm>
            <a:off x="96094" y="507777"/>
            <a:ext cx="11232554" cy="32330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659C22-A33B-FE20-8C8E-FD9FD27EA38C}"/>
              </a:ext>
            </a:extLst>
          </p:cNvPr>
          <p:cNvSpPr txBox="1"/>
          <p:nvPr/>
        </p:nvSpPr>
        <p:spPr>
          <a:xfrm>
            <a:off x="11270092" y="2124315"/>
            <a:ext cx="10495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num_layers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47DDA65-7189-E236-0839-B41159C8C1E9}"/>
              </a:ext>
            </a:extLst>
          </p:cNvPr>
          <p:cNvSpPr txBox="1"/>
          <p:nvPr/>
        </p:nvSpPr>
        <p:spPr>
          <a:xfrm>
            <a:off x="313810" y="3371565"/>
            <a:ext cx="232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</a:t>
            </a:r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num_atoms,hidden_channels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50A11A-A82D-749C-E3F6-6DC345542373}"/>
              </a:ext>
            </a:extLst>
          </p:cNvPr>
          <p:cNvSpPr txBox="1"/>
          <p:nvPr/>
        </p:nvSpPr>
        <p:spPr>
          <a:xfrm>
            <a:off x="2570530" y="3375801"/>
            <a:ext cx="232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t(num_atoms,1)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692B484-646A-749E-F610-6B8EFAA21C6F}"/>
              </a:ext>
            </a:extLst>
          </p:cNvPr>
          <p:cNvCxnSpPr/>
          <p:nvPr/>
        </p:nvCxnSpPr>
        <p:spPr>
          <a:xfrm flipV="1">
            <a:off x="2054022" y="3099050"/>
            <a:ext cx="0" cy="27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A578940-66B6-E451-0E27-7B8C3281D949}"/>
              </a:ext>
            </a:extLst>
          </p:cNvPr>
          <p:cNvSpPr/>
          <p:nvPr/>
        </p:nvSpPr>
        <p:spPr>
          <a:xfrm>
            <a:off x="1251106" y="2791547"/>
            <a:ext cx="1605831" cy="2769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A79D3DE-EE5C-538F-C92F-72BD9B5EE580}"/>
              </a:ext>
            </a:extLst>
          </p:cNvPr>
          <p:cNvSpPr/>
          <p:nvPr/>
        </p:nvSpPr>
        <p:spPr>
          <a:xfrm>
            <a:off x="1251106" y="2222421"/>
            <a:ext cx="1605831" cy="2769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5410B99-DA80-70AC-12D0-C9123A9E717A}"/>
              </a:ext>
            </a:extLst>
          </p:cNvPr>
          <p:cNvSpPr/>
          <p:nvPr/>
        </p:nvSpPr>
        <p:spPr>
          <a:xfrm>
            <a:off x="1245848" y="2506984"/>
            <a:ext cx="1605831" cy="2769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nn.SiLu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9E5338B-DF6B-FDB9-4D7E-7F2A64CB67CB}"/>
              </a:ext>
            </a:extLst>
          </p:cNvPr>
          <p:cNvSpPr/>
          <p:nvPr/>
        </p:nvSpPr>
        <p:spPr>
          <a:xfrm>
            <a:off x="1245848" y="1937858"/>
            <a:ext cx="1605831" cy="2769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227563D-82BB-14C8-52CB-C5B9AB175878}"/>
              </a:ext>
            </a:extLst>
          </p:cNvPr>
          <p:cNvSpPr txBox="1"/>
          <p:nvPr/>
        </p:nvSpPr>
        <p:spPr>
          <a:xfrm>
            <a:off x="2048763" y="1645269"/>
            <a:ext cx="232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</a:t>
            </a:r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num_atoms,hidden_channels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D2A198A-CBC5-D15C-A0C0-D72DF9574CDD}"/>
              </a:ext>
            </a:extLst>
          </p:cNvPr>
          <p:cNvCxnSpPr/>
          <p:nvPr/>
        </p:nvCxnSpPr>
        <p:spPr>
          <a:xfrm flipV="1">
            <a:off x="2029995" y="1665343"/>
            <a:ext cx="0" cy="27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9695521-858F-549D-DBFE-6288A9BD72AE}"/>
              </a:ext>
            </a:extLst>
          </p:cNvPr>
          <p:cNvSpPr/>
          <p:nvPr/>
        </p:nvSpPr>
        <p:spPr>
          <a:xfrm>
            <a:off x="155778" y="1235992"/>
            <a:ext cx="1141499" cy="2769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4BF3A4E-CECC-7D2B-14A8-DEBE54CB2E08}"/>
              </a:ext>
            </a:extLst>
          </p:cNvPr>
          <p:cNvSpPr/>
          <p:nvPr/>
        </p:nvSpPr>
        <p:spPr>
          <a:xfrm>
            <a:off x="1394496" y="1235992"/>
            <a:ext cx="1141499" cy="2769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8633772-D049-3889-9181-E577BA1AFDDA}"/>
              </a:ext>
            </a:extLst>
          </p:cNvPr>
          <p:cNvSpPr/>
          <p:nvPr/>
        </p:nvSpPr>
        <p:spPr>
          <a:xfrm>
            <a:off x="2654988" y="1232012"/>
            <a:ext cx="1141499" cy="2769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nn.Linear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2AD295A-7389-A74A-36DE-FEED3D594B11}"/>
              </a:ext>
            </a:extLst>
          </p:cNvPr>
          <p:cNvCxnSpPr/>
          <p:nvPr/>
        </p:nvCxnSpPr>
        <p:spPr>
          <a:xfrm flipV="1">
            <a:off x="719767" y="959497"/>
            <a:ext cx="0" cy="27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7081CA17-F256-FC44-9A01-D9F4C578E2D0}"/>
              </a:ext>
            </a:extLst>
          </p:cNvPr>
          <p:cNvCxnSpPr/>
          <p:nvPr/>
        </p:nvCxnSpPr>
        <p:spPr>
          <a:xfrm flipV="1">
            <a:off x="1965245" y="959496"/>
            <a:ext cx="0" cy="27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80C9C4C-209A-62C0-1C45-CBBEAD575EA8}"/>
              </a:ext>
            </a:extLst>
          </p:cNvPr>
          <p:cNvCxnSpPr/>
          <p:nvPr/>
        </p:nvCxnSpPr>
        <p:spPr>
          <a:xfrm flipV="1">
            <a:off x="3225737" y="959495"/>
            <a:ext cx="0" cy="27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2E7931F7-0715-3D78-5FA6-D2DC6600F261}"/>
              </a:ext>
            </a:extLst>
          </p:cNvPr>
          <p:cNvSpPr txBox="1"/>
          <p:nvPr/>
        </p:nvSpPr>
        <p:spPr>
          <a:xfrm>
            <a:off x="39790" y="749806"/>
            <a:ext cx="17754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US" altLang="zh-CN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num_atoms,num_head,head_dim</a:t>
            </a:r>
            <a:r>
              <a: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D534DA1-184E-87B2-2B28-46247A6FFCDC}"/>
              </a:ext>
            </a:extLst>
          </p:cNvPr>
          <p:cNvSpPr txBox="1"/>
          <p:nvPr/>
        </p:nvSpPr>
        <p:spPr>
          <a:xfrm>
            <a:off x="1142246" y="597454"/>
            <a:ext cx="17754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k(</a:t>
            </a:r>
            <a:r>
              <a:rPr lang="en-US" altLang="zh-CN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num_atoms,num_head,head_dim</a:t>
            </a:r>
            <a:r>
              <a: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F4A95D0-F5C2-76AB-5C47-0D3D5785F6E6}"/>
              </a:ext>
            </a:extLst>
          </p:cNvPr>
          <p:cNvSpPr txBox="1"/>
          <p:nvPr/>
        </p:nvSpPr>
        <p:spPr>
          <a:xfrm>
            <a:off x="2438960" y="757337"/>
            <a:ext cx="18582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v(</a:t>
            </a:r>
            <a:r>
              <a:rPr lang="en-US" altLang="zh-CN" sz="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num_atoms,num_head,head_dim</a:t>
            </a:r>
            <a:r>
              <a: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*4)</a:t>
            </a:r>
            <a:endParaRPr lang="zh-CN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583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8FA0D6D8-5947-0604-BCF7-0512AA320EEA}"/>
              </a:ext>
            </a:extLst>
          </p:cNvPr>
          <p:cNvSpPr/>
          <p:nvPr/>
        </p:nvSpPr>
        <p:spPr>
          <a:xfrm>
            <a:off x="720725" y="384175"/>
            <a:ext cx="2701925" cy="14366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452C1E9-D1AC-1478-15C6-2E27E2D93E7B}"/>
              </a:ext>
            </a:extLst>
          </p:cNvPr>
          <p:cNvSpPr txBox="1"/>
          <p:nvPr/>
        </p:nvSpPr>
        <p:spPr>
          <a:xfrm>
            <a:off x="841375" y="226855"/>
            <a:ext cx="22145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BaseDataModule</a:t>
            </a:r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pl.LightningDataModule</a:t>
            </a:r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ED6744-4F0D-B784-B77A-F7D23254F49A}"/>
              </a:ext>
            </a:extLst>
          </p:cNvPr>
          <p:cNvSpPr/>
          <p:nvPr/>
        </p:nvSpPr>
        <p:spPr>
          <a:xfrm>
            <a:off x="865187" y="550861"/>
            <a:ext cx="2411413" cy="114935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E633F4-2F17-C02C-C040-524989E01B01}"/>
              </a:ext>
            </a:extLst>
          </p:cNvPr>
          <p:cNvSpPr txBox="1"/>
          <p:nvPr/>
        </p:nvSpPr>
        <p:spPr>
          <a:xfrm>
            <a:off x="865187" y="383482"/>
            <a:ext cx="18272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DataLoader</a:t>
            </a:r>
            <a:r>
              <a:rPr lang="en-US" altLang="zh-CN" sz="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[train/</a:t>
            </a:r>
            <a:r>
              <a:rPr lang="en-US" altLang="zh-CN" sz="6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/test]</a:t>
            </a:r>
            <a:endParaRPr lang="zh-CN" altLang="en-US" sz="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EDAA877-9500-E500-DD44-158B48D9D139}"/>
              </a:ext>
            </a:extLst>
          </p:cNvPr>
          <p:cNvSpPr/>
          <p:nvPr/>
        </p:nvSpPr>
        <p:spPr>
          <a:xfrm>
            <a:off x="1495424" y="760510"/>
            <a:ext cx="977901" cy="6604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20F639-3A40-29A6-6F95-947B3401B80B}"/>
              </a:ext>
            </a:extLst>
          </p:cNvPr>
          <p:cNvSpPr txBox="1"/>
          <p:nvPr/>
        </p:nvSpPr>
        <p:spPr>
          <a:xfrm>
            <a:off x="1444624" y="598507"/>
            <a:ext cx="10906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EuclideanDataset</a:t>
            </a:r>
            <a:r>
              <a:rPr lang="en-US" altLang="zh-CN" sz="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(Dataset)</a:t>
            </a:r>
            <a:endParaRPr lang="zh-CN" altLang="en-US" sz="6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B0F9BB5-63DA-8313-2634-A0D112D6D7A9}"/>
              </a:ext>
            </a:extLst>
          </p:cNvPr>
          <p:cNvSpPr txBox="1"/>
          <p:nvPr/>
        </p:nvSpPr>
        <p:spPr>
          <a:xfrm>
            <a:off x="1535112" y="1469379"/>
            <a:ext cx="938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altLang="zh-CN" sz="600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self.dataloader_args</a:t>
            </a:r>
            <a:endParaRPr lang="en-US" altLang="zh-CN" sz="6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14" name="图形 13" descr="文档 纯色填充">
            <a:extLst>
              <a:ext uri="{FF2B5EF4-FFF2-40B4-BE49-F238E27FC236}">
                <a16:creationId xmlns:a16="http://schemas.microsoft.com/office/drawing/2014/main" id="{EB2E209D-54BA-5A0C-5E94-807D6C522A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038" y="1000124"/>
            <a:ext cx="217113" cy="21711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5008009-81FD-2102-73DF-E96FF6195D4B}"/>
              </a:ext>
            </a:extLst>
          </p:cNvPr>
          <p:cNvSpPr txBox="1"/>
          <p:nvPr/>
        </p:nvSpPr>
        <p:spPr>
          <a:xfrm>
            <a:off x="1041400" y="1164062"/>
            <a:ext cx="6778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.pt</a:t>
            </a:r>
            <a:endParaRPr lang="zh-CN" altLang="en-US" sz="6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2EE42F6-F7FF-4C58-FC97-CA6265C93CFA}"/>
              </a:ext>
            </a:extLst>
          </p:cNvPr>
          <p:cNvCxnSpPr/>
          <p:nvPr/>
        </p:nvCxnSpPr>
        <p:spPr>
          <a:xfrm>
            <a:off x="1279151" y="1125536"/>
            <a:ext cx="190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0A1302A-F978-7994-1CD2-61DAEE3F2819}"/>
              </a:ext>
            </a:extLst>
          </p:cNvPr>
          <p:cNvCxnSpPr/>
          <p:nvPr/>
        </p:nvCxnSpPr>
        <p:spPr>
          <a:xfrm>
            <a:off x="2498725" y="1136650"/>
            <a:ext cx="1936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D659EF9-8B48-E7E4-31DB-E6AE2E75B505}"/>
              </a:ext>
            </a:extLst>
          </p:cNvPr>
          <p:cNvSpPr txBox="1"/>
          <p:nvPr/>
        </p:nvSpPr>
        <p:spPr>
          <a:xfrm>
            <a:off x="2554290" y="694017"/>
            <a:ext cx="1176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 (num_atoms,3)</a:t>
            </a:r>
          </a:p>
          <a:p>
            <a:r>
              <a:rPr lang="en-US" altLang="zh-CN" sz="4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atomic_numbers</a:t>
            </a:r>
            <a:r>
              <a:rPr lang="en-US" altLang="zh-CN" sz="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num_atoms</a:t>
            </a:r>
            <a:r>
              <a:rPr lang="en-US" altLang="zh-CN" sz="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smiles(str)</a:t>
            </a:r>
          </a:p>
          <a:p>
            <a:r>
              <a:rPr lang="en-US" altLang="zh-CN" sz="4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r>
              <a:rPr lang="en-US" altLang="zh-CN" sz="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(2,num_edges)</a:t>
            </a:r>
          </a:p>
          <a:p>
            <a:r>
              <a:rPr lang="en-US" altLang="zh-CN" sz="400" strike="sngStrik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400" strike="sngStrike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chirals</a:t>
            </a:r>
            <a:r>
              <a:rPr lang="en-US" altLang="zh-CN" sz="400" strike="sngStrik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altLang="zh-CN" sz="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</a:p>
          <a:p>
            <a:r>
              <a:rPr lang="en-US" altLang="zh-CN" sz="400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node_attr</a:t>
            </a:r>
            <a:r>
              <a:rPr lang="en-US" altLang="zh-CN" sz="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num_atoms,node_attr_dim</a:t>
            </a:r>
            <a:r>
              <a:rPr lang="en-US" altLang="zh-CN" sz="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400" strike="sngStrike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r>
              <a:rPr lang="en-US" altLang="zh-CN" sz="400" strike="sngStrik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strike="sngStrike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num_edges,edge_attr_dim</a:t>
            </a:r>
            <a:r>
              <a:rPr lang="en-US" altLang="zh-CN" sz="400" strike="sngStrik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" strike="sngStrike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1F3CA1C-3423-8D06-A5FE-2954F1514589}"/>
              </a:ext>
            </a:extLst>
          </p:cNvPr>
          <p:cNvSpPr/>
          <p:nvPr/>
        </p:nvSpPr>
        <p:spPr>
          <a:xfrm>
            <a:off x="521051" y="2486434"/>
            <a:ext cx="8790305" cy="41772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B5DDE2-6CD2-C0F4-7627-D21E4989E35D}"/>
              </a:ext>
            </a:extLst>
          </p:cNvPr>
          <p:cNvSpPr txBox="1"/>
          <p:nvPr/>
        </p:nvSpPr>
        <p:spPr>
          <a:xfrm>
            <a:off x="927099" y="2285918"/>
            <a:ext cx="29527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BaseFlow</a:t>
            </a:r>
            <a:r>
              <a:rPr lang="en-US" altLang="zh-CN" sz="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6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BaseModel</a:t>
            </a:r>
            <a:r>
              <a:rPr lang="en-US" altLang="zh-CN" sz="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6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LightningModule</a:t>
            </a:r>
            <a:r>
              <a:rPr lang="en-US" altLang="zh-CN" sz="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zh-CN" altLang="en-US" sz="6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BE53D4-60F6-A256-7BA7-76C0263F48FF}"/>
              </a:ext>
            </a:extLst>
          </p:cNvPr>
          <p:cNvSpPr/>
          <p:nvPr/>
        </p:nvSpPr>
        <p:spPr>
          <a:xfrm>
            <a:off x="1349376" y="2551114"/>
            <a:ext cx="1343024" cy="15430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0" name="图形 29" descr="数据库 轮廓">
            <a:extLst>
              <a:ext uri="{FF2B5EF4-FFF2-40B4-BE49-F238E27FC236}">
                <a16:creationId xmlns:a16="http://schemas.microsoft.com/office/drawing/2014/main" id="{715F9E20-E6B8-ED4D-50E7-4DD8E5A816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051" y="3108676"/>
            <a:ext cx="540988" cy="540988"/>
          </a:xfrm>
          <a:prstGeom prst="rect">
            <a:avLst/>
          </a:prstGeom>
        </p:spPr>
      </p:pic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226D0AB-CB54-875C-1E24-BBB1A819CCE4}"/>
              </a:ext>
            </a:extLst>
          </p:cNvPr>
          <p:cNvCxnSpPr/>
          <p:nvPr/>
        </p:nvCxnSpPr>
        <p:spPr>
          <a:xfrm>
            <a:off x="1028326" y="3351213"/>
            <a:ext cx="250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56C4574-7443-2FF8-967A-E6EA87263FDA}"/>
              </a:ext>
            </a:extLst>
          </p:cNvPr>
          <p:cNvSpPr/>
          <p:nvPr/>
        </p:nvSpPr>
        <p:spPr>
          <a:xfrm>
            <a:off x="1535112" y="2671764"/>
            <a:ext cx="1000125" cy="2428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FC67A6D-4625-5F6F-5EC3-8B935019509A}"/>
              </a:ext>
            </a:extLst>
          </p:cNvPr>
          <p:cNvSpPr txBox="1"/>
          <p:nvPr/>
        </p:nvSpPr>
        <p:spPr>
          <a:xfrm>
            <a:off x="1535112" y="2658640"/>
            <a:ext cx="1130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z,           pos,        </a:t>
            </a:r>
            <a:r>
              <a:rPr lang="en-US" altLang="zh-CN" sz="6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bond_index</a:t>
            </a:r>
            <a:endParaRPr lang="en-US" altLang="zh-CN" sz="6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node_attr</a:t>
            </a:r>
            <a:r>
              <a:rPr lang="en-US" altLang="zh-CN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en-US" altLang="zh-CN" sz="6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edge_attr,batch</a:t>
            </a:r>
            <a:endParaRPr lang="en-US" altLang="zh-CN" sz="6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6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A3716E4-C413-1DC7-E728-0FD8284A6A16}"/>
              </a:ext>
            </a:extLst>
          </p:cNvPr>
          <p:cNvSpPr/>
          <p:nvPr/>
        </p:nvSpPr>
        <p:spPr>
          <a:xfrm>
            <a:off x="1535112" y="3477457"/>
            <a:ext cx="1000125" cy="49786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0A8EDA6-E880-4A3A-B667-0B5641425DC9}"/>
              </a:ext>
            </a:extLst>
          </p:cNvPr>
          <p:cNvSpPr txBox="1"/>
          <p:nvPr/>
        </p:nvSpPr>
        <p:spPr>
          <a:xfrm>
            <a:off x="1535112" y="3461304"/>
            <a:ext cx="788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600" baseline="-25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</a:p>
          <a:p>
            <a:r>
              <a:rPr lang="en-US" altLang="zh-CN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lang="en-US" altLang="zh-CN" sz="6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</a:t>
            </a:r>
            <a:endParaRPr lang="en-US" altLang="zh-CN" sz="6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u_t</a:t>
            </a:r>
            <a:endParaRPr lang="en-US" altLang="zh-CN" sz="6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baseline="-250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V_t</a:t>
            </a:r>
            <a:endParaRPr lang="zh-CN" altLang="en-US" sz="600" baseline="-250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4D62427-20FB-B866-F31E-C06B8563634F}"/>
              </a:ext>
            </a:extLst>
          </p:cNvPr>
          <p:cNvCxnSpPr/>
          <p:nvPr/>
        </p:nvCxnSpPr>
        <p:spPr>
          <a:xfrm>
            <a:off x="2783042" y="3343276"/>
            <a:ext cx="250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A48AAB2A-4D26-7EED-C154-BD034AB72D6D}"/>
              </a:ext>
            </a:extLst>
          </p:cNvPr>
          <p:cNvSpPr txBox="1"/>
          <p:nvPr/>
        </p:nvSpPr>
        <p:spPr>
          <a:xfrm>
            <a:off x="2979737" y="3245860"/>
            <a:ext cx="10054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loss(</a:t>
            </a:r>
            <a:r>
              <a:rPr lang="en-US" altLang="zh-CN" sz="6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v_t,u_t</a:t>
            </a:r>
            <a:r>
              <a:rPr lang="en-US" altLang="zh-CN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AB8BDF5-BBF1-8553-EA57-BDCBE1FABA8C}"/>
              </a:ext>
            </a:extLst>
          </p:cNvPr>
          <p:cNvSpPr txBox="1"/>
          <p:nvPr/>
        </p:nvSpPr>
        <p:spPr>
          <a:xfrm>
            <a:off x="3788833" y="3252926"/>
            <a:ext cx="3926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smiles</a:t>
            </a:r>
            <a:endParaRPr lang="zh-CN" altLang="en-US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45F5DA8-45A9-C92A-B047-41A9B240D561}"/>
              </a:ext>
            </a:extLst>
          </p:cNvPr>
          <p:cNvSpPr/>
          <p:nvPr/>
        </p:nvSpPr>
        <p:spPr>
          <a:xfrm>
            <a:off x="4546601" y="2607734"/>
            <a:ext cx="2882900" cy="15684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AAAB664-23C2-F1DD-FD29-8A3A330E7563}"/>
              </a:ext>
            </a:extLst>
          </p:cNvPr>
          <p:cNvCxnSpPr>
            <a:cxnSpLocks/>
          </p:cNvCxnSpPr>
          <p:nvPr/>
        </p:nvCxnSpPr>
        <p:spPr>
          <a:xfrm>
            <a:off x="4180232" y="3341689"/>
            <a:ext cx="230048" cy="1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5763132-4748-9A45-CDA0-58131573A958}"/>
              </a:ext>
            </a:extLst>
          </p:cNvPr>
          <p:cNvCxnSpPr>
            <a:cxnSpLocks/>
          </p:cNvCxnSpPr>
          <p:nvPr/>
        </p:nvCxnSpPr>
        <p:spPr>
          <a:xfrm>
            <a:off x="7598649" y="3351213"/>
            <a:ext cx="230048" cy="1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2A7AD21F-1AE5-4475-60F2-B7E15C1FD673}"/>
              </a:ext>
            </a:extLst>
          </p:cNvPr>
          <p:cNvSpPr txBox="1"/>
          <p:nvPr/>
        </p:nvSpPr>
        <p:spPr>
          <a:xfrm>
            <a:off x="7828697" y="3258880"/>
            <a:ext cx="1001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C7F60825-D704-03BE-263D-8F9BF37C2D87}"/>
              </a:ext>
            </a:extLst>
          </p:cNvPr>
          <p:cNvSpPr/>
          <p:nvPr/>
        </p:nvSpPr>
        <p:spPr>
          <a:xfrm>
            <a:off x="4632535" y="2658640"/>
            <a:ext cx="980017" cy="8217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8D5E31B-90D4-0783-08FA-59740C663162}"/>
              </a:ext>
            </a:extLst>
          </p:cNvPr>
          <p:cNvSpPr txBox="1"/>
          <p:nvPr/>
        </p:nvSpPr>
        <p:spPr>
          <a:xfrm>
            <a:off x="4632535" y="2607827"/>
            <a:ext cx="891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max_batch_size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num_samples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n_timesteps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s_churn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t_min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t_max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sampler_type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19E2F461-A52A-D722-B2B6-B8103CDAA219}"/>
              </a:ext>
            </a:extLst>
          </p:cNvPr>
          <p:cNvSpPr/>
          <p:nvPr/>
        </p:nvSpPr>
        <p:spPr>
          <a:xfrm>
            <a:off x="5763897" y="2661711"/>
            <a:ext cx="1039069" cy="8217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3E05998-00C8-8DE1-50A7-18D3E6444A8E}"/>
              </a:ext>
            </a:extLst>
          </p:cNvPr>
          <p:cNvSpPr txBox="1"/>
          <p:nvPr/>
        </p:nvSpPr>
        <p:spPr>
          <a:xfrm>
            <a:off x="5748873" y="2671764"/>
            <a:ext cx="772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atomic_numbers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smiles_changed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chiral[]</a:t>
            </a:r>
            <a:b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node_attr</a:t>
            </a:r>
            <a:br>
              <a:rPr lang="en-US" altLang="zh-CN" sz="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endParaRPr lang="en-US" altLang="zh-CN" sz="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3499B0-237E-71DC-D5AD-2169603B4260}"/>
              </a:ext>
            </a:extLst>
          </p:cNvPr>
          <p:cNvSpPr/>
          <p:nvPr/>
        </p:nvSpPr>
        <p:spPr>
          <a:xfrm>
            <a:off x="841376" y="4215968"/>
            <a:ext cx="8057092" cy="22721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DE0C0B-EA8F-AE22-8029-233F714BFB5F}"/>
              </a:ext>
            </a:extLst>
          </p:cNvPr>
          <p:cNvSpPr txBox="1"/>
          <p:nvPr/>
        </p:nvSpPr>
        <p:spPr>
          <a:xfrm>
            <a:off x="1140618" y="4969933"/>
            <a:ext cx="59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4593B7-8827-7765-191E-397737743856}"/>
              </a:ext>
            </a:extLst>
          </p:cNvPr>
          <p:cNvCxnSpPr/>
          <p:nvPr/>
        </p:nvCxnSpPr>
        <p:spPr>
          <a:xfrm>
            <a:off x="1246717" y="5062266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AFA7408-35D3-5BE5-8C43-F5DCAFCD5659}"/>
              </a:ext>
            </a:extLst>
          </p:cNvPr>
          <p:cNvSpPr/>
          <p:nvPr/>
        </p:nvSpPr>
        <p:spPr>
          <a:xfrm>
            <a:off x="1499811" y="4838491"/>
            <a:ext cx="149755" cy="5101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51C62F-4AEA-FF9B-4227-0D8761FDA26A}"/>
              </a:ext>
            </a:extLst>
          </p:cNvPr>
          <p:cNvSpPr txBox="1"/>
          <p:nvPr/>
        </p:nvSpPr>
        <p:spPr>
          <a:xfrm>
            <a:off x="1444624" y="4866600"/>
            <a:ext cx="276999" cy="4642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EA08629-1ABF-A1D4-3B19-69769DE5DDF8}"/>
              </a:ext>
            </a:extLst>
          </p:cNvPr>
          <p:cNvCxnSpPr/>
          <p:nvPr/>
        </p:nvCxnSpPr>
        <p:spPr>
          <a:xfrm>
            <a:off x="1719262" y="5065699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14CD888-E488-A34B-3947-BE8743D440C5}"/>
              </a:ext>
            </a:extLst>
          </p:cNvPr>
          <p:cNvSpPr txBox="1"/>
          <p:nvPr/>
        </p:nvSpPr>
        <p:spPr>
          <a:xfrm>
            <a:off x="1935702" y="4969933"/>
            <a:ext cx="59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14F8DC3-4798-202A-8E88-981D94D3F739}"/>
              </a:ext>
            </a:extLst>
          </p:cNvPr>
          <p:cNvSpPr txBox="1"/>
          <p:nvPr/>
        </p:nvSpPr>
        <p:spPr>
          <a:xfrm>
            <a:off x="945118" y="4919813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107883A-572E-3F87-ADC4-16305450B411}"/>
              </a:ext>
            </a:extLst>
          </p:cNvPr>
          <p:cNvSpPr txBox="1"/>
          <p:nvPr/>
        </p:nvSpPr>
        <p:spPr>
          <a:xfrm>
            <a:off x="1632744" y="4917696"/>
            <a:ext cx="81840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num_atoms,hidden_channels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586D222-45EE-9B2C-FB09-B05BC4DFF9FB}"/>
              </a:ext>
            </a:extLst>
          </p:cNvPr>
          <p:cNvSpPr txBox="1"/>
          <p:nvPr/>
        </p:nvSpPr>
        <p:spPr>
          <a:xfrm>
            <a:off x="1140618" y="5683250"/>
            <a:ext cx="3294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A30EB5F-C557-5F98-1D58-6D6E1805C31E}"/>
              </a:ext>
            </a:extLst>
          </p:cNvPr>
          <p:cNvSpPr txBox="1"/>
          <p:nvPr/>
        </p:nvSpPr>
        <p:spPr>
          <a:xfrm>
            <a:off x="1059353" y="5923677"/>
            <a:ext cx="5484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84D2859-A03F-F013-DBE5-C77309DBFAC7}"/>
              </a:ext>
            </a:extLst>
          </p:cNvPr>
          <p:cNvCxnSpPr/>
          <p:nvPr/>
        </p:nvCxnSpPr>
        <p:spPr>
          <a:xfrm>
            <a:off x="1590147" y="5876898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8A4F09FF-A3D5-9672-8F3D-C2952C5BD485}"/>
              </a:ext>
            </a:extLst>
          </p:cNvPr>
          <p:cNvSpPr txBox="1"/>
          <p:nvPr/>
        </p:nvSpPr>
        <p:spPr>
          <a:xfrm>
            <a:off x="1038224" y="5624087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(num_atoms,3)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5F6D120-60E2-DB3A-0FB2-7C26F8AC62E7}"/>
              </a:ext>
            </a:extLst>
          </p:cNvPr>
          <p:cNvSpPr txBox="1"/>
          <p:nvPr/>
        </p:nvSpPr>
        <p:spPr>
          <a:xfrm>
            <a:off x="1040738" y="5876898"/>
            <a:ext cx="196029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(2,num_edges)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5E716808-8CA9-970A-752A-E015C187C3C9}"/>
              </a:ext>
            </a:extLst>
          </p:cNvPr>
          <p:cNvSpPr/>
          <p:nvPr/>
        </p:nvSpPr>
        <p:spPr>
          <a:xfrm>
            <a:off x="3009893" y="5623270"/>
            <a:ext cx="156129" cy="6752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7E3B4B0-E747-FB03-32D1-5B8C95FC8F3E}"/>
              </a:ext>
            </a:extLst>
          </p:cNvPr>
          <p:cNvSpPr txBox="1"/>
          <p:nvPr/>
        </p:nvSpPr>
        <p:spPr>
          <a:xfrm>
            <a:off x="2302860" y="5776223"/>
            <a:ext cx="67323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edge_weight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BFE1665-07C7-721D-A82E-638A71D3ADC4}"/>
              </a:ext>
            </a:extLst>
          </p:cNvPr>
          <p:cNvSpPr txBox="1"/>
          <p:nvPr/>
        </p:nvSpPr>
        <p:spPr>
          <a:xfrm>
            <a:off x="2364526" y="5728895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num_edges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F6E5507-777D-05A1-FA78-3332676F56C6}"/>
              </a:ext>
            </a:extLst>
          </p:cNvPr>
          <p:cNvCxnSpPr/>
          <p:nvPr/>
        </p:nvCxnSpPr>
        <p:spPr>
          <a:xfrm>
            <a:off x="2809500" y="5878357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074A6AE7-B74C-0067-8FD7-1C2A8C7907B0}"/>
              </a:ext>
            </a:extLst>
          </p:cNvPr>
          <p:cNvSpPr txBox="1"/>
          <p:nvPr/>
        </p:nvSpPr>
        <p:spPr>
          <a:xfrm>
            <a:off x="2942015" y="5620833"/>
            <a:ext cx="276999" cy="7587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distance_expansion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71AEE16-4C5D-8F6D-6E48-321E225E4D0D}"/>
              </a:ext>
            </a:extLst>
          </p:cNvPr>
          <p:cNvCxnSpPr/>
          <p:nvPr/>
        </p:nvCxnSpPr>
        <p:spPr>
          <a:xfrm>
            <a:off x="3219014" y="5883310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71EF7315-E9FD-7215-4C6C-0F9AE6A4E602}"/>
              </a:ext>
            </a:extLst>
          </p:cNvPr>
          <p:cNvSpPr txBox="1"/>
          <p:nvPr/>
        </p:nvSpPr>
        <p:spPr>
          <a:xfrm>
            <a:off x="3392012" y="5784565"/>
            <a:ext cx="4963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10A03F8-107E-DD31-10B1-2363443F3D17}"/>
              </a:ext>
            </a:extLst>
          </p:cNvPr>
          <p:cNvSpPr txBox="1"/>
          <p:nvPr/>
        </p:nvSpPr>
        <p:spPr>
          <a:xfrm>
            <a:off x="3316465" y="5729422"/>
            <a:ext cx="828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num_edges,num_rbf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7D761FC-28DC-6A1D-4118-0339803FBF80}"/>
              </a:ext>
            </a:extLst>
          </p:cNvPr>
          <p:cNvSpPr txBox="1"/>
          <p:nvPr/>
        </p:nvSpPr>
        <p:spPr>
          <a:xfrm>
            <a:off x="1729937" y="5772456"/>
            <a:ext cx="8556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edge_vec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CFB9D55-045F-1231-8941-848DB2B9DCB3}"/>
              </a:ext>
            </a:extLst>
          </p:cNvPr>
          <p:cNvSpPr txBox="1"/>
          <p:nvPr/>
        </p:nvSpPr>
        <p:spPr>
          <a:xfrm>
            <a:off x="1718560" y="5717126"/>
            <a:ext cx="51843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(num_edges,3)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1B350C25-0828-DC57-B59E-B8B32A179E19}"/>
              </a:ext>
            </a:extLst>
          </p:cNvPr>
          <p:cNvCxnSpPr/>
          <p:nvPr/>
        </p:nvCxnSpPr>
        <p:spPr>
          <a:xfrm>
            <a:off x="2157763" y="5878357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A124A559-0DE0-DC22-3F99-11C4FEF0A0F1}"/>
              </a:ext>
            </a:extLst>
          </p:cNvPr>
          <p:cNvCxnSpPr>
            <a:stCxn id="60" idx="0"/>
          </p:cNvCxnSpPr>
          <p:nvPr/>
        </p:nvCxnSpPr>
        <p:spPr>
          <a:xfrm rot="5400000" flipH="1" flipV="1">
            <a:off x="1987789" y="5467922"/>
            <a:ext cx="239193" cy="25921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C866E8BA-35B6-5594-2BF4-CA11DD5F82AD}"/>
              </a:ext>
            </a:extLst>
          </p:cNvPr>
          <p:cNvSpPr txBox="1"/>
          <p:nvPr/>
        </p:nvSpPr>
        <p:spPr>
          <a:xfrm>
            <a:off x="1899811" y="5311365"/>
            <a:ext cx="110122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98A9388-30AD-A53C-CC0A-22578A684DA8}"/>
              </a:ext>
            </a:extLst>
          </p:cNvPr>
          <p:cNvSpPr txBox="1"/>
          <p:nvPr/>
        </p:nvSpPr>
        <p:spPr>
          <a:xfrm>
            <a:off x="1880508" y="5268948"/>
            <a:ext cx="569916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num_edges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518D00D-C92E-3918-230C-899AF0195D14}"/>
              </a:ext>
            </a:extLst>
          </p:cNvPr>
          <p:cNvSpPr txBox="1"/>
          <p:nvPr/>
        </p:nvSpPr>
        <p:spPr>
          <a:xfrm>
            <a:off x="1917169" y="5564929"/>
            <a:ext cx="9217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masked_edge_weight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80ACB8A-4631-AC2D-B6BF-B947D7E35F2B}"/>
              </a:ext>
            </a:extLst>
          </p:cNvPr>
          <p:cNvSpPr txBox="1"/>
          <p:nvPr/>
        </p:nvSpPr>
        <p:spPr>
          <a:xfrm>
            <a:off x="2051840" y="5524670"/>
            <a:ext cx="73860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(num_edges,1)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96AB152-8611-0D07-9795-69ED896F93EC}"/>
              </a:ext>
            </a:extLst>
          </p:cNvPr>
          <p:cNvSpPr txBox="1"/>
          <p:nvPr/>
        </p:nvSpPr>
        <p:spPr>
          <a:xfrm>
            <a:off x="2221207" y="5389648"/>
            <a:ext cx="8556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edge_vec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81C75D3-AC00-F411-079E-005A057496A6}"/>
              </a:ext>
            </a:extLst>
          </p:cNvPr>
          <p:cNvSpPr txBox="1"/>
          <p:nvPr/>
        </p:nvSpPr>
        <p:spPr>
          <a:xfrm>
            <a:off x="2221207" y="5346667"/>
            <a:ext cx="51843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(num_edges,3)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8D74BC3-23B2-7259-A131-E64BCB8F41AF}"/>
              </a:ext>
            </a:extLst>
          </p:cNvPr>
          <p:cNvSpPr txBox="1"/>
          <p:nvPr/>
        </p:nvSpPr>
        <p:spPr>
          <a:xfrm>
            <a:off x="1780646" y="4575034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4CBCE22-37A9-BC97-75B4-53E685EECE9E}"/>
              </a:ext>
            </a:extLst>
          </p:cNvPr>
          <p:cNvSpPr txBox="1"/>
          <p:nvPr/>
        </p:nvSpPr>
        <p:spPr>
          <a:xfrm>
            <a:off x="1963978" y="4613032"/>
            <a:ext cx="59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5711C66-F9FF-4DD0-3044-D134FAB57BD8}"/>
              </a:ext>
            </a:extLst>
          </p:cNvPr>
          <p:cNvSpPr txBox="1"/>
          <p:nvPr/>
        </p:nvSpPr>
        <p:spPr>
          <a:xfrm>
            <a:off x="1767705" y="4738363"/>
            <a:ext cx="5484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F337B54-E9C6-9F2E-70F1-F3292CDC9EED}"/>
              </a:ext>
            </a:extLst>
          </p:cNvPr>
          <p:cNvSpPr txBox="1"/>
          <p:nvPr/>
        </p:nvSpPr>
        <p:spPr>
          <a:xfrm>
            <a:off x="1770239" y="4698497"/>
            <a:ext cx="196029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(2,num_edges)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CFF6E046-F695-43BE-C59F-695CB69F1022}"/>
              </a:ext>
            </a:extLst>
          </p:cNvPr>
          <p:cNvCxnSpPr>
            <a:cxnSpLocks/>
          </p:cNvCxnSpPr>
          <p:nvPr/>
        </p:nvCxnSpPr>
        <p:spPr>
          <a:xfrm>
            <a:off x="2381470" y="5066550"/>
            <a:ext cx="1655013" cy="50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752ECEB5-EEA0-4E1B-D3EA-5A293C4C6EB7}"/>
              </a:ext>
            </a:extLst>
          </p:cNvPr>
          <p:cNvCxnSpPr>
            <a:cxnSpLocks/>
          </p:cNvCxnSpPr>
          <p:nvPr/>
        </p:nvCxnSpPr>
        <p:spPr>
          <a:xfrm flipV="1">
            <a:off x="2845500" y="5071584"/>
            <a:ext cx="0" cy="8117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EC441FE8-9DAF-8A30-6903-FE8465C57957}"/>
              </a:ext>
            </a:extLst>
          </p:cNvPr>
          <p:cNvCxnSpPr/>
          <p:nvPr/>
        </p:nvCxnSpPr>
        <p:spPr>
          <a:xfrm flipH="1" flipV="1">
            <a:off x="3575050" y="5069067"/>
            <a:ext cx="14817" cy="6805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28DF92A5-0DCB-A998-03E6-D035D401A4F3}"/>
              </a:ext>
            </a:extLst>
          </p:cNvPr>
          <p:cNvSpPr/>
          <p:nvPr/>
        </p:nvSpPr>
        <p:spPr>
          <a:xfrm>
            <a:off x="4035240" y="4759571"/>
            <a:ext cx="139734" cy="7042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6330EC88-F522-6B9D-E26F-C306A4487901}"/>
              </a:ext>
            </a:extLst>
          </p:cNvPr>
          <p:cNvSpPr txBox="1"/>
          <p:nvPr/>
        </p:nvSpPr>
        <p:spPr>
          <a:xfrm>
            <a:off x="3956813" y="4745909"/>
            <a:ext cx="276999" cy="73153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NeighborEmbedding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658FAE4-6705-3BBF-C8CA-676A4CF32E7B}"/>
              </a:ext>
            </a:extLst>
          </p:cNvPr>
          <p:cNvSpPr txBox="1"/>
          <p:nvPr/>
        </p:nvSpPr>
        <p:spPr>
          <a:xfrm>
            <a:off x="4632535" y="4976734"/>
            <a:ext cx="59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75BF219-F411-7E53-2E81-623CA5E338FB}"/>
              </a:ext>
            </a:extLst>
          </p:cNvPr>
          <p:cNvSpPr txBox="1"/>
          <p:nvPr/>
        </p:nvSpPr>
        <p:spPr>
          <a:xfrm>
            <a:off x="4312239" y="4921150"/>
            <a:ext cx="81840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num_atoms,hidden_channels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DA7FC5D3-DB5F-3530-530C-E1801D5DFCC0}"/>
              </a:ext>
            </a:extLst>
          </p:cNvPr>
          <p:cNvCxnSpPr/>
          <p:nvPr/>
        </p:nvCxnSpPr>
        <p:spPr>
          <a:xfrm>
            <a:off x="4196302" y="5062266"/>
            <a:ext cx="1979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3A31F736-AF1D-CF25-026E-288168C45C1B}"/>
              </a:ext>
            </a:extLst>
          </p:cNvPr>
          <p:cNvSpPr txBox="1"/>
          <p:nvPr/>
        </p:nvSpPr>
        <p:spPr>
          <a:xfrm>
            <a:off x="4537633" y="5569088"/>
            <a:ext cx="3097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D5503FC-0980-3C88-0996-7EC18E9BD800}"/>
              </a:ext>
            </a:extLst>
          </p:cNvPr>
          <p:cNvSpPr txBox="1"/>
          <p:nvPr/>
        </p:nvSpPr>
        <p:spPr>
          <a:xfrm>
            <a:off x="4319416" y="5482726"/>
            <a:ext cx="84449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(num_atoms,3,hidden_channels)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0B79CF2F-C911-D32E-EDD6-FA967C90211C}"/>
              </a:ext>
            </a:extLst>
          </p:cNvPr>
          <p:cNvSpPr txBox="1"/>
          <p:nvPr/>
        </p:nvSpPr>
        <p:spPr>
          <a:xfrm>
            <a:off x="4418243" y="5231194"/>
            <a:ext cx="5484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1EB8431-B75A-0C29-EF83-14ADB91D1224}"/>
              </a:ext>
            </a:extLst>
          </p:cNvPr>
          <p:cNvSpPr txBox="1"/>
          <p:nvPr/>
        </p:nvSpPr>
        <p:spPr>
          <a:xfrm>
            <a:off x="4473048" y="5160711"/>
            <a:ext cx="196029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(2,num_edges)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FB439FFE-776B-7733-E1B5-F8976B241FFD}"/>
              </a:ext>
            </a:extLst>
          </p:cNvPr>
          <p:cNvSpPr txBox="1"/>
          <p:nvPr/>
        </p:nvSpPr>
        <p:spPr>
          <a:xfrm>
            <a:off x="4410280" y="6069109"/>
            <a:ext cx="67323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edge_weight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4932719-EE9C-F3B5-4AA7-995F1B8AB947}"/>
              </a:ext>
            </a:extLst>
          </p:cNvPr>
          <p:cNvSpPr txBox="1"/>
          <p:nvPr/>
        </p:nvSpPr>
        <p:spPr>
          <a:xfrm>
            <a:off x="4465391" y="6000232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num_edges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E7E7ED9B-B067-733A-90B9-FFBF0D9E5C98}"/>
              </a:ext>
            </a:extLst>
          </p:cNvPr>
          <p:cNvSpPr txBox="1"/>
          <p:nvPr/>
        </p:nvSpPr>
        <p:spPr>
          <a:xfrm>
            <a:off x="4427705" y="5763023"/>
            <a:ext cx="51843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(num_edges,3)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19FE18A7-7305-029D-5FD4-2FD1B718174D}"/>
              </a:ext>
            </a:extLst>
          </p:cNvPr>
          <p:cNvSpPr txBox="1"/>
          <p:nvPr/>
        </p:nvSpPr>
        <p:spPr>
          <a:xfrm>
            <a:off x="4442096" y="5807859"/>
            <a:ext cx="8556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edge_vec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47233DA4-7803-69A7-3910-A473659C8EDF}"/>
              </a:ext>
            </a:extLst>
          </p:cNvPr>
          <p:cNvSpPr txBox="1"/>
          <p:nvPr/>
        </p:nvSpPr>
        <p:spPr>
          <a:xfrm>
            <a:off x="4487387" y="6319553"/>
            <a:ext cx="49635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edge_attr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42B1FFA-5B9D-A21A-E091-A81BFA7A7ED0}"/>
              </a:ext>
            </a:extLst>
          </p:cNvPr>
          <p:cNvSpPr txBox="1"/>
          <p:nvPr/>
        </p:nvSpPr>
        <p:spPr>
          <a:xfrm>
            <a:off x="4373740" y="6262110"/>
            <a:ext cx="828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num_edges,num_rbf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35CA446-15E8-B0BC-4CC5-6115B73DCD99}"/>
              </a:ext>
            </a:extLst>
          </p:cNvPr>
          <p:cNvSpPr txBox="1"/>
          <p:nvPr/>
        </p:nvSpPr>
        <p:spPr>
          <a:xfrm>
            <a:off x="4612569" y="4763940"/>
            <a:ext cx="936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D6FE8D81-7503-CF3C-288D-44F60AF9DCF9}"/>
              </a:ext>
            </a:extLst>
          </p:cNvPr>
          <p:cNvGrpSpPr/>
          <p:nvPr/>
        </p:nvGrpSpPr>
        <p:grpSpPr>
          <a:xfrm>
            <a:off x="5082939" y="4927494"/>
            <a:ext cx="553998" cy="1169508"/>
            <a:chOff x="5246652" y="4799723"/>
            <a:chExt cx="553998" cy="1169508"/>
          </a:xfrm>
        </p:grpSpPr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0FC1012F-AB47-54FD-79A7-255F3992F412}"/>
                </a:ext>
              </a:extLst>
            </p:cNvPr>
            <p:cNvSpPr/>
            <p:nvPr/>
          </p:nvSpPr>
          <p:spPr>
            <a:xfrm>
              <a:off x="5556611" y="4799723"/>
              <a:ext cx="187325" cy="113752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365D5DB5-2D58-D130-3CE0-E6DD1799649A}"/>
                </a:ext>
              </a:extLst>
            </p:cNvPr>
            <p:cNvSpPr txBox="1"/>
            <p:nvPr/>
          </p:nvSpPr>
          <p:spPr>
            <a:xfrm>
              <a:off x="5246652" y="4857241"/>
              <a:ext cx="553998" cy="111199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6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EquivariantMultiHeadAttention</a:t>
              </a:r>
              <a:endPara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zh-CN" altLang="en-US" dirty="0"/>
            </a:p>
          </p:txBody>
        </p:sp>
      </p:grpSp>
      <p:sp>
        <p:nvSpPr>
          <p:cNvPr id="129" name="文本框 128">
            <a:extLst>
              <a:ext uri="{FF2B5EF4-FFF2-40B4-BE49-F238E27FC236}">
                <a16:creationId xmlns:a16="http://schemas.microsoft.com/office/drawing/2014/main" id="{BF53464D-C162-332C-A1A1-9B453B0F0CE3}"/>
              </a:ext>
            </a:extLst>
          </p:cNvPr>
          <p:cNvSpPr txBox="1"/>
          <p:nvPr/>
        </p:nvSpPr>
        <p:spPr>
          <a:xfrm>
            <a:off x="5527310" y="5325652"/>
            <a:ext cx="3471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*8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右大括号 129">
            <a:extLst>
              <a:ext uri="{FF2B5EF4-FFF2-40B4-BE49-F238E27FC236}">
                <a16:creationId xmlns:a16="http://schemas.microsoft.com/office/drawing/2014/main" id="{BED8A642-7446-EDD7-CB57-D7989821272E}"/>
              </a:ext>
            </a:extLst>
          </p:cNvPr>
          <p:cNvSpPr/>
          <p:nvPr/>
        </p:nvSpPr>
        <p:spPr>
          <a:xfrm>
            <a:off x="5077055" y="4778943"/>
            <a:ext cx="45719" cy="159074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509D547B-15D2-B38F-3858-F6AAD2996C9B}"/>
              </a:ext>
            </a:extLst>
          </p:cNvPr>
          <p:cNvCxnSpPr>
            <a:cxnSpLocks/>
          </p:cNvCxnSpPr>
          <p:nvPr/>
        </p:nvCxnSpPr>
        <p:spPr>
          <a:xfrm>
            <a:off x="5122543" y="5574314"/>
            <a:ext cx="2178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3F1B5549-6030-A7F4-E7B1-B749CA40BF26}"/>
              </a:ext>
            </a:extLst>
          </p:cNvPr>
          <p:cNvSpPr txBox="1"/>
          <p:nvPr/>
        </p:nvSpPr>
        <p:spPr>
          <a:xfrm>
            <a:off x="6267837" y="5309896"/>
            <a:ext cx="81840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num_atoms,hidden_channels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960C3ED9-9E6D-5F06-C2D4-8684C573CFAC}"/>
              </a:ext>
            </a:extLst>
          </p:cNvPr>
          <p:cNvSpPr txBox="1"/>
          <p:nvPr/>
        </p:nvSpPr>
        <p:spPr>
          <a:xfrm>
            <a:off x="6594699" y="5371451"/>
            <a:ext cx="59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5F6DCE74-DEFD-1A87-E54A-768D9D400EBA}"/>
              </a:ext>
            </a:extLst>
          </p:cNvPr>
          <p:cNvSpPr txBox="1"/>
          <p:nvPr/>
        </p:nvSpPr>
        <p:spPr>
          <a:xfrm>
            <a:off x="6494808" y="5621173"/>
            <a:ext cx="3097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7423F8C3-CEDB-B2E0-4103-C08CC134F16A}"/>
              </a:ext>
            </a:extLst>
          </p:cNvPr>
          <p:cNvSpPr txBox="1"/>
          <p:nvPr/>
        </p:nvSpPr>
        <p:spPr>
          <a:xfrm>
            <a:off x="6269898" y="5543889"/>
            <a:ext cx="84449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(num_atoms,3,hidden_channels)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0D2A1F3E-ED7F-4A7F-D3BC-24E1CB3D0804}"/>
              </a:ext>
            </a:extLst>
          </p:cNvPr>
          <p:cNvSpPr txBox="1"/>
          <p:nvPr/>
        </p:nvSpPr>
        <p:spPr>
          <a:xfrm>
            <a:off x="6446951" y="5769789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num_atoms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E2D1D53-C018-04E1-1D7F-22E16159F2BE}"/>
              </a:ext>
            </a:extLst>
          </p:cNvPr>
          <p:cNvSpPr txBox="1"/>
          <p:nvPr/>
        </p:nvSpPr>
        <p:spPr>
          <a:xfrm>
            <a:off x="6619685" y="5809755"/>
            <a:ext cx="599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F69CCA7F-0030-1AE2-6B6C-4A2CD220D3CA}"/>
              </a:ext>
            </a:extLst>
          </p:cNvPr>
          <p:cNvSpPr txBox="1"/>
          <p:nvPr/>
        </p:nvSpPr>
        <p:spPr>
          <a:xfrm>
            <a:off x="6521352" y="6000232"/>
            <a:ext cx="3294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106EE0D5-8ACE-3A85-F4FF-54129B86BD73}"/>
              </a:ext>
            </a:extLst>
          </p:cNvPr>
          <p:cNvSpPr txBox="1"/>
          <p:nvPr/>
        </p:nvSpPr>
        <p:spPr>
          <a:xfrm>
            <a:off x="6432054" y="5939066"/>
            <a:ext cx="48097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(num_atoms,3)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4C18DF1D-0567-A4E2-740B-DD9C0E28AEEB}"/>
              </a:ext>
            </a:extLst>
          </p:cNvPr>
          <p:cNvSpPr txBox="1"/>
          <p:nvPr/>
        </p:nvSpPr>
        <p:spPr>
          <a:xfrm>
            <a:off x="6521352" y="6206174"/>
            <a:ext cx="47396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E1800C64-4155-C48E-7CA0-59F5D325C67D}"/>
              </a:ext>
            </a:extLst>
          </p:cNvPr>
          <p:cNvCxnSpPr>
            <a:cxnSpLocks/>
          </p:cNvCxnSpPr>
          <p:nvPr/>
        </p:nvCxnSpPr>
        <p:spPr>
          <a:xfrm flipV="1">
            <a:off x="5704627" y="5560078"/>
            <a:ext cx="145998" cy="48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F00DB337-8AC0-42D2-0017-AAE4358A96CC}"/>
              </a:ext>
            </a:extLst>
          </p:cNvPr>
          <p:cNvCxnSpPr/>
          <p:nvPr/>
        </p:nvCxnSpPr>
        <p:spPr>
          <a:xfrm flipV="1">
            <a:off x="4662510" y="4592638"/>
            <a:ext cx="0" cy="1669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3165CFB8-F422-20E4-A79C-8E75A932DA5D}"/>
              </a:ext>
            </a:extLst>
          </p:cNvPr>
          <p:cNvCxnSpPr>
            <a:cxnSpLocks/>
          </p:cNvCxnSpPr>
          <p:nvPr/>
        </p:nvCxnSpPr>
        <p:spPr>
          <a:xfrm>
            <a:off x="4662510" y="4598831"/>
            <a:ext cx="128500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EC64361A-E87A-7DDF-6DD4-869C348BF72D}"/>
              </a:ext>
            </a:extLst>
          </p:cNvPr>
          <p:cNvCxnSpPr>
            <a:cxnSpLocks/>
          </p:cNvCxnSpPr>
          <p:nvPr/>
        </p:nvCxnSpPr>
        <p:spPr>
          <a:xfrm>
            <a:off x="5945188" y="4599524"/>
            <a:ext cx="15875" cy="8233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椭圆 157">
            <a:extLst>
              <a:ext uri="{FF2B5EF4-FFF2-40B4-BE49-F238E27FC236}">
                <a16:creationId xmlns:a16="http://schemas.microsoft.com/office/drawing/2014/main" id="{E74DF0C5-DC5E-6F10-8CC1-3F19AA6F42C5}"/>
              </a:ext>
            </a:extLst>
          </p:cNvPr>
          <p:cNvSpPr/>
          <p:nvPr/>
        </p:nvSpPr>
        <p:spPr>
          <a:xfrm>
            <a:off x="5229225" y="4533901"/>
            <a:ext cx="130175" cy="1301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A0D8D7AA-B6FC-0943-D257-09B18362E83D}"/>
              </a:ext>
            </a:extLst>
          </p:cNvPr>
          <p:cNvCxnSpPr>
            <a:stCxn id="158" idx="0"/>
          </p:cNvCxnSpPr>
          <p:nvPr/>
        </p:nvCxnSpPr>
        <p:spPr>
          <a:xfrm>
            <a:off x="5294313" y="4533901"/>
            <a:ext cx="1587" cy="1396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DD1CAABB-D133-E223-9940-FBA84300678C}"/>
              </a:ext>
            </a:extLst>
          </p:cNvPr>
          <p:cNvSpPr txBox="1"/>
          <p:nvPr/>
        </p:nvSpPr>
        <p:spPr>
          <a:xfrm>
            <a:off x="5821999" y="5459030"/>
            <a:ext cx="332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</a:p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dvec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6AE672FD-F012-0F86-54A2-B78123584D9C}"/>
              </a:ext>
            </a:extLst>
          </p:cNvPr>
          <p:cNvCxnSpPr/>
          <p:nvPr/>
        </p:nvCxnSpPr>
        <p:spPr>
          <a:xfrm>
            <a:off x="5962650" y="5403698"/>
            <a:ext cx="0" cy="39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FDE20666-6CDC-D88C-49A5-60BAA7440DB7}"/>
              </a:ext>
            </a:extLst>
          </p:cNvPr>
          <p:cNvCxnSpPr>
            <a:cxnSpLocks/>
          </p:cNvCxnSpPr>
          <p:nvPr/>
        </p:nvCxnSpPr>
        <p:spPr>
          <a:xfrm flipV="1">
            <a:off x="6135112" y="5562204"/>
            <a:ext cx="145998" cy="48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5C9444AA-5BE1-AF51-FC9B-E499E7CADBA6}"/>
              </a:ext>
            </a:extLst>
          </p:cNvPr>
          <p:cNvCxnSpPr/>
          <p:nvPr/>
        </p:nvCxnSpPr>
        <p:spPr>
          <a:xfrm>
            <a:off x="7019925" y="5541963"/>
            <a:ext cx="3079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矩形: 圆角 167">
            <a:extLst>
              <a:ext uri="{FF2B5EF4-FFF2-40B4-BE49-F238E27FC236}">
                <a16:creationId xmlns:a16="http://schemas.microsoft.com/office/drawing/2014/main" id="{E37A832E-417C-6C90-4950-2D9EC9581B2D}"/>
              </a:ext>
            </a:extLst>
          </p:cNvPr>
          <p:cNvSpPr/>
          <p:nvPr/>
        </p:nvSpPr>
        <p:spPr>
          <a:xfrm>
            <a:off x="1038224" y="4411133"/>
            <a:ext cx="5976409" cy="206269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BE227EFE-DECE-E78F-9344-870CFBADAFA3}"/>
              </a:ext>
            </a:extLst>
          </p:cNvPr>
          <p:cNvSpPr txBox="1"/>
          <p:nvPr/>
        </p:nvSpPr>
        <p:spPr>
          <a:xfrm>
            <a:off x="1185604" y="4239700"/>
            <a:ext cx="9368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representation_model</a:t>
            </a:r>
            <a:endParaRPr lang="en-US" altLang="zh-C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/>
          </a:p>
        </p:txBody>
      </p: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D6C22FDC-306C-61EB-FFCE-6515D7BF6311}"/>
              </a:ext>
            </a:extLst>
          </p:cNvPr>
          <p:cNvSpPr/>
          <p:nvPr/>
        </p:nvSpPr>
        <p:spPr>
          <a:xfrm>
            <a:off x="7361237" y="4387850"/>
            <a:ext cx="611188" cy="203517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391BE9E6-E9C8-6B02-5E60-E2988824E423}"/>
              </a:ext>
            </a:extLst>
          </p:cNvPr>
          <p:cNvSpPr txBox="1"/>
          <p:nvPr/>
        </p:nvSpPr>
        <p:spPr>
          <a:xfrm>
            <a:off x="7289800" y="4192184"/>
            <a:ext cx="787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output_model</a:t>
            </a:r>
            <a:endParaRPr lang="en-US" altLang="zh-C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3623B703-F329-DE35-661D-0388E8DD9298}"/>
              </a:ext>
            </a:extLst>
          </p:cNvPr>
          <p:cNvSpPr txBox="1"/>
          <p:nvPr/>
        </p:nvSpPr>
        <p:spPr>
          <a:xfrm>
            <a:off x="7240407" y="4268517"/>
            <a:ext cx="170039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EquivariantVectorOutput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OutputModel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nn.Module</a:t>
            </a:r>
            <a:r>
              <a:rPr lang="en-US" altLang="zh-C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zh-CN" alt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92FFAEAD-7AAA-0193-3CB0-D9E8834DAB30}"/>
              </a:ext>
            </a:extLst>
          </p:cNvPr>
          <p:cNvSpPr/>
          <p:nvPr/>
        </p:nvSpPr>
        <p:spPr>
          <a:xfrm>
            <a:off x="7429501" y="5069067"/>
            <a:ext cx="180122" cy="8744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6B0233DF-725B-EF3E-F66F-59D879A52CBE}"/>
              </a:ext>
            </a:extLst>
          </p:cNvPr>
          <p:cNvSpPr txBox="1"/>
          <p:nvPr/>
        </p:nvSpPr>
        <p:spPr>
          <a:xfrm>
            <a:off x="7119988" y="5115910"/>
            <a:ext cx="553998" cy="9627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GatedEquivariantBlock</a:t>
            </a:r>
            <a:endParaRPr lang="en-US" altLang="zh-CN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18B925B5-AAAC-4D19-8E7D-F1C5AA3D930E}"/>
              </a:ext>
            </a:extLst>
          </p:cNvPr>
          <p:cNvSpPr/>
          <p:nvPr/>
        </p:nvSpPr>
        <p:spPr>
          <a:xfrm>
            <a:off x="7676468" y="5069067"/>
            <a:ext cx="180122" cy="8744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9464C786-0FEE-C5EE-CABD-63CA6B772B63}"/>
              </a:ext>
            </a:extLst>
          </p:cNvPr>
          <p:cNvSpPr txBox="1"/>
          <p:nvPr/>
        </p:nvSpPr>
        <p:spPr>
          <a:xfrm>
            <a:off x="7358113" y="5113300"/>
            <a:ext cx="553998" cy="9627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GatedEquivariantBlock</a:t>
            </a:r>
            <a:endParaRPr lang="en-US" altLang="zh-CN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C1E73402-E779-9649-B729-5CA8F7854C41}"/>
              </a:ext>
            </a:extLst>
          </p:cNvPr>
          <p:cNvCxnSpPr>
            <a:cxnSpLocks/>
          </p:cNvCxnSpPr>
          <p:nvPr/>
        </p:nvCxnSpPr>
        <p:spPr>
          <a:xfrm>
            <a:off x="8024813" y="5559670"/>
            <a:ext cx="36671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文本框 179">
            <a:extLst>
              <a:ext uri="{FF2B5EF4-FFF2-40B4-BE49-F238E27FC236}">
                <a16:creationId xmlns:a16="http://schemas.microsoft.com/office/drawing/2014/main" id="{A4A0E903-D447-98FF-BADD-B7094B6D9B5C}"/>
              </a:ext>
            </a:extLst>
          </p:cNvPr>
          <p:cNvSpPr txBox="1"/>
          <p:nvPr/>
        </p:nvSpPr>
        <p:spPr>
          <a:xfrm>
            <a:off x="8329289" y="5463784"/>
            <a:ext cx="3097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v_t</a:t>
            </a:r>
            <a:endParaRPr lang="zh-CN" altLang="en-US"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979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235CEA7-9EF7-0F70-FCE6-2D2713171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587" y="0"/>
            <a:ext cx="6315826" cy="33178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4DB1438-5B43-747A-64E2-6A9C35D73B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587" y="3317807"/>
            <a:ext cx="6315826" cy="3317807"/>
          </a:xfrm>
          <a:prstGeom prst="rect">
            <a:avLst/>
          </a:prstGeom>
        </p:spPr>
      </p:pic>
      <p:pic>
        <p:nvPicPr>
          <p:cNvPr id="2" name="内容占位符 4">
            <a:extLst>
              <a:ext uri="{FF2B5EF4-FFF2-40B4-BE49-F238E27FC236}">
                <a16:creationId xmlns:a16="http://schemas.microsoft.com/office/drawing/2014/main" id="{A291B4C3-6E4F-DE26-B9E8-770F6A3B2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3535" y="415460"/>
            <a:ext cx="5302523" cy="200670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8330DDF-3B24-A451-ABC4-16A301492A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0943"/>
            <a:ext cx="5542436" cy="291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86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753B83-2E21-A379-8516-D8B1FF1E0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805" y="131049"/>
            <a:ext cx="1800137" cy="4561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Reasons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616E5C-C1D2-D0C2-73D3-81F798F141C0}"/>
              </a:ext>
            </a:extLst>
          </p:cNvPr>
          <p:cNvSpPr txBox="1"/>
          <p:nvPr/>
        </p:nvSpPr>
        <p:spPr>
          <a:xfrm>
            <a:off x="352338" y="859872"/>
            <a:ext cx="10683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学习率过低？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模型容量不够？</a:t>
            </a:r>
          </a:p>
        </p:txBody>
      </p:sp>
    </p:spTree>
    <p:extLst>
      <p:ext uri="{BB962C8B-B14F-4D97-AF65-F5344CB8AC3E}">
        <p14:creationId xmlns:p14="http://schemas.microsoft.com/office/powerpoint/2010/main" val="1396810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EF5C9-43EC-6E8D-F153-6B7128D8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ToDo</a:t>
            </a:r>
            <a:endParaRPr lang="zh-CN" altLang="en-US" sz="28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1DF084-61FE-4673-EFD5-FA03CF0E5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lr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2857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746</Words>
  <Application>Microsoft Office PowerPoint</Application>
  <PresentationFormat>宽屏</PresentationFormat>
  <Paragraphs>142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89</cp:revision>
  <dcterms:created xsi:type="dcterms:W3CDTF">2026-05-20T08:25:10Z</dcterms:created>
  <dcterms:modified xsi:type="dcterms:W3CDTF">2026-06-16T09:46:35Z</dcterms:modified>
</cp:coreProperties>
</file>