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7" r:id="rId2"/>
    <p:sldId id="259" r:id="rId3"/>
    <p:sldId id="260" r:id="rId4"/>
    <p:sldId id="264" r:id="rId5"/>
    <p:sldId id="261" r:id="rId6"/>
    <p:sldId id="265" r:id="rId7"/>
    <p:sldId id="268" r:id="rId8"/>
    <p:sldId id="262" r:id="rId9"/>
    <p:sldId id="263" r:id="rId10"/>
    <p:sldId id="269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5632" autoAdjust="0"/>
  </p:normalViewPr>
  <p:slideViewPr>
    <p:cSldViewPr snapToGrid="0">
      <p:cViewPr varScale="1">
        <p:scale>
          <a:sx n="122" d="100"/>
          <a:sy n="122" d="100"/>
        </p:scale>
        <p:origin x="156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1A416A-5BE7-4FA7-A9B8-7F4E880BB61D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89A364-1080-4FF3-83B3-242A2827F5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1391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下载脚本在</a:t>
            </a:r>
            <a:r>
              <a:rPr lang="en-US" altLang="zh-CN" dirty="0"/>
              <a:t>RNA\Code\</a:t>
            </a:r>
            <a:r>
              <a:rPr lang="en-US" altLang="zh-CN" dirty="0" err="1"/>
              <a:t>Download_PDB_RAW</a:t>
            </a:r>
            <a:r>
              <a:rPr lang="zh-CN" altLang="en-US" dirty="0"/>
              <a:t>中，第一次</a:t>
            </a:r>
            <a:r>
              <a:rPr lang="en-US" altLang="zh-CN" dirty="0"/>
              <a:t>1979</a:t>
            </a:r>
            <a:r>
              <a:rPr lang="zh-CN" altLang="en-US" dirty="0"/>
              <a:t>个</a:t>
            </a:r>
            <a:r>
              <a:rPr lang="en-US" altLang="zh-CN" dirty="0" err="1"/>
              <a:t>cif</a:t>
            </a:r>
            <a:r>
              <a:rPr lang="zh-CN" altLang="en-US" dirty="0"/>
              <a:t>文件 后来筛去</a:t>
            </a:r>
            <a:r>
              <a:rPr lang="en-US" altLang="zh-CN" dirty="0"/>
              <a:t>5</a:t>
            </a:r>
            <a:r>
              <a:rPr lang="zh-CN" altLang="en-US" dirty="0"/>
              <a:t>个 最终</a:t>
            </a:r>
            <a:r>
              <a:rPr lang="en-US" altLang="zh-CN" dirty="0"/>
              <a:t>2241</a:t>
            </a:r>
            <a:r>
              <a:rPr lang="zh-CN" altLang="en-US" dirty="0"/>
              <a:t>个</a:t>
            </a:r>
            <a:r>
              <a:rPr lang="en-US" altLang="zh-CN" dirty="0" err="1"/>
              <a:t>cif</a:t>
            </a:r>
            <a:r>
              <a:rPr lang="zh-CN" altLang="en-US" dirty="0"/>
              <a:t>文件</a:t>
            </a:r>
            <a:r>
              <a:rPr lang="en-US" altLang="zh-CN" dirty="0"/>
              <a:t>(</a:t>
            </a:r>
            <a:r>
              <a:rPr lang="zh-CN" altLang="en-US" dirty="0"/>
              <a:t>实际</a:t>
            </a:r>
            <a:r>
              <a:rPr lang="en-US" altLang="zh-CN" dirty="0"/>
              <a:t>2241+5</a:t>
            </a:r>
            <a:r>
              <a:rPr lang="zh-CN" altLang="en-US" dirty="0"/>
              <a:t>，储存在实验室服务器</a:t>
            </a:r>
            <a:r>
              <a:rPr lang="en-US" altLang="zh-CN" dirty="0"/>
              <a:t>~/</a:t>
            </a:r>
            <a:r>
              <a:rPr lang="en-US" altLang="zh-CN" dirty="0" err="1"/>
              <a:t>pdb_data</a:t>
            </a:r>
            <a:r>
              <a:rPr lang="zh-CN" altLang="en-US" dirty="0"/>
              <a:t>路径下</a:t>
            </a:r>
            <a:r>
              <a:rPr lang="en-US" altLang="zh-CN" dirty="0"/>
              <a:t>)</a:t>
            </a:r>
          </a:p>
          <a:p>
            <a:endParaRPr lang="en-US" altLang="zh-CN" dirty="0"/>
          </a:p>
          <a:p>
            <a:r>
              <a:rPr lang="zh-CN" altLang="en-US" dirty="0"/>
              <a:t>下载的日志本地储存在</a:t>
            </a:r>
            <a:r>
              <a:rPr lang="en-US" altLang="zh-CN" dirty="0"/>
              <a:t>RNA\Code\</a:t>
            </a:r>
            <a:r>
              <a:rPr lang="en-US" altLang="zh-CN" dirty="0" err="1"/>
              <a:t>New_Data_pipeline_reports</a:t>
            </a:r>
            <a:r>
              <a:rPr lang="en-US" altLang="zh-CN" dirty="0"/>
              <a:t>\PDB_RAW</a:t>
            </a:r>
            <a:r>
              <a:rPr lang="zh-CN" altLang="en-US" dirty="0"/>
              <a:t>下，实验室服务器储存在</a:t>
            </a:r>
            <a:r>
              <a:rPr lang="en-US" altLang="zh-CN" dirty="0"/>
              <a:t>~/Code/</a:t>
            </a:r>
            <a:r>
              <a:rPr lang="en-US" altLang="zh-CN" dirty="0" err="1"/>
              <a:t>pipeline_reports</a:t>
            </a:r>
            <a:r>
              <a:rPr lang="en-US" altLang="zh-CN" dirty="0"/>
              <a:t>/PDB_RAW</a:t>
            </a:r>
            <a:r>
              <a:rPr lang="zh-CN" altLang="en-US" dirty="0"/>
              <a:t>下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另外还下载了</a:t>
            </a:r>
            <a:r>
              <a:rPr lang="en-US" altLang="zh-CN" dirty="0"/>
              <a:t>77</a:t>
            </a:r>
            <a:r>
              <a:rPr lang="zh-CN" altLang="en-US" dirty="0"/>
              <a:t>个混合的</a:t>
            </a:r>
            <a:r>
              <a:rPr lang="en-US" altLang="zh-CN" dirty="0" err="1"/>
              <a:t>cif</a:t>
            </a:r>
            <a:r>
              <a:rPr lang="zh-CN" altLang="en-US" dirty="0"/>
              <a:t>文件 不相干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89A364-1080-4FF3-83B3-242A2827F50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23199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122DD-048B-3104-F5CC-756F79426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7A3A786-C05B-1107-CB88-7107B11954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0AE549B-5A50-C93A-5E9D-6A8875BC0E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先按</a:t>
            </a:r>
            <a:r>
              <a:rPr lang="en-US" altLang="zh-CN" dirty="0" err="1"/>
              <a:t>cif</a:t>
            </a:r>
            <a:r>
              <a:rPr lang="zh-CN" altLang="en-US" dirty="0"/>
              <a:t>文件发布时间分训练集、验证集和测试集，之后测试集对训练集与验证集进行去除同源序列，之后内部去冗余。最终训练集</a:t>
            </a:r>
            <a:r>
              <a:rPr lang="en-US" altLang="zh-CN" dirty="0"/>
              <a:t>:1795  </a:t>
            </a:r>
            <a:r>
              <a:rPr lang="zh-CN" altLang="en-US" dirty="0"/>
              <a:t>验证集</a:t>
            </a:r>
            <a:r>
              <a:rPr lang="en-US" altLang="zh-CN" dirty="0"/>
              <a:t>:116   </a:t>
            </a:r>
            <a:r>
              <a:rPr lang="zh-CN" altLang="en-US" dirty="0"/>
              <a:t>测试集</a:t>
            </a:r>
            <a:r>
              <a:rPr lang="en-US" altLang="zh-CN" dirty="0"/>
              <a:t>:101   </a:t>
            </a:r>
            <a:r>
              <a:rPr lang="zh-CN" altLang="en-US" dirty="0"/>
              <a:t>注意</a:t>
            </a:r>
            <a:r>
              <a:rPr lang="en-US" altLang="zh-CN" dirty="0"/>
              <a:t>:</a:t>
            </a:r>
            <a:r>
              <a:rPr lang="zh-CN" altLang="en-US" dirty="0"/>
              <a:t>去除同源序列有这种情况</a:t>
            </a:r>
            <a:r>
              <a:rPr lang="en-US" altLang="zh-CN" dirty="0"/>
              <a:t>:</a:t>
            </a:r>
            <a:r>
              <a:rPr lang="zh-CN" altLang="en-US" dirty="0"/>
              <a:t>一个</a:t>
            </a:r>
            <a:r>
              <a:rPr lang="en-US" altLang="zh-CN" dirty="0" err="1"/>
              <a:t>cif</a:t>
            </a:r>
            <a:r>
              <a:rPr lang="zh-CN" altLang="en-US" dirty="0"/>
              <a:t>文件中两条</a:t>
            </a:r>
            <a:r>
              <a:rPr lang="en-US" altLang="zh-CN" dirty="0"/>
              <a:t>RNA</a:t>
            </a:r>
            <a:r>
              <a:rPr lang="zh-CN" altLang="en-US" dirty="0"/>
              <a:t>链 一条去除了 另一条没有去除。最后比较的时候没有去除的还可以比较</a:t>
            </a:r>
            <a:br>
              <a:rPr lang="en-US" altLang="zh-CN" dirty="0"/>
            </a:br>
            <a:br>
              <a:rPr lang="en-US" altLang="zh-CN" dirty="0"/>
            </a:br>
            <a:r>
              <a:rPr lang="zh-CN" altLang="en-US" dirty="0"/>
              <a:t>分类脚本在</a:t>
            </a:r>
            <a:r>
              <a:rPr lang="en-US" altLang="zh-CN" dirty="0"/>
              <a:t>RNA\Code\</a:t>
            </a:r>
            <a:r>
              <a:rPr lang="en-US" altLang="zh-CN" dirty="0" err="1"/>
              <a:t>Split_RNA_dataset</a:t>
            </a:r>
            <a:r>
              <a:rPr lang="zh-CN" altLang="en-US" dirty="0"/>
              <a:t>路径下  最终结果储存在实验室服务器</a:t>
            </a:r>
            <a:r>
              <a:rPr lang="en-US" altLang="zh-CN" dirty="0"/>
              <a:t>~/Data</a:t>
            </a:r>
            <a:r>
              <a:rPr lang="zh-CN" altLang="en-US" dirty="0"/>
              <a:t>中，以</a:t>
            </a:r>
            <a:r>
              <a:rPr lang="en-US" altLang="zh-CN" dirty="0" err="1"/>
              <a:t>PDB_id</a:t>
            </a:r>
            <a:r>
              <a:rPr lang="zh-CN" altLang="en-US" dirty="0"/>
              <a:t>当作文件夹名字保存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分类日志本地在</a:t>
            </a:r>
            <a:r>
              <a:rPr lang="en-US" altLang="zh-CN" dirty="0"/>
              <a:t>RNA\Code\</a:t>
            </a:r>
            <a:r>
              <a:rPr lang="en-US" altLang="zh-CN" dirty="0" err="1"/>
              <a:t>New_Data_pipeline_reports</a:t>
            </a:r>
            <a:r>
              <a:rPr lang="zh-CN" altLang="en-US" dirty="0"/>
              <a:t>中，实验室服务器在</a:t>
            </a:r>
            <a:r>
              <a:rPr lang="en-US" altLang="zh-CN" dirty="0"/>
              <a:t>~/Code/</a:t>
            </a:r>
            <a:r>
              <a:rPr lang="en-US" altLang="zh-CN" dirty="0" err="1"/>
              <a:t>pipeline_reports</a:t>
            </a:r>
            <a:r>
              <a:rPr lang="zh-CN" altLang="en-US" dirty="0"/>
              <a:t>中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48028EA-CE8D-BF13-C5DF-9E5E24C5AA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89A364-1080-4FF3-83B3-242A2827F50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84169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E6E6C-F8F0-8C44-204A-59F9F33AA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ED48925-D089-ED44-E3C2-21B5FB06BC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6490BFF-E6A7-70DC-4F24-2F0E7E4E5C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这一步主要包括两步</a:t>
            </a:r>
            <a:r>
              <a:rPr lang="en-US" altLang="zh-CN" dirty="0"/>
              <a:t>:1.</a:t>
            </a:r>
            <a:r>
              <a:rPr lang="zh-CN" altLang="en-US" dirty="0"/>
              <a:t>生成简单的</a:t>
            </a:r>
            <a:r>
              <a:rPr lang="en-US" altLang="zh-CN" dirty="0"/>
              <a:t>Json</a:t>
            </a:r>
            <a:r>
              <a:rPr lang="zh-CN" altLang="en-US" dirty="0"/>
              <a:t>文件 这一步已经完成 生成</a:t>
            </a:r>
            <a:r>
              <a:rPr lang="en-US" altLang="zh-CN" dirty="0"/>
              <a:t>2241(</a:t>
            </a:r>
            <a:r>
              <a:rPr lang="zh-CN" altLang="en-US" dirty="0"/>
              <a:t>实际</a:t>
            </a:r>
            <a:r>
              <a:rPr lang="en-US" altLang="zh-CN" dirty="0"/>
              <a:t>2241+5)</a:t>
            </a:r>
            <a:r>
              <a:rPr lang="zh-CN" altLang="en-US" dirty="0"/>
              <a:t>个</a:t>
            </a:r>
            <a:r>
              <a:rPr lang="en-US" altLang="zh-CN" dirty="0"/>
              <a:t>Json</a:t>
            </a:r>
            <a:r>
              <a:rPr lang="zh-CN" altLang="en-US" dirty="0"/>
              <a:t>文件 保存在实验室服务器的</a:t>
            </a:r>
            <a:r>
              <a:rPr lang="en-US" altLang="zh-CN" dirty="0"/>
              <a:t>~/</a:t>
            </a:r>
            <a:r>
              <a:rPr lang="en-US" altLang="zh-CN" dirty="0" err="1"/>
              <a:t>Json_data</a:t>
            </a:r>
            <a:r>
              <a:rPr lang="en-US" altLang="zh-CN" dirty="0"/>
              <a:t>/</a:t>
            </a:r>
            <a:r>
              <a:rPr lang="en-US" altLang="zh-CN" dirty="0" err="1"/>
              <a:t>Simple_json</a:t>
            </a:r>
            <a:r>
              <a:rPr lang="zh-CN" altLang="en-US" dirty="0"/>
              <a:t>中</a:t>
            </a:r>
            <a:endParaRPr lang="en-US" altLang="zh-CN" dirty="0"/>
          </a:p>
          <a:p>
            <a:r>
              <a:rPr lang="en-US" altLang="zh-CN" dirty="0"/>
              <a:t>                               2.</a:t>
            </a:r>
            <a:r>
              <a:rPr lang="zh-CN" altLang="en-US" dirty="0"/>
              <a:t>生成</a:t>
            </a:r>
            <a:r>
              <a:rPr lang="en-US" altLang="zh-CN" dirty="0"/>
              <a:t>final-updated</a:t>
            </a:r>
            <a:r>
              <a:rPr lang="zh-CN" altLang="en-US" dirty="0"/>
              <a:t>的</a:t>
            </a:r>
            <a:r>
              <a:rPr lang="en-US" altLang="zh-CN" dirty="0"/>
              <a:t>Json</a:t>
            </a:r>
            <a:r>
              <a:rPr lang="zh-CN" altLang="en-US" dirty="0"/>
              <a:t>文件和对应的</a:t>
            </a:r>
            <a:r>
              <a:rPr lang="en-US" altLang="zh-CN" dirty="0"/>
              <a:t>prep</a:t>
            </a:r>
            <a:r>
              <a:rPr lang="zh-CN" altLang="en-US" dirty="0"/>
              <a:t>文件夹，</a:t>
            </a:r>
            <a:r>
              <a:rPr lang="en-US" altLang="zh-CN" dirty="0"/>
              <a:t>final-updated</a:t>
            </a:r>
            <a:r>
              <a:rPr lang="zh-CN" altLang="en-US" dirty="0"/>
              <a:t>的</a:t>
            </a:r>
            <a:r>
              <a:rPr lang="en-US" altLang="zh-CN" dirty="0"/>
              <a:t>Json</a:t>
            </a:r>
            <a:r>
              <a:rPr lang="zh-CN" altLang="en-US" dirty="0"/>
              <a:t>文件保存在实验室服务器的</a:t>
            </a:r>
            <a:r>
              <a:rPr lang="en-US" altLang="zh-CN" dirty="0"/>
              <a:t>~/</a:t>
            </a:r>
            <a:r>
              <a:rPr lang="en-US" altLang="zh-CN" dirty="0" err="1"/>
              <a:t>Json_data</a:t>
            </a:r>
            <a:r>
              <a:rPr lang="en-US" altLang="zh-CN" dirty="0"/>
              <a:t>/</a:t>
            </a:r>
            <a:r>
              <a:rPr lang="en-US" altLang="zh-CN" dirty="0" err="1"/>
              <a:t>Simple_json</a:t>
            </a:r>
            <a:r>
              <a:rPr lang="en-US" altLang="zh-CN" dirty="0"/>
              <a:t> </a:t>
            </a:r>
            <a:r>
              <a:rPr lang="zh-CN" altLang="en-US" dirty="0"/>
              <a:t>已经生成</a:t>
            </a:r>
            <a:r>
              <a:rPr lang="en-US" altLang="zh-CN" dirty="0"/>
              <a:t>2232</a:t>
            </a:r>
            <a:r>
              <a:rPr lang="zh-CN" altLang="en-US" dirty="0"/>
              <a:t>个</a:t>
            </a:r>
            <a:r>
              <a:rPr lang="en-US" altLang="zh-CN" dirty="0"/>
              <a:t>(</a:t>
            </a:r>
            <a:r>
              <a:rPr lang="zh-CN" altLang="en-US" dirty="0"/>
              <a:t>实际</a:t>
            </a:r>
            <a:r>
              <a:rPr lang="en-US" altLang="zh-CN" dirty="0"/>
              <a:t>2227+5)</a:t>
            </a:r>
          </a:p>
          <a:p>
            <a:r>
              <a:rPr lang="en-US" altLang="zh-CN" dirty="0"/>
              <a:t>                                                                                                                  prep</a:t>
            </a:r>
            <a:r>
              <a:rPr lang="zh-CN" altLang="en-US" dirty="0"/>
              <a:t>文件夹保存在实验室服务器</a:t>
            </a:r>
            <a:r>
              <a:rPr lang="en-US" altLang="zh-CN" dirty="0"/>
              <a:t>~/</a:t>
            </a:r>
            <a:r>
              <a:rPr lang="en-US" altLang="zh-CN" dirty="0" err="1"/>
              <a:t>Json_data</a:t>
            </a:r>
            <a:r>
              <a:rPr lang="en-US" altLang="zh-CN" dirty="0"/>
              <a:t>/</a:t>
            </a:r>
            <a:r>
              <a:rPr lang="en-US" altLang="zh-CN" dirty="0" err="1"/>
              <a:t>Complex_json</a:t>
            </a:r>
            <a:r>
              <a:rPr lang="en-US" altLang="zh-CN" dirty="0"/>
              <a:t> </a:t>
            </a:r>
            <a:r>
              <a:rPr lang="zh-CN" altLang="en-US" dirty="0"/>
              <a:t>已经生成</a:t>
            </a:r>
            <a:r>
              <a:rPr lang="en-US" altLang="zh-CN" dirty="0"/>
              <a:t>2232</a:t>
            </a:r>
            <a:r>
              <a:rPr lang="zh-CN" altLang="en-US" dirty="0"/>
              <a:t>个</a:t>
            </a:r>
            <a:r>
              <a:rPr lang="en-US" altLang="zh-CN" dirty="0"/>
              <a:t>(</a:t>
            </a:r>
            <a:r>
              <a:rPr lang="zh-CN" altLang="en-US" dirty="0"/>
              <a:t>实际</a:t>
            </a:r>
            <a:r>
              <a:rPr lang="en-US" altLang="zh-CN" dirty="0"/>
              <a:t>2227+5)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8F24754-195B-49CE-B6B5-C7D9DE92A1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89A364-1080-4FF3-83B3-242A2827F50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23220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30B51-D5FD-28B4-301A-6507A9B86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916F1CA-FE81-CC8C-3ECB-B93B6B057A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5281781-9AFF-1D2B-173E-6BDF5532BA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</a:t>
            </a:r>
            <a:r>
              <a:rPr lang="en-US" altLang="zh-CN" dirty="0"/>
              <a:t>14</a:t>
            </a:r>
            <a:r>
              <a:rPr lang="zh-CN" altLang="en-US" dirty="0"/>
              <a:t>个</a:t>
            </a:r>
            <a:r>
              <a:rPr lang="en-US" altLang="zh-CN" dirty="0"/>
              <a:t>PDB</a:t>
            </a:r>
            <a:r>
              <a:rPr lang="zh-CN" altLang="en-US" dirty="0"/>
              <a:t>所涉及的链过长 </a:t>
            </a:r>
            <a:r>
              <a:rPr lang="en-US" altLang="zh-CN" dirty="0"/>
              <a:t>prep</a:t>
            </a:r>
            <a:r>
              <a:rPr lang="zh-CN" altLang="en-US" dirty="0"/>
              <a:t>时间过长 放弃  </a:t>
            </a:r>
            <a:r>
              <a:rPr lang="en-US" altLang="zh-CN" dirty="0"/>
              <a:t>2241-14=2227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F399523-235E-F3C6-2A36-B180A3ED06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89A364-1080-4FF3-83B3-242A2827F50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91969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C9034-4BFD-F55A-7EA2-3F52D0FEF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A07E430-58DE-0399-F55A-965DE7F809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B77B5D4-30A2-72D2-60FB-B678A92D05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Protenix+foldbench</a:t>
            </a:r>
            <a:r>
              <a:rPr lang="zh-CN" altLang="en-US" dirty="0"/>
              <a:t>标准参数做法 将生成的构象与</a:t>
            </a:r>
            <a:r>
              <a:rPr lang="en-US" altLang="zh-CN" dirty="0" err="1"/>
              <a:t>groundtruth</a:t>
            </a:r>
            <a:r>
              <a:rPr lang="zh-CN" altLang="en-US" dirty="0"/>
              <a:t>比较并计算</a:t>
            </a:r>
            <a:r>
              <a:rPr lang="en-US" altLang="zh-CN" dirty="0" err="1"/>
              <a:t>rmsd</a:t>
            </a:r>
            <a:r>
              <a:rPr lang="zh-CN" altLang="en-US" dirty="0"/>
              <a:t>，确定当前</a:t>
            </a:r>
            <a:r>
              <a:rPr lang="en-US" altLang="zh-CN" dirty="0"/>
              <a:t>folding</a:t>
            </a:r>
            <a:r>
              <a:rPr lang="zh-CN" altLang="en-US" dirty="0"/>
              <a:t>模型的</a:t>
            </a:r>
            <a:r>
              <a:rPr lang="en-US" altLang="zh-CN" dirty="0" err="1"/>
              <a:t>rna</a:t>
            </a:r>
            <a:r>
              <a:rPr lang="zh-CN" altLang="en-US" dirty="0"/>
              <a:t>预测水平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 err="1"/>
              <a:t>foldbench</a:t>
            </a:r>
            <a:r>
              <a:rPr lang="zh-CN" altLang="en-US" dirty="0"/>
              <a:t>标准参数做法</a:t>
            </a:r>
            <a:r>
              <a:rPr lang="en-US" altLang="zh-CN" dirty="0"/>
              <a:t>: </a:t>
            </a:r>
            <a:r>
              <a:rPr lang="it-IT" altLang="zh-CN" dirty="0"/>
              <a:t> </a:t>
            </a:r>
            <a:r>
              <a:rPr lang="zh-CN" altLang="it-IT" dirty="0"/>
              <a:t>模型  </a:t>
            </a:r>
            <a:r>
              <a:rPr lang="it-IT" altLang="zh-CN" dirty="0"/>
              <a:t>protenix_base_default_v1.0.0 ; </a:t>
            </a:r>
            <a:r>
              <a:rPr lang="en-US" altLang="zh-CN" dirty="0"/>
              <a:t>5 seeds(42</a:t>
            </a:r>
            <a:r>
              <a:rPr lang="zh-CN" altLang="en-US" dirty="0"/>
              <a:t>，</a:t>
            </a:r>
            <a:r>
              <a:rPr lang="en-US" altLang="zh-CN" dirty="0"/>
              <a:t>66</a:t>
            </a:r>
            <a:r>
              <a:rPr lang="zh-CN" altLang="en-US" dirty="0"/>
              <a:t>，</a:t>
            </a:r>
            <a:r>
              <a:rPr lang="en-US" altLang="zh-CN" dirty="0"/>
              <a:t>101</a:t>
            </a:r>
            <a:r>
              <a:rPr lang="zh-CN" altLang="en-US" dirty="0"/>
              <a:t>，</a:t>
            </a:r>
            <a:r>
              <a:rPr lang="en-US" altLang="zh-CN" dirty="0"/>
              <a:t>2024</a:t>
            </a:r>
            <a:r>
              <a:rPr lang="zh-CN" altLang="en-US" dirty="0"/>
              <a:t>，</a:t>
            </a:r>
            <a:r>
              <a:rPr lang="en-US" altLang="zh-CN" dirty="0"/>
              <a:t>8888) × 5 samples  </a:t>
            </a:r>
            <a:r>
              <a:rPr lang="zh-CN" altLang="en-US" dirty="0"/>
              <a:t>；</a:t>
            </a:r>
            <a:r>
              <a:rPr lang="en-US" altLang="zh-CN" dirty="0"/>
              <a:t>Diffusion steps:200  </a:t>
            </a:r>
            <a:r>
              <a:rPr lang="zh-CN" altLang="en-US" dirty="0"/>
              <a:t>；</a:t>
            </a:r>
            <a:r>
              <a:rPr lang="en-US" altLang="zh-CN" dirty="0" err="1"/>
              <a:t>Pairformer</a:t>
            </a:r>
            <a:r>
              <a:rPr lang="en-US" altLang="zh-CN" dirty="0"/>
              <a:t> cycles :10  ;</a:t>
            </a:r>
            <a:r>
              <a:rPr lang="zh-CN" altLang="en-US" dirty="0"/>
              <a:t>精度   </a:t>
            </a:r>
            <a:r>
              <a:rPr lang="en-US" altLang="zh-CN" dirty="0"/>
              <a:t>BF16;</a:t>
            </a:r>
            <a:r>
              <a:rPr lang="zh-CN" altLang="en-US" dirty="0"/>
              <a:t>主结果选择  </a:t>
            </a:r>
            <a:r>
              <a:rPr lang="en-US" altLang="zh-CN" dirty="0"/>
              <a:t>:25 </a:t>
            </a:r>
            <a:r>
              <a:rPr lang="zh-CN" altLang="en-US" dirty="0"/>
              <a:t>个候选中 </a:t>
            </a:r>
            <a:r>
              <a:rPr lang="en-US" altLang="zh-CN" dirty="0" err="1"/>
              <a:t>ranking_score</a:t>
            </a:r>
            <a:r>
              <a:rPr lang="en-US" altLang="zh-CN" dirty="0"/>
              <a:t> </a:t>
            </a:r>
            <a:r>
              <a:rPr lang="zh-CN" altLang="en-US" dirty="0"/>
              <a:t>最高者  </a:t>
            </a:r>
            <a:r>
              <a:rPr lang="en-US" altLang="zh-CN" dirty="0"/>
              <a:t>;</a:t>
            </a:r>
            <a:r>
              <a:rPr lang="zh-CN" altLang="en-US" dirty="0"/>
              <a:t>主评测  该候选相对 </a:t>
            </a:r>
            <a:r>
              <a:rPr lang="en-US" altLang="zh-CN" dirty="0"/>
              <a:t>GT </a:t>
            </a:r>
            <a:r>
              <a:rPr lang="zh-CN" altLang="en-US" dirty="0"/>
              <a:t>的 </a:t>
            </a:r>
            <a:r>
              <a:rPr lang="en-US" altLang="zh-CN" dirty="0"/>
              <a:t>RMSD/LDDT/TM-score  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这些参数来自</a:t>
            </a:r>
            <a:r>
              <a:rPr lang="en-US" altLang="zh-CN" dirty="0" err="1"/>
              <a:t>FoldBench</a:t>
            </a:r>
            <a:r>
              <a:rPr lang="zh-CN" altLang="en-US" dirty="0"/>
              <a:t>的官方</a:t>
            </a:r>
            <a:r>
              <a:rPr lang="en-US" altLang="zh-CN" dirty="0" err="1"/>
              <a:t>Protenix</a:t>
            </a:r>
            <a:r>
              <a:rPr lang="zh-CN" altLang="en-US" dirty="0"/>
              <a:t>推理脚本</a:t>
            </a:r>
            <a:r>
              <a:rPr lang="en-US" altLang="zh-CN" dirty="0"/>
              <a:t>(https://github.com/BEAM-Labs/FoldBench/blob/main/algorithms/Protenix/make_predictions.sh)</a:t>
            </a:r>
            <a:r>
              <a:rPr lang="zh-CN" altLang="en-US" dirty="0"/>
              <a:t>；其 </a:t>
            </a:r>
            <a:r>
              <a:rPr lang="en-US" altLang="zh-CN" dirty="0"/>
              <a:t>rank</a:t>
            </a:r>
            <a:r>
              <a:rPr lang="zh-CN" altLang="en-US" dirty="0"/>
              <a:t>评测明确按每个目标最高</a:t>
            </a:r>
            <a:r>
              <a:rPr lang="en-US" altLang="zh-CN" dirty="0" err="1"/>
              <a:t>ranking_score</a:t>
            </a:r>
            <a:r>
              <a:rPr lang="zh-CN" altLang="en-US" dirty="0"/>
              <a:t>选结果，而不是根据 </a:t>
            </a:r>
            <a:r>
              <a:rPr lang="en-US" altLang="zh-CN" dirty="0"/>
              <a:t>GT </a:t>
            </a:r>
            <a:r>
              <a:rPr lang="zh-CN" altLang="en-US" dirty="0"/>
              <a:t>挑最小 </a:t>
            </a:r>
            <a:r>
              <a:rPr lang="en-US" altLang="zh-CN" dirty="0"/>
              <a:t>RMSD</a:t>
            </a:r>
            <a:r>
              <a:rPr lang="zh-CN" altLang="en-US" dirty="0"/>
              <a:t>。评测汇总代码</a:t>
            </a:r>
            <a:r>
              <a:rPr lang="en-US" altLang="zh-CN" dirty="0"/>
              <a:t>(https://raw.githubusercontent.com/BEAM-Labs/FoldBench/main/task_score_summary.py)</a:t>
            </a:r>
          </a:p>
          <a:p>
            <a:endParaRPr lang="en-US" altLang="zh-CN" dirty="0"/>
          </a:p>
          <a:p>
            <a:r>
              <a:rPr lang="en-US" altLang="zh-CN" dirty="0"/>
              <a:t>### RMSD </a:t>
            </a:r>
            <a:r>
              <a:rPr lang="zh-CN" altLang="en-US" dirty="0"/>
              <a:t>应怎样算</a:t>
            </a:r>
          </a:p>
          <a:p>
            <a:endParaRPr lang="zh-CN" altLang="en-US" dirty="0"/>
          </a:p>
          <a:p>
            <a:r>
              <a:rPr lang="zh-CN" altLang="en-US" dirty="0"/>
              <a:t>  主报告建议同时保留三类结果：</a:t>
            </a:r>
          </a:p>
          <a:p>
            <a:endParaRPr lang="zh-CN" altLang="en-US" dirty="0"/>
          </a:p>
          <a:p>
            <a:r>
              <a:rPr lang="zh-CN" altLang="en-US" dirty="0"/>
              <a:t>  </a:t>
            </a:r>
            <a:r>
              <a:rPr lang="en-US" altLang="zh-CN" dirty="0"/>
              <a:t>1. ranked_top1_rmsd</a:t>
            </a:r>
            <a:r>
              <a:rPr lang="zh-CN" altLang="en-US" dirty="0"/>
              <a:t>：</a:t>
            </a:r>
            <a:r>
              <a:rPr lang="en-US" altLang="zh-CN" dirty="0"/>
              <a:t>25</a:t>
            </a:r>
            <a:r>
              <a:rPr lang="zh-CN" altLang="en-US" dirty="0"/>
              <a:t>个候选中 </a:t>
            </a:r>
            <a:r>
              <a:rPr lang="en-US" altLang="zh-CN" dirty="0" err="1"/>
              <a:t>ranking_score</a:t>
            </a:r>
            <a:r>
              <a:rPr lang="en-US" altLang="zh-CN" dirty="0"/>
              <a:t> </a:t>
            </a:r>
            <a:r>
              <a:rPr lang="zh-CN" altLang="en-US" dirty="0"/>
              <a:t>最高者的 </a:t>
            </a:r>
            <a:r>
              <a:rPr lang="en-US" altLang="zh-CN" dirty="0"/>
              <a:t>RMSD</a:t>
            </a:r>
            <a:r>
              <a:rPr lang="zh-CN" altLang="en-US" dirty="0"/>
              <a:t>；这是 </a:t>
            </a:r>
            <a:r>
              <a:rPr lang="en-US" altLang="zh-CN" dirty="0" err="1"/>
              <a:t>FoldBench</a:t>
            </a:r>
            <a:r>
              <a:rPr lang="en-US" altLang="zh-CN" dirty="0"/>
              <a:t>-compatible </a:t>
            </a:r>
            <a:r>
              <a:rPr lang="zh-CN" altLang="en-US" dirty="0"/>
              <a:t>主结果。</a:t>
            </a:r>
          </a:p>
          <a:p>
            <a:r>
              <a:rPr lang="zh-CN" altLang="en-US" dirty="0"/>
              <a:t>  </a:t>
            </a:r>
            <a:r>
              <a:rPr lang="en-US" altLang="zh-CN" dirty="0"/>
              <a:t>2. best_of_25_rmsd</a:t>
            </a:r>
            <a:r>
              <a:rPr lang="zh-CN" altLang="en-US" dirty="0"/>
              <a:t>：</a:t>
            </a:r>
            <a:r>
              <a:rPr lang="en-US" altLang="zh-CN" dirty="0"/>
              <a:t>25</a:t>
            </a:r>
            <a:r>
              <a:rPr lang="zh-CN" altLang="en-US" dirty="0"/>
              <a:t>个候选中的最小 </a:t>
            </a:r>
            <a:r>
              <a:rPr lang="en-US" altLang="zh-CN" dirty="0"/>
              <a:t>RMSD</a:t>
            </a:r>
            <a:r>
              <a:rPr lang="zh-CN" altLang="en-US" dirty="0"/>
              <a:t>；只能表示采样上限，不能当模型真实选择能力。</a:t>
            </a:r>
          </a:p>
          <a:p>
            <a:r>
              <a:rPr lang="zh-CN" altLang="en-US" dirty="0"/>
              <a:t>  </a:t>
            </a:r>
            <a:r>
              <a:rPr lang="en-US" altLang="zh-CN" dirty="0"/>
              <a:t>3. median_25_rmsd</a:t>
            </a:r>
            <a:r>
              <a:rPr lang="zh-CN" altLang="en-US" dirty="0"/>
              <a:t>：反映采样稳定性。</a:t>
            </a:r>
          </a:p>
          <a:p>
            <a:endParaRPr lang="zh-CN" altLang="en-US" dirty="0"/>
          </a:p>
          <a:p>
            <a:r>
              <a:rPr lang="zh-CN" altLang="en-US" dirty="0"/>
              <a:t>  评测建议使用 </a:t>
            </a:r>
            <a:r>
              <a:rPr lang="en-US" altLang="zh-CN" dirty="0" err="1"/>
              <a:t>FoldBench</a:t>
            </a:r>
            <a:r>
              <a:rPr lang="en-US" altLang="zh-CN" dirty="0"/>
              <a:t>/</a:t>
            </a:r>
            <a:r>
              <a:rPr lang="en-US" altLang="zh-CN" dirty="0" err="1"/>
              <a:t>OpenStructure</a:t>
            </a:r>
            <a:r>
              <a:rPr lang="en-US" altLang="zh-CN" dirty="0"/>
              <a:t> </a:t>
            </a:r>
            <a:r>
              <a:rPr lang="zh-CN" altLang="en-US" dirty="0"/>
              <a:t>的：</a:t>
            </a:r>
          </a:p>
          <a:p>
            <a:endParaRPr lang="zh-CN" altLang="en-US" dirty="0"/>
          </a:p>
          <a:p>
            <a:r>
              <a:rPr lang="zh-CN" altLang="en-US" dirty="0"/>
              <a:t>  </a:t>
            </a:r>
            <a:r>
              <a:rPr lang="en-US" altLang="zh-CN" dirty="0" err="1"/>
              <a:t>ost</a:t>
            </a:r>
            <a:r>
              <a:rPr lang="en-US" altLang="zh-CN" dirty="0"/>
              <a:t> compare-structures \</a:t>
            </a:r>
          </a:p>
          <a:p>
            <a:r>
              <a:rPr lang="en-US" altLang="zh-CN" dirty="0"/>
              <a:t>    -m </a:t>
            </a:r>
            <a:r>
              <a:rPr lang="en-US" altLang="zh-CN" dirty="0" err="1"/>
              <a:t>prediction.cif</a:t>
            </a:r>
            <a:r>
              <a:rPr lang="en-US" altLang="zh-CN" dirty="0"/>
              <a:t> \</a:t>
            </a:r>
          </a:p>
          <a:p>
            <a:r>
              <a:rPr lang="en-US" altLang="zh-CN" dirty="0"/>
              <a:t>    -r </a:t>
            </a:r>
            <a:r>
              <a:rPr lang="en-US" altLang="zh-CN" dirty="0" err="1"/>
              <a:t>groundtruth.cif</a:t>
            </a:r>
            <a:r>
              <a:rPr lang="en-US" altLang="zh-CN" dirty="0"/>
              <a:t> \</a:t>
            </a:r>
          </a:p>
          <a:p>
            <a:r>
              <a:rPr lang="en-US" altLang="zh-CN" dirty="0"/>
              <a:t>    --fault-tolerant \</a:t>
            </a:r>
          </a:p>
          <a:p>
            <a:r>
              <a:rPr lang="en-US" altLang="zh-CN" dirty="0"/>
              <a:t>    --min-pep-length 4 \</a:t>
            </a:r>
          </a:p>
          <a:p>
            <a:r>
              <a:rPr lang="en-US" altLang="zh-CN" dirty="0"/>
              <a:t>    --min-</a:t>
            </a:r>
            <a:r>
              <a:rPr lang="en-US" altLang="zh-CN" dirty="0" err="1"/>
              <a:t>nuc</a:t>
            </a:r>
            <a:r>
              <a:rPr lang="en-US" altLang="zh-CN" dirty="0"/>
              <a:t>-length 4 \</a:t>
            </a:r>
          </a:p>
          <a:p>
            <a:r>
              <a:rPr lang="en-US" altLang="zh-CN" dirty="0"/>
              <a:t>    --</a:t>
            </a:r>
            <a:r>
              <a:rPr lang="en-US" altLang="zh-CN" dirty="0" err="1"/>
              <a:t>lddt</a:t>
            </a:r>
            <a:r>
              <a:rPr lang="en-US" altLang="zh-CN" dirty="0"/>
              <a:t> \</a:t>
            </a:r>
          </a:p>
          <a:p>
            <a:r>
              <a:rPr lang="en-US" altLang="zh-CN" dirty="0"/>
              <a:t>    --rigid-scores \</a:t>
            </a:r>
          </a:p>
          <a:p>
            <a:r>
              <a:rPr lang="en-US" altLang="zh-CN" dirty="0"/>
              <a:t>    --tm-score \</a:t>
            </a:r>
          </a:p>
          <a:p>
            <a:r>
              <a:rPr lang="en-US" altLang="zh-CN" dirty="0"/>
              <a:t>    --</a:t>
            </a:r>
            <a:r>
              <a:rPr lang="en-US" altLang="zh-CN" dirty="0" err="1"/>
              <a:t>dockq</a:t>
            </a:r>
            <a:r>
              <a:rPr lang="en-US" altLang="zh-CN" dirty="0"/>
              <a:t> \</a:t>
            </a:r>
          </a:p>
          <a:p>
            <a:r>
              <a:rPr lang="en-US" altLang="zh-CN" dirty="0"/>
              <a:t>    -o </a:t>
            </a:r>
            <a:r>
              <a:rPr lang="en-US" altLang="zh-CN" dirty="0" err="1"/>
              <a:t>result.json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 </a:t>
            </a:r>
            <a:r>
              <a:rPr lang="zh-CN" altLang="en-US" dirty="0"/>
              <a:t>这与 </a:t>
            </a:r>
            <a:r>
              <a:rPr lang="en-US" altLang="zh-CN" dirty="0" err="1"/>
              <a:t>FoldBench</a:t>
            </a:r>
            <a:r>
              <a:rPr lang="en-US" altLang="zh-CN" dirty="0"/>
              <a:t> </a:t>
            </a:r>
            <a:r>
              <a:rPr lang="zh-CN" altLang="en-US" dirty="0"/>
              <a:t>官方 </a:t>
            </a:r>
            <a:r>
              <a:rPr lang="en-US" altLang="zh-CN" dirty="0"/>
              <a:t>evaluator</a:t>
            </a:r>
          </a:p>
          <a:p>
            <a:r>
              <a:rPr lang="en-US" altLang="zh-CN" dirty="0"/>
              <a:t>  (https://github.com/BEAM-Labs/FoldBench/blob/main/evaluation/eval_by_ost.py)</a:t>
            </a:r>
            <a:r>
              <a:rPr lang="zh-CN" altLang="en-US" dirty="0"/>
              <a:t>一致。对于多链 </a:t>
            </a:r>
            <a:r>
              <a:rPr lang="en-US" altLang="zh-CN" dirty="0"/>
              <a:t>RNA</a:t>
            </a:r>
            <a:r>
              <a:rPr lang="zh-CN" altLang="en-US" dirty="0"/>
              <a:t>，还必须：</a:t>
            </a:r>
          </a:p>
          <a:p>
            <a:endParaRPr lang="zh-CN" altLang="en-US" dirty="0"/>
          </a:p>
          <a:p>
            <a:r>
              <a:rPr lang="zh-CN" altLang="en-US" dirty="0"/>
              <a:t>  </a:t>
            </a:r>
            <a:r>
              <a:rPr lang="en-US" altLang="zh-CN" dirty="0"/>
              <a:t>- </a:t>
            </a:r>
            <a:r>
              <a:rPr lang="zh-CN" altLang="en-US" dirty="0"/>
              <a:t>按序列建立预测链到 </a:t>
            </a:r>
            <a:r>
              <a:rPr lang="en-US" altLang="zh-CN" dirty="0"/>
              <a:t>GT </a:t>
            </a:r>
            <a:r>
              <a:rPr lang="zh-CN" altLang="en-US" dirty="0"/>
              <a:t>链的映射；</a:t>
            </a:r>
          </a:p>
          <a:p>
            <a:r>
              <a:rPr lang="zh-CN" altLang="en-US" dirty="0"/>
              <a:t>  </a:t>
            </a:r>
            <a:r>
              <a:rPr lang="en-US" altLang="zh-CN" dirty="0"/>
              <a:t>- </a:t>
            </a:r>
            <a:r>
              <a:rPr lang="zh-CN" altLang="en-US" dirty="0"/>
              <a:t>同序列多链枚举</a:t>
            </a:r>
            <a:r>
              <a:rPr lang="en-US" altLang="zh-CN" dirty="0"/>
              <a:t>/</a:t>
            </a:r>
            <a:r>
              <a:rPr lang="zh-CN" altLang="en-US" dirty="0"/>
              <a:t>优化链置换，取最佳合法映射；</a:t>
            </a:r>
          </a:p>
          <a:p>
            <a:r>
              <a:rPr lang="zh-CN" altLang="en-US" dirty="0"/>
              <a:t>  </a:t>
            </a:r>
            <a:r>
              <a:rPr lang="en-US" altLang="zh-CN" dirty="0"/>
              <a:t>- </a:t>
            </a:r>
            <a:r>
              <a:rPr lang="zh-CN" altLang="en-US" dirty="0"/>
              <a:t>只比较双方共同存在、能正确对应的原子；</a:t>
            </a:r>
          </a:p>
          <a:p>
            <a:r>
              <a:rPr lang="zh-CN" altLang="en-US" dirty="0"/>
              <a:t>  </a:t>
            </a:r>
            <a:r>
              <a:rPr lang="en-US" altLang="zh-CN" dirty="0"/>
              <a:t>- </a:t>
            </a:r>
            <a:r>
              <a:rPr lang="zh-CN" altLang="en-US" dirty="0"/>
              <a:t>记录匹配残基数、匹配原子数和覆盖率；</a:t>
            </a:r>
          </a:p>
          <a:p>
            <a:r>
              <a:rPr lang="zh-CN" altLang="en-US" dirty="0"/>
              <a:t>  </a:t>
            </a:r>
            <a:r>
              <a:rPr lang="en-US" altLang="zh-CN" dirty="0"/>
              <a:t>- </a:t>
            </a:r>
            <a:r>
              <a:rPr lang="zh-CN" altLang="en-US" dirty="0"/>
              <a:t>最好额外报告 </a:t>
            </a:r>
            <a:r>
              <a:rPr lang="en-US" altLang="zh-CN" dirty="0"/>
              <a:t>C4′ RMSD</a:t>
            </a:r>
            <a:r>
              <a:rPr lang="zh-CN" altLang="en-US" dirty="0"/>
              <a:t>，降低缺失侧链原子和修饰碱基的影响。</a:t>
            </a:r>
          </a:p>
          <a:p>
            <a:endParaRPr lang="zh-CN" altLang="en-US" dirty="0"/>
          </a:p>
          <a:p>
            <a:r>
              <a:rPr lang="zh-CN" altLang="en-US" dirty="0"/>
              <a:t>  仅给一个全原子 </a:t>
            </a:r>
            <a:r>
              <a:rPr lang="en-US" altLang="zh-CN" dirty="0"/>
              <a:t>RMSD </a:t>
            </a:r>
            <a:r>
              <a:rPr lang="zh-CN" altLang="en-US" dirty="0"/>
              <a:t>均值不足以判断 </a:t>
            </a:r>
            <a:r>
              <a:rPr lang="en-US" altLang="zh-CN" dirty="0"/>
              <a:t>RNA folding </a:t>
            </a:r>
            <a:r>
              <a:rPr lang="zh-CN" altLang="en-US" dirty="0"/>
              <a:t>水平。至少还应报告中位数、四分位数、</a:t>
            </a:r>
            <a:r>
              <a:rPr lang="en-US" altLang="zh-CN" dirty="0"/>
              <a:t>RMSD &lt; 2/5/10 Å </a:t>
            </a:r>
            <a:r>
              <a:rPr lang="zh-CN" altLang="en-US" dirty="0"/>
              <a:t>比例，并按 </a:t>
            </a:r>
            <a:r>
              <a:rPr lang="en-US" altLang="zh-CN" dirty="0"/>
              <a:t>RNA </a:t>
            </a:r>
            <a:r>
              <a:rPr lang="zh-CN" altLang="en-US" dirty="0"/>
              <a:t>长度</a:t>
            </a:r>
          </a:p>
          <a:p>
            <a:r>
              <a:rPr lang="zh-CN" altLang="en-US" dirty="0"/>
              <a:t>  和链数分层；长 </a:t>
            </a:r>
            <a:r>
              <a:rPr lang="en-US" altLang="zh-CN" dirty="0"/>
              <a:t>RNA </a:t>
            </a:r>
            <a:r>
              <a:rPr lang="zh-CN" altLang="en-US" dirty="0"/>
              <a:t>的 </a:t>
            </a:r>
            <a:r>
              <a:rPr lang="en-US" altLang="zh-CN" dirty="0"/>
              <a:t>RMSD</a:t>
            </a:r>
            <a:r>
              <a:rPr lang="zh-CN" altLang="en-US" dirty="0"/>
              <a:t>天然更大。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  <a:p>
            <a:r>
              <a:rPr lang="zh-CN" altLang="en-US" dirty="0"/>
              <a:t>  </a:t>
            </a:r>
            <a:r>
              <a:rPr lang="en-US" altLang="zh-CN" dirty="0"/>
              <a:t>### </a:t>
            </a:r>
            <a:r>
              <a:rPr lang="zh-CN" altLang="en-US" dirty="0"/>
              <a:t>一个重要的科学问题：训练集泄漏</a:t>
            </a:r>
          </a:p>
          <a:p>
            <a:endParaRPr lang="zh-CN" altLang="en-US" dirty="0"/>
          </a:p>
          <a:p>
            <a:r>
              <a:rPr lang="zh-CN" altLang="en-US" dirty="0"/>
              <a:t>  </a:t>
            </a:r>
            <a:r>
              <a:rPr lang="en-US" altLang="zh-CN" dirty="0"/>
              <a:t>protenix_base_default_v1.0.0 </a:t>
            </a:r>
            <a:r>
              <a:rPr lang="zh-CN" altLang="en-US" dirty="0"/>
              <a:t>的结构训练截止日期是</a:t>
            </a:r>
            <a:r>
              <a:rPr lang="en-US" altLang="zh-CN" dirty="0"/>
              <a:t>2021-09-30</a:t>
            </a:r>
            <a:r>
              <a:rPr lang="zh-CN" altLang="en-US" dirty="0"/>
              <a:t>。</a:t>
            </a:r>
            <a:r>
              <a:rPr lang="en-US" altLang="zh-CN" dirty="0" err="1"/>
              <a:t>Protenix</a:t>
            </a:r>
            <a:r>
              <a:rPr lang="en-US" altLang="zh-CN" dirty="0"/>
              <a:t> </a:t>
            </a:r>
            <a:r>
              <a:rPr lang="zh-CN" altLang="en-US" dirty="0"/>
              <a:t>官方说明 </a:t>
            </a:r>
            <a:r>
              <a:rPr lang="en-US" altLang="zh-CN" dirty="0"/>
              <a:t>(https://github.com/bytedance/Protenix)</a:t>
            </a:r>
          </a:p>
          <a:p>
            <a:endParaRPr lang="en-US" altLang="zh-CN" dirty="0"/>
          </a:p>
          <a:p>
            <a:r>
              <a:rPr lang="en-US" altLang="zh-CN" dirty="0"/>
              <a:t>  2241</a:t>
            </a:r>
            <a:r>
              <a:rPr lang="zh-CN" altLang="en-US" dirty="0"/>
              <a:t>个结构中包含许多早期 </a:t>
            </a:r>
            <a:r>
              <a:rPr lang="en-US" altLang="zh-CN" dirty="0"/>
              <a:t>PDB</a:t>
            </a:r>
            <a:r>
              <a:rPr lang="zh-CN" altLang="en-US" dirty="0"/>
              <a:t>，例如</a:t>
            </a:r>
            <a:r>
              <a:rPr lang="en-US" altLang="zh-CN" dirty="0"/>
              <a:t>1AFX</a:t>
            </a:r>
            <a:r>
              <a:rPr lang="zh-CN" altLang="en-US" dirty="0"/>
              <a:t>，因此“全部</a:t>
            </a:r>
            <a:r>
              <a:rPr lang="en-US" altLang="zh-CN" dirty="0"/>
              <a:t>2241</a:t>
            </a:r>
            <a:r>
              <a:rPr lang="zh-CN" altLang="en-US" dirty="0"/>
              <a:t>个结果”会混入模型训练期结构，不能直接视为无偏泛化水平。建议最终同</a:t>
            </a:r>
          </a:p>
          <a:p>
            <a:r>
              <a:rPr lang="zh-CN" altLang="en-US" dirty="0"/>
              <a:t>  时报告：</a:t>
            </a:r>
          </a:p>
          <a:p>
            <a:endParaRPr lang="zh-CN" altLang="en-US" dirty="0"/>
          </a:p>
          <a:p>
            <a:r>
              <a:rPr lang="zh-CN" altLang="en-US" dirty="0"/>
              <a:t>  </a:t>
            </a:r>
            <a:r>
              <a:rPr lang="en-US" altLang="zh-CN" dirty="0"/>
              <a:t>- </a:t>
            </a:r>
            <a:r>
              <a:rPr lang="zh-CN" altLang="en-US" dirty="0"/>
              <a:t>全部</a:t>
            </a:r>
            <a:r>
              <a:rPr lang="en-US" altLang="zh-CN" dirty="0"/>
              <a:t>2241</a:t>
            </a:r>
            <a:r>
              <a:rPr lang="zh-CN" altLang="en-US" dirty="0"/>
              <a:t>：描述性结果；</a:t>
            </a:r>
          </a:p>
          <a:p>
            <a:r>
              <a:rPr lang="zh-CN" altLang="en-US" dirty="0"/>
              <a:t>  </a:t>
            </a:r>
            <a:r>
              <a:rPr lang="en-US" altLang="zh-CN" dirty="0"/>
              <a:t>- 2021-09-30</a:t>
            </a:r>
            <a:r>
              <a:rPr lang="zh-CN" altLang="en-US" dirty="0"/>
              <a:t>之后发布的结构：主要泛化结果；</a:t>
            </a:r>
          </a:p>
          <a:p>
            <a:r>
              <a:rPr lang="zh-CN" altLang="en-US" dirty="0"/>
              <a:t>  </a:t>
            </a:r>
            <a:r>
              <a:rPr lang="en-US" altLang="zh-CN" dirty="0"/>
              <a:t>- </a:t>
            </a:r>
            <a:r>
              <a:rPr lang="zh-CN" altLang="en-US" dirty="0"/>
              <a:t>如果条件允许，再做与训练集低同源的严格子集。</a:t>
            </a:r>
          </a:p>
          <a:p>
            <a:endParaRPr lang="zh-CN" altLang="en-US" dirty="0"/>
          </a:p>
          <a:p>
            <a:r>
              <a:rPr lang="zh-CN" altLang="en-US" dirty="0"/>
              <a:t>  关闭 </a:t>
            </a:r>
            <a:r>
              <a:rPr lang="en-US" altLang="zh-CN" dirty="0"/>
              <a:t>template </a:t>
            </a:r>
            <a:r>
              <a:rPr lang="zh-CN" altLang="en-US" dirty="0"/>
              <a:t>只能避免推理时直接模板使用，不能消除模型训练期泄漏。</a:t>
            </a:r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  核心配置固定为：</a:t>
            </a:r>
          </a:p>
          <a:p>
            <a:endParaRPr lang="zh-CN" altLang="en-US" dirty="0"/>
          </a:p>
          <a:p>
            <a:r>
              <a:rPr lang="zh-CN" altLang="en-US" dirty="0"/>
              <a:t>  </a:t>
            </a:r>
            <a:r>
              <a:rPr lang="en-US" altLang="zh-CN" dirty="0"/>
              <a:t>- 2241 </a:t>
            </a:r>
            <a:r>
              <a:rPr lang="zh-CN" altLang="en-US" dirty="0"/>
              <a:t>个目标，排除 </a:t>
            </a:r>
            <a:r>
              <a:rPr lang="en-US" altLang="zh-CN" dirty="0"/>
              <a:t>3OK2</a:t>
            </a:r>
            <a:r>
              <a:rPr lang="zh-CN" altLang="en-US" dirty="0"/>
              <a:t>、</a:t>
            </a:r>
            <a:r>
              <a:rPr lang="en-US" altLang="zh-CN" dirty="0"/>
              <a:t>3OK4</a:t>
            </a:r>
            <a:r>
              <a:rPr lang="zh-CN" altLang="en-US" dirty="0"/>
              <a:t>、</a:t>
            </a:r>
            <a:r>
              <a:rPr lang="en-US" altLang="zh-CN" dirty="0"/>
              <a:t>5EME</a:t>
            </a:r>
            <a:r>
              <a:rPr lang="zh-CN" altLang="en-US" dirty="0"/>
              <a:t>、</a:t>
            </a:r>
            <a:r>
              <a:rPr lang="en-US" altLang="zh-CN" dirty="0"/>
              <a:t>176D</a:t>
            </a:r>
            <a:r>
              <a:rPr lang="zh-CN" altLang="en-US" dirty="0"/>
              <a:t>、</a:t>
            </a:r>
            <a:r>
              <a:rPr lang="en-US" altLang="zh-CN" dirty="0"/>
              <a:t>5EMF</a:t>
            </a:r>
          </a:p>
          <a:p>
            <a:r>
              <a:rPr lang="en-US" altLang="zh-CN" dirty="0"/>
              <a:t>  - </a:t>
            </a:r>
            <a:r>
              <a:rPr lang="en-US" altLang="zh-CN" dirty="0" err="1"/>
              <a:t>Protenix</a:t>
            </a:r>
            <a:r>
              <a:rPr lang="en-US" altLang="zh-CN" dirty="0"/>
              <a:t> 1.0.5</a:t>
            </a:r>
          </a:p>
          <a:p>
            <a:r>
              <a:rPr lang="en-US" altLang="zh-CN" dirty="0"/>
              <a:t>  - protenix_base_default_v1.0.0</a:t>
            </a:r>
          </a:p>
          <a:p>
            <a:r>
              <a:rPr lang="en-US" altLang="zh-CN" dirty="0"/>
              <a:t>  - seeds</a:t>
            </a:r>
            <a:r>
              <a:rPr lang="zh-CN" altLang="en-US" dirty="0"/>
              <a:t>：</a:t>
            </a:r>
            <a:r>
              <a:rPr lang="en-US" altLang="zh-CN" dirty="0"/>
              <a:t>42,66,101,2024,8888</a:t>
            </a:r>
          </a:p>
          <a:p>
            <a:r>
              <a:rPr lang="en-US" altLang="zh-CN" dirty="0"/>
              <a:t>  - </a:t>
            </a:r>
            <a:r>
              <a:rPr lang="zh-CN" altLang="en-US" dirty="0"/>
              <a:t>每 </a:t>
            </a:r>
            <a:r>
              <a:rPr lang="en-US" altLang="zh-CN" dirty="0"/>
              <a:t>seed 5 samples</a:t>
            </a:r>
          </a:p>
          <a:p>
            <a:r>
              <a:rPr lang="en-US" altLang="zh-CN" dirty="0"/>
              <a:t>  - 200 steps</a:t>
            </a:r>
            <a:r>
              <a:rPr lang="zh-CN" altLang="en-US" dirty="0"/>
              <a:t>、</a:t>
            </a:r>
            <a:r>
              <a:rPr lang="en-US" altLang="zh-CN" dirty="0"/>
              <a:t>10 cycles</a:t>
            </a:r>
            <a:r>
              <a:rPr lang="zh-CN" altLang="en-US" dirty="0"/>
              <a:t>、</a:t>
            </a:r>
            <a:r>
              <a:rPr lang="en-US" altLang="zh-CN" dirty="0"/>
              <a:t>BF16</a:t>
            </a:r>
          </a:p>
          <a:p>
            <a:r>
              <a:rPr lang="en-US" altLang="zh-CN" dirty="0"/>
              <a:t>  - RNA MSA </a:t>
            </a:r>
            <a:r>
              <a:rPr lang="zh-CN" altLang="en-US" dirty="0"/>
              <a:t>开、</a:t>
            </a:r>
            <a:r>
              <a:rPr lang="en-US" altLang="zh-CN" dirty="0"/>
              <a:t>template </a:t>
            </a:r>
            <a:r>
              <a:rPr lang="zh-CN" altLang="en-US" dirty="0"/>
              <a:t>关</a:t>
            </a:r>
          </a:p>
          <a:p>
            <a:r>
              <a:rPr lang="zh-CN" altLang="en-US" dirty="0"/>
              <a:t>  </a:t>
            </a:r>
            <a:r>
              <a:rPr lang="en-US" altLang="zh-CN" dirty="0"/>
              <a:t>- </a:t>
            </a:r>
            <a:r>
              <a:rPr lang="zh-CN" altLang="en-US" dirty="0"/>
              <a:t>共 </a:t>
            </a:r>
            <a:r>
              <a:rPr lang="en-US" altLang="zh-CN" dirty="0"/>
              <a:t>56,025 </a:t>
            </a:r>
            <a:r>
              <a:rPr lang="zh-CN" altLang="en-US" dirty="0"/>
              <a:t>个主预测 </a:t>
            </a:r>
            <a:r>
              <a:rPr lang="en-US" altLang="zh-CN" dirty="0"/>
              <a:t>CIF</a:t>
            </a:r>
          </a:p>
          <a:p>
            <a:r>
              <a:rPr lang="en-US" altLang="zh-CN" dirty="0"/>
              <a:t>  - </a:t>
            </a:r>
            <a:r>
              <a:rPr lang="zh-CN" altLang="en-US" dirty="0"/>
              <a:t>新预测目录与旧 </a:t>
            </a:r>
            <a:r>
              <a:rPr lang="en-US" altLang="zh-CN" dirty="0"/>
              <a:t>4×50 </a:t>
            </a:r>
            <a:r>
              <a:rPr lang="zh-CN" altLang="en-US" dirty="0"/>
              <a:t>结果完全隔离</a:t>
            </a:r>
          </a:p>
          <a:p>
            <a:r>
              <a:rPr lang="zh-CN" altLang="en-US" dirty="0"/>
              <a:t>  </a:t>
            </a:r>
            <a:r>
              <a:rPr lang="en-US" altLang="zh-CN" dirty="0"/>
              <a:t>- </a:t>
            </a:r>
            <a:r>
              <a:rPr lang="zh-CN" altLang="en-US" dirty="0"/>
              <a:t>每个 </a:t>
            </a:r>
            <a:r>
              <a:rPr lang="en-US" altLang="zh-CN" dirty="0"/>
              <a:t>confidence JSON </a:t>
            </a:r>
            <a:r>
              <a:rPr lang="zh-CN" altLang="en-US" dirty="0"/>
              <a:t>必须包含有效 </a:t>
            </a:r>
            <a:r>
              <a:rPr lang="en-US" altLang="zh-CN" dirty="0" err="1"/>
              <a:t>ranking_score</a:t>
            </a:r>
            <a:r>
              <a:rPr lang="en-US" altLang="zh-CN" dirty="0"/>
              <a:t> </a:t>
            </a:r>
            <a:r>
              <a:rPr lang="zh-CN" altLang="en-US" dirty="0"/>
              <a:t>才算完成</a:t>
            </a:r>
          </a:p>
          <a:p>
            <a:r>
              <a:rPr lang="zh-CN" altLang="en-US" dirty="0"/>
              <a:t>  </a:t>
            </a:r>
            <a:r>
              <a:rPr lang="en-US" altLang="zh-CN" dirty="0"/>
              <a:t>- </a:t>
            </a:r>
            <a:r>
              <a:rPr lang="zh-CN" altLang="en-US" dirty="0"/>
              <a:t>支持断点续跑和 </a:t>
            </a:r>
            <a:r>
              <a:rPr lang="en-US" altLang="zh-CN" dirty="0"/>
              <a:t>8 </a:t>
            </a:r>
            <a:r>
              <a:rPr lang="zh-CN" altLang="en-US" dirty="0"/>
              <a:t>卡并行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1DD861B-BB29-0186-DC52-8ADA8A496B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89A364-1080-4FF3-83B3-242A2827F509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05971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59D9D-630B-47CC-BB4B-8EE782918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A50BE17-E878-39EB-7BD0-0296623F4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F9933CE-98C1-1133-0AF0-6C36FD8674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结果储存在实验室服务器的</a:t>
            </a:r>
            <a:r>
              <a:rPr lang="en-US" altLang="zh-CN" dirty="0"/>
              <a:t>~/</a:t>
            </a:r>
            <a:r>
              <a:rPr lang="en-US" altLang="zh-CN" dirty="0" err="1"/>
              <a:t>Json_data</a:t>
            </a:r>
            <a:r>
              <a:rPr lang="en-US" altLang="zh-CN" dirty="0"/>
              <a:t>/</a:t>
            </a:r>
            <a:r>
              <a:rPr lang="en-US" altLang="zh-CN" dirty="0" err="1"/>
              <a:t>Foldbench_predictions</a:t>
            </a:r>
            <a:r>
              <a:rPr lang="zh-CN" altLang="en-US" dirty="0"/>
              <a:t>中 以文件名</a:t>
            </a:r>
            <a:r>
              <a:rPr lang="en-US" altLang="zh-CN" dirty="0" err="1"/>
              <a:t>pred_output_XXXX_seed_XXXX</a:t>
            </a:r>
            <a:r>
              <a:rPr lang="zh-CN" altLang="en-US" dirty="0"/>
              <a:t>的文件为单位储存，每个文件夹有</a:t>
            </a:r>
            <a:r>
              <a:rPr lang="en-US" altLang="zh-CN" dirty="0"/>
              <a:t>5</a:t>
            </a:r>
            <a:r>
              <a:rPr lang="zh-CN" altLang="en-US" dirty="0"/>
              <a:t>个</a:t>
            </a:r>
            <a:r>
              <a:rPr lang="en-US" altLang="zh-CN" dirty="0"/>
              <a:t>sample  </a:t>
            </a:r>
            <a:r>
              <a:rPr lang="zh-CN" altLang="en-US" dirty="0"/>
              <a:t>理论上有</a:t>
            </a:r>
            <a:r>
              <a:rPr lang="en-US" altLang="zh-CN" dirty="0"/>
              <a:t>2202</a:t>
            </a:r>
            <a:r>
              <a:rPr lang="zh-CN" altLang="en-US" dirty="0"/>
              <a:t>个</a:t>
            </a:r>
            <a:r>
              <a:rPr lang="en-US" altLang="zh-CN" dirty="0" err="1"/>
              <a:t>cif</a:t>
            </a:r>
            <a:r>
              <a:rPr lang="zh-CN" altLang="en-US" dirty="0"/>
              <a:t>文件最终成功进行了</a:t>
            </a:r>
            <a:r>
              <a:rPr lang="en-US" altLang="zh-CN" dirty="0"/>
              <a:t>5*5</a:t>
            </a:r>
            <a:r>
              <a:rPr lang="zh-CN" altLang="en-US" dirty="0"/>
              <a:t>的</a:t>
            </a:r>
            <a:r>
              <a:rPr lang="en-US" altLang="zh-CN" dirty="0"/>
              <a:t>pred  12</a:t>
            </a:r>
            <a:r>
              <a:rPr lang="zh-CN" altLang="en-US" dirty="0"/>
              <a:t>个输入</a:t>
            </a:r>
            <a:r>
              <a:rPr lang="en-US" altLang="zh-CN" dirty="0"/>
              <a:t>/CCD</a:t>
            </a:r>
            <a:r>
              <a:rPr lang="zh-CN" altLang="en-US" dirty="0"/>
              <a:t>不兼容  </a:t>
            </a:r>
            <a:r>
              <a:rPr lang="en-US" altLang="zh-CN" dirty="0"/>
              <a:t>13</a:t>
            </a:r>
            <a:r>
              <a:rPr lang="zh-CN" altLang="en-US" dirty="0"/>
              <a:t>个单卡显存不足  </a:t>
            </a:r>
            <a:r>
              <a:rPr lang="en-US" altLang="zh-CN" dirty="0"/>
              <a:t>2227-12-13=2202    </a:t>
            </a:r>
            <a:r>
              <a:rPr lang="zh-CN" altLang="en-US" dirty="0"/>
              <a:t>实际</a:t>
            </a:r>
            <a:r>
              <a:rPr lang="en-US" altLang="zh-CN" dirty="0"/>
              <a:t>2199 </a:t>
            </a:r>
            <a:r>
              <a:rPr lang="zh-CN" altLang="en-US" dirty="0"/>
              <a:t>有三个失败了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F43D0F4-7C49-FCD2-3EB3-06307A33FB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89A364-1080-4FF3-83B3-242A2827F50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90183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124B0-51BF-9EEF-6CF1-FBFA4E580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AB4E431-803A-4C25-6E51-C2F74E5796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80E497C-90B4-75F0-83A8-5168B1A6C2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RMSD</a:t>
            </a:r>
            <a:r>
              <a:rPr lang="zh-CN" altLang="en-US" dirty="0"/>
              <a:t>只涉及到</a:t>
            </a:r>
            <a:r>
              <a:rPr lang="en-US" altLang="zh-CN" dirty="0"/>
              <a:t>C3</a:t>
            </a:r>
            <a:r>
              <a:rPr lang="zh-CN" altLang="en-US" dirty="0"/>
              <a:t>‘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2199-32=2167</a:t>
            </a:r>
          </a:p>
          <a:p>
            <a:endParaRPr lang="en-US" altLang="zh-CN" dirty="0"/>
          </a:p>
          <a:p>
            <a:r>
              <a:rPr lang="en-US" altLang="zh-CN" dirty="0"/>
              <a:t>2199</a:t>
            </a:r>
            <a:r>
              <a:rPr lang="zh-CN" altLang="en-US" dirty="0"/>
              <a:t>个目标中，</a:t>
            </a:r>
            <a:r>
              <a:rPr lang="en-US" altLang="zh-CN" dirty="0"/>
              <a:t>2167</a:t>
            </a:r>
            <a:r>
              <a:rPr lang="zh-CN" altLang="en-US" dirty="0"/>
              <a:t>个获得有效的严格</a:t>
            </a:r>
            <a:r>
              <a:rPr lang="en-US" altLang="zh-CN" dirty="0"/>
              <a:t>rank-1 C3′ RMSD</a:t>
            </a:r>
            <a:r>
              <a:rPr lang="zh-CN" altLang="en-US" dirty="0"/>
              <a:t>，评测覆盖率为</a:t>
            </a:r>
            <a:r>
              <a:rPr lang="en-US" altLang="zh-CN" dirty="0"/>
              <a:t>98.54%</a:t>
            </a:r>
            <a:r>
              <a:rPr lang="zh-CN" altLang="en-US" dirty="0"/>
              <a:t>；</a:t>
            </a:r>
            <a:r>
              <a:rPr lang="en-US" altLang="zh-CN" dirty="0"/>
              <a:t>32</a:t>
            </a:r>
            <a:r>
              <a:rPr lang="zh-CN" altLang="en-US" dirty="0"/>
              <a:t>个目标因</a:t>
            </a:r>
            <a:r>
              <a:rPr lang="en-US" altLang="zh-CN" dirty="0" err="1"/>
              <a:t>OpenStructure</a:t>
            </a:r>
            <a:r>
              <a:rPr lang="zh-CN" altLang="en-US" dirty="0"/>
              <a:t>评测失败而不纳入</a:t>
            </a:r>
            <a:r>
              <a:rPr lang="en-US" altLang="zh-CN" dirty="0"/>
              <a:t>RMSD</a:t>
            </a:r>
            <a:r>
              <a:rPr lang="zh-CN" altLang="en-US" dirty="0"/>
              <a:t>分布统计。排除目标及原因见补充表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446053C-FB30-B901-952A-42A619D690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89A364-1080-4FF3-83B3-242A2827F50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33256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23421-CFF2-4858-3356-7E23634A9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4EDC961-DB7A-1A74-E111-9F35E185D7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F2D8AAF-F1E7-533F-E6F2-85C3A2CA78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训练数据：训练数据跑一下</a:t>
            </a:r>
            <a:r>
              <a:rPr lang="en-US" altLang="zh-CN" dirty="0" err="1"/>
              <a:t>protenix</a:t>
            </a:r>
            <a:r>
              <a:rPr lang="zh-CN" altLang="en-US" dirty="0"/>
              <a:t>，</a:t>
            </a:r>
            <a:r>
              <a:rPr lang="en-US" altLang="zh-CN" dirty="0"/>
              <a:t>50*4</a:t>
            </a:r>
            <a:r>
              <a:rPr lang="zh-CN" altLang="en-US" dirty="0"/>
              <a:t>，采样出有多样性的</a:t>
            </a:r>
            <a:r>
              <a:rPr lang="en-US" altLang="zh-CN" dirty="0"/>
              <a:t>decoys</a:t>
            </a:r>
            <a:r>
              <a:rPr lang="zh-CN" altLang="en-US" dirty="0"/>
              <a:t>；</a:t>
            </a:r>
            <a:r>
              <a:rPr lang="en-US" altLang="zh-CN" dirty="0"/>
              <a:t>2</a:t>
            </a:r>
            <a:r>
              <a:rPr lang="zh-CN" altLang="en-US" dirty="0"/>
              <a:t>，选择一些锚点，跑一段短</a:t>
            </a:r>
            <a:r>
              <a:rPr lang="en-US" altLang="zh-CN" dirty="0"/>
              <a:t>md</a:t>
            </a:r>
            <a:r>
              <a:rPr lang="zh-CN" altLang="en-US" dirty="0"/>
              <a:t>并采样，得到更具有多样性的</a:t>
            </a:r>
            <a:r>
              <a:rPr lang="en-US" altLang="zh-CN" dirty="0"/>
              <a:t>decoys   </a:t>
            </a:r>
          </a:p>
          <a:p>
            <a:endParaRPr lang="en-US" altLang="zh-CN" dirty="0"/>
          </a:p>
          <a:p>
            <a:r>
              <a:rPr lang="zh-CN" altLang="en-US" dirty="0"/>
              <a:t>最终</a:t>
            </a:r>
            <a:r>
              <a:rPr lang="en-US" altLang="zh-CN" dirty="0"/>
              <a:t>:</a:t>
            </a:r>
            <a:r>
              <a:rPr lang="zh-CN" altLang="en-US" dirty="0"/>
              <a:t>训练集</a:t>
            </a:r>
            <a:r>
              <a:rPr lang="en-US" altLang="zh-CN" dirty="0"/>
              <a:t>: 1778  </a:t>
            </a:r>
            <a:r>
              <a:rPr lang="zh-CN" altLang="en-US" dirty="0"/>
              <a:t>验证集</a:t>
            </a:r>
            <a:r>
              <a:rPr lang="en-US" altLang="zh-CN" dirty="0"/>
              <a:t>:115  </a:t>
            </a:r>
            <a:r>
              <a:rPr lang="zh-CN" altLang="en-US" dirty="0"/>
              <a:t>测试集</a:t>
            </a:r>
            <a:r>
              <a:rPr lang="en-US" altLang="zh-CN" dirty="0"/>
              <a:t>:92  </a:t>
            </a:r>
            <a:r>
              <a:rPr lang="zh-CN" altLang="en-US" dirty="0"/>
              <a:t>剔除了无法</a:t>
            </a:r>
            <a:r>
              <a:rPr lang="en-US" altLang="zh-CN" dirty="0"/>
              <a:t>prep</a:t>
            </a:r>
            <a:r>
              <a:rPr lang="zh-CN" altLang="en-US" dirty="0"/>
              <a:t>的</a:t>
            </a:r>
            <a:r>
              <a:rPr lang="en-US" altLang="zh-CN" dirty="0"/>
              <a:t>14</a:t>
            </a:r>
            <a:r>
              <a:rPr lang="zh-CN" altLang="en-US" dirty="0"/>
              <a:t>个 </a:t>
            </a:r>
            <a:r>
              <a:rPr lang="en-US" altLang="zh-CN" dirty="0"/>
              <a:t>12</a:t>
            </a:r>
            <a:r>
              <a:rPr lang="zh-CN" altLang="en-US" dirty="0"/>
              <a:t>个输入</a:t>
            </a:r>
            <a:r>
              <a:rPr lang="en-US" altLang="zh-CN" dirty="0"/>
              <a:t>/CCD</a:t>
            </a:r>
            <a:r>
              <a:rPr lang="zh-CN" altLang="en-US" dirty="0"/>
              <a:t>不兼容  </a:t>
            </a:r>
            <a:r>
              <a:rPr lang="en-US" altLang="zh-CN" dirty="0"/>
              <a:t>13</a:t>
            </a:r>
            <a:r>
              <a:rPr lang="zh-CN" altLang="en-US" dirty="0"/>
              <a:t>个单卡显存不足 失败的几个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CBE9AF6-2310-237C-864E-86D855CEEF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89A364-1080-4FF3-83B3-242A2827F50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59376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9FB9F-9905-2EC3-A24B-BB59DB639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96C80AD-B235-1539-9D98-BC1573B48C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8797B86-EA85-8EDF-2636-3A2E9B1905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用</a:t>
            </a:r>
            <a:r>
              <a:rPr lang="en-US" altLang="zh-CN" dirty="0"/>
              <a:t>RNA-FM</a:t>
            </a:r>
            <a:r>
              <a:rPr lang="zh-CN" altLang="en-US" dirty="0"/>
              <a:t>生成残基嵌入向量 以</a:t>
            </a:r>
            <a:r>
              <a:rPr lang="en-US" altLang="zh-CN" dirty="0"/>
              <a:t>.pt</a:t>
            </a:r>
            <a:r>
              <a:rPr lang="zh-CN" altLang="en-US" dirty="0"/>
              <a:t>的形式存储在</a:t>
            </a:r>
            <a:r>
              <a:rPr lang="en-US" altLang="zh-CN" dirty="0"/>
              <a:t>~/</a:t>
            </a:r>
            <a:r>
              <a:rPr lang="en-US" altLang="zh-CN" dirty="0" err="1"/>
              <a:t>Data_FM</a:t>
            </a:r>
            <a:r>
              <a:rPr lang="en-US" altLang="zh-CN" dirty="0"/>
              <a:t>/</a:t>
            </a:r>
            <a:r>
              <a:rPr lang="en-US" altLang="zh-CN" dirty="0" err="1"/>
              <a:t>RNA_FM_embeddings</a:t>
            </a:r>
            <a:r>
              <a:rPr lang="zh-CN" altLang="en-US" dirty="0"/>
              <a:t>中</a:t>
            </a:r>
            <a:r>
              <a:rPr lang="en-US" altLang="zh-CN" dirty="0"/>
              <a:t>,</a:t>
            </a:r>
            <a:r>
              <a:rPr lang="zh-CN" altLang="en-US" dirty="0"/>
              <a:t>该路径下一共</a:t>
            </a:r>
            <a:r>
              <a:rPr lang="en-US" altLang="zh-CN" dirty="0"/>
              <a:t>2241</a:t>
            </a:r>
            <a:r>
              <a:rPr lang="zh-CN" altLang="en-US" dirty="0"/>
              <a:t>个文件夹，每个文件夹里面有一个</a:t>
            </a:r>
            <a:r>
              <a:rPr lang="en-US" altLang="zh-CN" dirty="0"/>
              <a:t>.pt</a:t>
            </a:r>
            <a:r>
              <a:rPr lang="zh-CN" altLang="en-US" dirty="0"/>
              <a:t>文件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生成嵌入向量的脚本本地在</a:t>
            </a:r>
            <a:r>
              <a:rPr lang="en-US" altLang="zh-CN" dirty="0"/>
              <a:t>RNA\Code\</a:t>
            </a:r>
            <a:r>
              <a:rPr lang="en-US" altLang="zh-CN" dirty="0" err="1"/>
              <a:t>RNA_FM_pipeline</a:t>
            </a:r>
            <a:r>
              <a:rPr lang="zh-CN" altLang="en-US" dirty="0"/>
              <a:t>中，实验室服务器上在</a:t>
            </a:r>
            <a:r>
              <a:rPr lang="en-US" altLang="zh-CN" dirty="0"/>
              <a:t>~/Code/</a:t>
            </a:r>
            <a:r>
              <a:rPr lang="en-US" altLang="zh-CN" dirty="0" err="1"/>
              <a:t>RNA_FM_pipeline</a:t>
            </a:r>
            <a:r>
              <a:rPr lang="zh-CN" altLang="en-US" dirty="0"/>
              <a:t>中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生成过程的日志本地在</a:t>
            </a:r>
            <a:r>
              <a:rPr lang="en-US" altLang="zh-CN" dirty="0"/>
              <a:t>RNA\Code\</a:t>
            </a:r>
            <a:r>
              <a:rPr lang="en-US" altLang="zh-CN" dirty="0" err="1"/>
              <a:t>New_Data_pipeline_reports</a:t>
            </a:r>
            <a:r>
              <a:rPr lang="zh-CN" altLang="en-US" dirty="0"/>
              <a:t>中，实验室服务器在</a:t>
            </a:r>
            <a:r>
              <a:rPr lang="en-US" altLang="zh-CN" dirty="0"/>
              <a:t>~/Code/</a:t>
            </a:r>
            <a:r>
              <a:rPr lang="en-US" altLang="zh-CN" dirty="0" err="1"/>
              <a:t>pipeline_reports</a:t>
            </a:r>
            <a:r>
              <a:rPr lang="zh-CN" altLang="en-US" dirty="0"/>
              <a:t>中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5375AB-051D-05AD-EBF8-E11AEC49B6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89A364-1080-4FF3-83B3-242A2827F50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08883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CBF0D-EA40-C9D7-7EC7-8B55BAD9D1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22181ED-CBD0-FE13-2DF8-1F2CFFBC2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656CE1-BA60-CB30-8571-CEC77FDD6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CBDE1-3259-472A-BBCB-F44EE1D75891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A94AB6-BA27-0A46-EC8A-CF0FFE0BB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CEF3C3-6227-12A6-3B9F-332A79D93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26064-801F-43E0-B6ED-1E01F7CC27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5269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B4ED42-B096-681E-364D-E05EE242D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C7E81F-851D-1255-2265-E9A83DEEE4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F877C8F-6613-1120-21D1-FF61FAE90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CBDE1-3259-472A-BBCB-F44EE1D75891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EE6AD7-A364-C8E1-A8A5-8ED6A9539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082393-4119-BD6B-2B4F-976E126CD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26064-801F-43E0-B6ED-1E01F7CC27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9992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2757FC-088B-716D-28D8-D92EBF226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A8FBADC-5F04-32A4-63B2-CB3D4512BF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3BCF5C-316A-D8B4-2A34-AD0063DC6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CBDE1-3259-472A-BBCB-F44EE1D75891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2BA15C-8643-8F44-8446-081D9E308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2C2ADD-208C-D795-F459-3916C36D2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26064-801F-43E0-B6ED-1E01F7CC27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7050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594A53-7675-45E6-CEB4-656DF78B6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6A4D49-A60D-2234-E105-67599001F6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DD3D9AE-8888-A691-BD4F-2B46AA3426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9703DA8-1F01-4177-67A3-007DB8240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CBDE1-3259-472A-BBCB-F44EE1D75891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1672096-5F59-ACC8-AEF3-F8C91240B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0DA3B7E-147A-D4E2-ECF4-27BCC4880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26064-801F-43E0-B6ED-1E01F7CC27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4784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DBAD7B-7704-E92C-2C92-05C3EB126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960FEA1-0B65-0A9C-A6E3-8761751ABC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94B40AB-86D1-6915-6829-5DE1D74DB3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47C38AC-D6D0-CC54-A889-094BB78DB5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4F25DEE-A7AA-5F4F-E1ED-9D6A1FDBC6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13E74B1-C505-C923-8C59-66BDB2D63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CBDE1-3259-472A-BBCB-F44EE1D75891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FCB7BA7-209C-C6AB-BFDC-7C810C193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9F7DF35-A2D1-73A4-2018-FD8AC7F0A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26064-801F-43E0-B6ED-1E01F7CC27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3878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ECFCBC-80BB-3A23-88D4-24B0C0060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296B25D-96C0-A006-616B-EB75CB924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CBDE1-3259-472A-BBCB-F44EE1D75891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2B76520-EEA9-580B-2FF1-F7F326D8C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5603051-8346-F2FF-9A39-EC96509A3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26064-801F-43E0-B6ED-1E01F7CC27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0374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D287413-50BD-261E-0BE6-DDFF08E66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CBDE1-3259-472A-BBCB-F44EE1D75891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7C99519-9958-E240-6EFE-13178DF14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6D71C33-01B9-64F2-BBBA-E11305E75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26064-801F-43E0-B6ED-1E01F7CC27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442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64F647-C3A2-28F0-4238-DF7381F08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41CC60-EF46-4667-44EE-A257565060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292074E-4062-60A4-5C33-D3AA685D29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7FAE4C1-0843-E0C9-D489-F3AEA8F62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CBDE1-3259-472A-BBCB-F44EE1D75891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8D1C04E-408A-3B1E-449F-97DF23475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C1BC1EA-FBF8-01CE-173C-00E9FFC9C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26064-801F-43E0-B6ED-1E01F7CC27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689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B8D1DA-0AAE-E5A9-47E5-48EE45D81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4864BF4-47FD-FAB1-34F8-F0C83260E1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1665642-0A6C-C2AB-C5B7-92579B99AE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8D7537E-5C31-648C-1228-BFA77D537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CBDE1-3259-472A-BBCB-F44EE1D75891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F81DFD5-7D13-2B38-B948-7C8AAD73F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8CEBB1C-00EB-3D54-C328-031B568C3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26064-801F-43E0-B6ED-1E01F7CC27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759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792AD3-B0B9-D686-919A-1477902CF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900DDD8-2FFB-CC85-BD78-ED1CDC66A2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0E32B1-2BF3-B09F-5BC5-CF07FE22E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CBDE1-3259-472A-BBCB-F44EE1D75891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A0AE37-3E9A-845B-AAB3-E61A25482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D27239-3450-A1F7-BC72-84C80E66E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26064-801F-43E0-B6ED-1E01F7CC27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1842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77C841B-38C5-DDAC-DBF1-756AFA473D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1C18AD5-4330-C028-2B33-C4B897ABE5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373C80-9E4F-0C81-1D96-93427EA0C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CBDE1-3259-472A-BBCB-F44EE1D75891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CBE0F4-B954-67A9-7856-EB0C0117F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35B205C-E3A2-F7B0-8F00-A970587C7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26064-801F-43E0-B6ED-1E01F7CC27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4717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749B657-9133-CA4B-E6A9-ABEB2AEF1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7081C0B-4198-EB00-6C4D-9E6F9ECE05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77721A-2E83-8E52-0234-841D3EE457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9CBDE1-3259-472A-BBCB-F44EE1D75891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4B699B-501B-6AF3-0E1A-EA81856452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EB28D6-AC55-5BFC-8538-DC25AD7F15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E26064-801F-43E0-B6ED-1E01F7CC27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1474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Relationship Id="rId9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10" Type="http://schemas.openxmlformats.org/officeDocument/2006/relationships/image" Target="../media/image10.svg"/><Relationship Id="rId4" Type="http://schemas.openxmlformats.org/officeDocument/2006/relationships/image" Target="../media/image2.svg"/><Relationship Id="rId9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1" Type="http://schemas.openxmlformats.org/officeDocument/2006/relationships/image" Target="../media/image14.svg"/><Relationship Id="rId5" Type="http://schemas.openxmlformats.org/officeDocument/2006/relationships/image" Target="../media/image3.svg"/><Relationship Id="rId10" Type="http://schemas.openxmlformats.org/officeDocument/2006/relationships/image" Target="../media/image10.svg"/><Relationship Id="rId4" Type="http://schemas.openxmlformats.org/officeDocument/2006/relationships/image" Target="../media/image2.svg"/><Relationship Id="rId9" Type="http://schemas.openxmlformats.org/officeDocument/2006/relationships/image" Target="../media/image9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12" Type="http://schemas.openxmlformats.org/officeDocument/2006/relationships/image" Target="../media/image15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1" Type="http://schemas.openxmlformats.org/officeDocument/2006/relationships/image" Target="../media/image14.svg"/><Relationship Id="rId5" Type="http://schemas.openxmlformats.org/officeDocument/2006/relationships/image" Target="../media/image3.svg"/><Relationship Id="rId10" Type="http://schemas.openxmlformats.org/officeDocument/2006/relationships/image" Target="../media/image10.svg"/><Relationship Id="rId4" Type="http://schemas.openxmlformats.org/officeDocument/2006/relationships/image" Target="../media/image2.svg"/><Relationship Id="rId9" Type="http://schemas.openxmlformats.org/officeDocument/2006/relationships/image" Target="../media/image9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531AA9-E189-71E6-DE08-1700EA6F8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CC73AB-2842-A8FC-DCAB-4B5C6BCFA0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下载原始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r>
              <a:rPr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cif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文件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已完成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7" name="图形 6" descr="数据库 轮廓">
            <a:extLst>
              <a:ext uri="{FF2B5EF4-FFF2-40B4-BE49-F238E27FC236}">
                <a16:creationId xmlns:a16="http://schemas.microsoft.com/office/drawing/2014/main" id="{4F46C319-AF5C-C508-85E0-43F4B3B5D8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1574" y="2615268"/>
            <a:ext cx="914400" cy="9144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E4261CD8-114F-DB69-CD5F-C422DEE11319}"/>
              </a:ext>
            </a:extLst>
          </p:cNvPr>
          <p:cNvSpPr txBox="1"/>
          <p:nvPr/>
        </p:nvSpPr>
        <p:spPr>
          <a:xfrm>
            <a:off x="917931" y="3503336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PDB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6A037AD8-B7EB-9E71-7AC6-CB035895DD7D}"/>
              </a:ext>
            </a:extLst>
          </p:cNvPr>
          <p:cNvCxnSpPr>
            <a:cxnSpLocks/>
          </p:cNvCxnSpPr>
          <p:nvPr/>
        </p:nvCxnSpPr>
        <p:spPr>
          <a:xfrm>
            <a:off x="1737895" y="3072468"/>
            <a:ext cx="8823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3" name="图形 12" descr="筛选 轮廓">
            <a:extLst>
              <a:ext uri="{FF2B5EF4-FFF2-40B4-BE49-F238E27FC236}">
                <a16:creationId xmlns:a16="http://schemas.microsoft.com/office/drawing/2014/main" id="{D5B09DE0-2A54-F078-03E9-C5191C98DA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64226" y="3155879"/>
            <a:ext cx="629653" cy="629653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92761591-5FC3-EA45-B48D-FEACD035F644}"/>
              </a:ext>
            </a:extLst>
          </p:cNvPr>
          <p:cNvSpPr txBox="1"/>
          <p:nvPr/>
        </p:nvSpPr>
        <p:spPr>
          <a:xfrm>
            <a:off x="1570122" y="2857024"/>
            <a:ext cx="28468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latin typeface="黑体" panose="02010609060101010101" pitchFamily="49" charset="-122"/>
                <a:ea typeface="黑体" panose="02010609060101010101" pitchFamily="49" charset="-122"/>
              </a:rPr>
              <a:t>是纯</a:t>
            </a:r>
            <a:r>
              <a:rPr lang="en-US" altLang="zh-CN" sz="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RNA</a:t>
            </a:r>
            <a:r>
              <a:rPr lang="zh-CN" altLang="en-US" sz="800" dirty="0">
                <a:latin typeface="黑体" panose="02010609060101010101" pitchFamily="49" charset="-122"/>
                <a:ea typeface="黑体" panose="02010609060101010101" pitchFamily="49" charset="-122"/>
              </a:rPr>
              <a:t>链且有实验数据</a:t>
            </a:r>
          </a:p>
        </p:txBody>
      </p:sp>
      <p:pic>
        <p:nvPicPr>
          <p:cNvPr id="16" name="图形 15" descr="数据库 轮廓">
            <a:extLst>
              <a:ext uri="{FF2B5EF4-FFF2-40B4-BE49-F238E27FC236}">
                <a16:creationId xmlns:a16="http://schemas.microsoft.com/office/drawing/2014/main" id="{7EAE1335-D44C-2EE1-C4E6-56D8F4B8C9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16463" y="2615268"/>
            <a:ext cx="914400" cy="914400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6754BAAE-9C52-B933-F711-B105B3C23C26}"/>
              </a:ext>
            </a:extLst>
          </p:cNvPr>
          <p:cNvSpPr txBox="1"/>
          <p:nvPr/>
        </p:nvSpPr>
        <p:spPr>
          <a:xfrm>
            <a:off x="2811807" y="3503336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1F45BC5-F0A3-206E-0D61-83A3C9388DCC}"/>
              </a:ext>
            </a:extLst>
          </p:cNvPr>
          <p:cNvSpPr txBox="1"/>
          <p:nvPr/>
        </p:nvSpPr>
        <p:spPr>
          <a:xfrm>
            <a:off x="2811807" y="3855283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2241</a:t>
            </a:r>
            <a:endParaRPr lang="zh-CN" altLang="en-US" dirty="0">
              <a:solidFill>
                <a:schemeClr val="accent2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23674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DFD44-F13A-0171-E618-ACF36B351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CA73AB-ADD6-D839-2EB9-C74CB10AD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031F06-BFDF-D532-C200-73D871200F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分训练集、验证集与测试集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已完成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7" name="图形 6" descr="数据库 轮廓">
            <a:extLst>
              <a:ext uri="{FF2B5EF4-FFF2-40B4-BE49-F238E27FC236}">
                <a16:creationId xmlns:a16="http://schemas.microsoft.com/office/drawing/2014/main" id="{A595E334-06F2-386C-76C4-54E1FBE18C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1574" y="2615268"/>
            <a:ext cx="914400" cy="9144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5E375A8A-A0EA-A893-FB80-A2A8646E90CB}"/>
              </a:ext>
            </a:extLst>
          </p:cNvPr>
          <p:cNvSpPr txBox="1"/>
          <p:nvPr/>
        </p:nvSpPr>
        <p:spPr>
          <a:xfrm>
            <a:off x="917931" y="3503336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PDB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8223361E-30C9-9B0F-A35A-EDB6832670D7}"/>
              </a:ext>
            </a:extLst>
          </p:cNvPr>
          <p:cNvCxnSpPr>
            <a:cxnSpLocks/>
          </p:cNvCxnSpPr>
          <p:nvPr/>
        </p:nvCxnSpPr>
        <p:spPr>
          <a:xfrm>
            <a:off x="1737895" y="3072468"/>
            <a:ext cx="8823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3" name="图形 12" descr="筛选 轮廓">
            <a:extLst>
              <a:ext uri="{FF2B5EF4-FFF2-40B4-BE49-F238E27FC236}">
                <a16:creationId xmlns:a16="http://schemas.microsoft.com/office/drawing/2014/main" id="{17C34622-0887-1107-89A2-47D69311B4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64226" y="3155879"/>
            <a:ext cx="629653" cy="629653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44B6A6A3-52C1-1075-CC1F-0976CE16DC3B}"/>
              </a:ext>
            </a:extLst>
          </p:cNvPr>
          <p:cNvSpPr txBox="1"/>
          <p:nvPr/>
        </p:nvSpPr>
        <p:spPr>
          <a:xfrm>
            <a:off x="1570122" y="2857024"/>
            <a:ext cx="28468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latin typeface="黑体" panose="02010609060101010101" pitchFamily="49" charset="-122"/>
                <a:ea typeface="黑体" panose="02010609060101010101" pitchFamily="49" charset="-122"/>
              </a:rPr>
              <a:t>是纯</a:t>
            </a:r>
            <a:r>
              <a:rPr lang="en-US" altLang="zh-CN" sz="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RNA</a:t>
            </a:r>
            <a:r>
              <a:rPr lang="zh-CN" altLang="en-US" sz="800" dirty="0">
                <a:latin typeface="黑体" panose="02010609060101010101" pitchFamily="49" charset="-122"/>
                <a:ea typeface="黑体" panose="02010609060101010101" pitchFamily="49" charset="-122"/>
              </a:rPr>
              <a:t>链且有实验数据</a:t>
            </a:r>
          </a:p>
        </p:txBody>
      </p:sp>
      <p:pic>
        <p:nvPicPr>
          <p:cNvPr id="16" name="图形 15" descr="数据库 轮廓">
            <a:extLst>
              <a:ext uri="{FF2B5EF4-FFF2-40B4-BE49-F238E27FC236}">
                <a16:creationId xmlns:a16="http://schemas.microsoft.com/office/drawing/2014/main" id="{277C1E6D-A193-7C3E-83BF-967F1D975F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16463" y="2615268"/>
            <a:ext cx="914400" cy="914400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75C16EDC-5CA7-CE42-5541-0DE93445FDF2}"/>
              </a:ext>
            </a:extLst>
          </p:cNvPr>
          <p:cNvSpPr txBox="1"/>
          <p:nvPr/>
        </p:nvSpPr>
        <p:spPr>
          <a:xfrm>
            <a:off x="2811807" y="3503336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3C1EEA7B-86CC-CE44-A6D8-1E3BEFACC446}"/>
              </a:ext>
            </a:extLst>
          </p:cNvPr>
          <p:cNvCxnSpPr>
            <a:cxnSpLocks/>
          </p:cNvCxnSpPr>
          <p:nvPr/>
        </p:nvCxnSpPr>
        <p:spPr>
          <a:xfrm>
            <a:off x="3630863" y="3072468"/>
            <a:ext cx="8823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" name="图形 5" descr="打开文件夹 轮廓">
            <a:extLst>
              <a:ext uri="{FF2B5EF4-FFF2-40B4-BE49-F238E27FC236}">
                <a16:creationId xmlns:a16="http://schemas.microsoft.com/office/drawing/2014/main" id="{60EA4418-94E3-DDC6-AD58-80EFBA5460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62889" y="2588936"/>
            <a:ext cx="914400" cy="914400"/>
          </a:xfrm>
          <a:prstGeom prst="rect">
            <a:avLst/>
          </a:prstGeom>
        </p:spPr>
      </p:pic>
      <p:pic>
        <p:nvPicPr>
          <p:cNvPr id="11" name="图形 10" descr="打开文件夹 轮廓">
            <a:extLst>
              <a:ext uri="{FF2B5EF4-FFF2-40B4-BE49-F238E27FC236}">
                <a16:creationId xmlns:a16="http://schemas.microsoft.com/office/drawing/2014/main" id="{4D85DEAF-0B45-D0CB-3EE8-295DEBEA7F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87034" y="2584479"/>
            <a:ext cx="914400" cy="914400"/>
          </a:xfrm>
          <a:prstGeom prst="rect">
            <a:avLst/>
          </a:prstGeom>
        </p:spPr>
      </p:pic>
      <p:pic>
        <p:nvPicPr>
          <p:cNvPr id="15" name="图形 14" descr="打开文件夹 轮廓">
            <a:extLst>
              <a:ext uri="{FF2B5EF4-FFF2-40B4-BE49-F238E27FC236}">
                <a16:creationId xmlns:a16="http://schemas.microsoft.com/office/drawing/2014/main" id="{715AED67-F238-1823-EDAD-0539D4BD8B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32768" y="2588936"/>
            <a:ext cx="914400" cy="914400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7B61D717-803B-DA35-1562-A26C9A669087}"/>
              </a:ext>
            </a:extLst>
          </p:cNvPr>
          <p:cNvSpPr txBox="1"/>
          <p:nvPr/>
        </p:nvSpPr>
        <p:spPr>
          <a:xfrm>
            <a:off x="4697539" y="3498492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3A254D8-A010-6252-FABA-CDC37FDE6F51}"/>
              </a:ext>
            </a:extLst>
          </p:cNvPr>
          <p:cNvSpPr txBox="1"/>
          <p:nvPr/>
        </p:nvSpPr>
        <p:spPr>
          <a:xfrm>
            <a:off x="5739178" y="3498798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B031778-656E-352E-CA67-30288879A8DB}"/>
              </a:ext>
            </a:extLst>
          </p:cNvPr>
          <p:cNvSpPr txBox="1"/>
          <p:nvPr/>
        </p:nvSpPr>
        <p:spPr>
          <a:xfrm>
            <a:off x="6685794" y="3498492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图形 24" descr="筛选 纯色填充">
            <a:extLst>
              <a:ext uri="{FF2B5EF4-FFF2-40B4-BE49-F238E27FC236}">
                <a16:creationId xmlns:a16="http://schemas.microsoft.com/office/drawing/2014/main" id="{6B457918-365A-B78E-FD72-7CF7B62ADC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06713" y="3184558"/>
            <a:ext cx="572294" cy="572294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B4FA0173-53F2-4014-935A-41D165A064E8}"/>
              </a:ext>
            </a:extLst>
          </p:cNvPr>
          <p:cNvSpPr txBox="1"/>
          <p:nvPr/>
        </p:nvSpPr>
        <p:spPr>
          <a:xfrm>
            <a:off x="2811807" y="3855283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2241</a:t>
            </a:r>
            <a:endParaRPr lang="zh-CN" altLang="en-US" dirty="0">
              <a:solidFill>
                <a:schemeClr val="accent2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84A3B2E-C2FB-5DD6-5E3B-4E672EAA6B0A}"/>
              </a:ext>
            </a:extLst>
          </p:cNvPr>
          <p:cNvSpPr txBox="1"/>
          <p:nvPr/>
        </p:nvSpPr>
        <p:spPr>
          <a:xfrm>
            <a:off x="4711615" y="3860508"/>
            <a:ext cx="3089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1795     116     101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74477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8B741-AE39-5EFA-D50E-CB7E3B39D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67C9DD-E6F8-FA07-D856-54E79EFDE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42B2BC-1E92-374C-16D5-323977ACE4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对剩余的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208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个</a:t>
            </a:r>
            <a:r>
              <a:rPr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cif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文件进行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prep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已完成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7" name="图形 6" descr="数据库 轮廓">
            <a:extLst>
              <a:ext uri="{FF2B5EF4-FFF2-40B4-BE49-F238E27FC236}">
                <a16:creationId xmlns:a16="http://schemas.microsoft.com/office/drawing/2014/main" id="{25F61EC5-AF72-A7C4-FB5E-EDB51C7BBF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1574" y="2615268"/>
            <a:ext cx="914400" cy="9144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52A0DD8F-9B87-422B-1FE7-959176F83DE4}"/>
              </a:ext>
            </a:extLst>
          </p:cNvPr>
          <p:cNvSpPr txBox="1"/>
          <p:nvPr/>
        </p:nvSpPr>
        <p:spPr>
          <a:xfrm>
            <a:off x="917931" y="3503336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PDB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62F3DCD5-A21D-10C2-98F6-69A3FB5DB09C}"/>
              </a:ext>
            </a:extLst>
          </p:cNvPr>
          <p:cNvCxnSpPr>
            <a:cxnSpLocks/>
          </p:cNvCxnSpPr>
          <p:nvPr/>
        </p:nvCxnSpPr>
        <p:spPr>
          <a:xfrm>
            <a:off x="1737895" y="3072468"/>
            <a:ext cx="8823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3" name="图形 12" descr="筛选 轮廓">
            <a:extLst>
              <a:ext uri="{FF2B5EF4-FFF2-40B4-BE49-F238E27FC236}">
                <a16:creationId xmlns:a16="http://schemas.microsoft.com/office/drawing/2014/main" id="{7C833243-FC9D-5E87-DDE3-8CA329F8F2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64226" y="3155879"/>
            <a:ext cx="629653" cy="629653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A2DFBDEE-49E3-33CB-0D05-130DE2BE70D5}"/>
              </a:ext>
            </a:extLst>
          </p:cNvPr>
          <p:cNvSpPr txBox="1"/>
          <p:nvPr/>
        </p:nvSpPr>
        <p:spPr>
          <a:xfrm>
            <a:off x="1570122" y="2857024"/>
            <a:ext cx="28468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latin typeface="黑体" panose="02010609060101010101" pitchFamily="49" charset="-122"/>
                <a:ea typeface="黑体" panose="02010609060101010101" pitchFamily="49" charset="-122"/>
              </a:rPr>
              <a:t>是纯</a:t>
            </a:r>
            <a:r>
              <a:rPr lang="en-US" altLang="zh-CN" sz="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RNA</a:t>
            </a:r>
            <a:r>
              <a:rPr lang="zh-CN" altLang="en-US" sz="800" dirty="0">
                <a:latin typeface="黑体" panose="02010609060101010101" pitchFamily="49" charset="-122"/>
                <a:ea typeface="黑体" panose="02010609060101010101" pitchFamily="49" charset="-122"/>
              </a:rPr>
              <a:t>链且有实验数据</a:t>
            </a:r>
          </a:p>
        </p:txBody>
      </p:sp>
      <p:pic>
        <p:nvPicPr>
          <p:cNvPr id="16" name="图形 15" descr="数据库 轮廓">
            <a:extLst>
              <a:ext uri="{FF2B5EF4-FFF2-40B4-BE49-F238E27FC236}">
                <a16:creationId xmlns:a16="http://schemas.microsoft.com/office/drawing/2014/main" id="{E89DAC88-314A-D17B-6942-B021F3E962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16463" y="2615268"/>
            <a:ext cx="914400" cy="914400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B03A32B1-3C4C-3221-8A67-784AE818060C}"/>
              </a:ext>
            </a:extLst>
          </p:cNvPr>
          <p:cNvSpPr txBox="1"/>
          <p:nvPr/>
        </p:nvSpPr>
        <p:spPr>
          <a:xfrm>
            <a:off x="2811807" y="3503336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075F69DB-C044-FF1E-3463-62CC23C32015}"/>
              </a:ext>
            </a:extLst>
          </p:cNvPr>
          <p:cNvCxnSpPr>
            <a:cxnSpLocks/>
          </p:cNvCxnSpPr>
          <p:nvPr/>
        </p:nvCxnSpPr>
        <p:spPr>
          <a:xfrm>
            <a:off x="3630863" y="3072468"/>
            <a:ext cx="8823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" name="图形 5" descr="打开文件夹 轮廓">
            <a:extLst>
              <a:ext uri="{FF2B5EF4-FFF2-40B4-BE49-F238E27FC236}">
                <a16:creationId xmlns:a16="http://schemas.microsoft.com/office/drawing/2014/main" id="{7A81B1A4-51F6-C736-85D1-ED95188103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62889" y="2588936"/>
            <a:ext cx="914400" cy="914400"/>
          </a:xfrm>
          <a:prstGeom prst="rect">
            <a:avLst/>
          </a:prstGeom>
        </p:spPr>
      </p:pic>
      <p:pic>
        <p:nvPicPr>
          <p:cNvPr id="11" name="图形 10" descr="打开文件夹 轮廓">
            <a:extLst>
              <a:ext uri="{FF2B5EF4-FFF2-40B4-BE49-F238E27FC236}">
                <a16:creationId xmlns:a16="http://schemas.microsoft.com/office/drawing/2014/main" id="{6647939D-1C27-9325-D25E-42C588F081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87034" y="2584479"/>
            <a:ext cx="914400" cy="914400"/>
          </a:xfrm>
          <a:prstGeom prst="rect">
            <a:avLst/>
          </a:prstGeom>
        </p:spPr>
      </p:pic>
      <p:pic>
        <p:nvPicPr>
          <p:cNvPr id="15" name="图形 14" descr="打开文件夹 轮廓">
            <a:extLst>
              <a:ext uri="{FF2B5EF4-FFF2-40B4-BE49-F238E27FC236}">
                <a16:creationId xmlns:a16="http://schemas.microsoft.com/office/drawing/2014/main" id="{4286ED1C-08B0-002D-04EA-E271DF2F3A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32768" y="2588936"/>
            <a:ext cx="914400" cy="914400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7AF18523-E43E-1216-F453-6FD197A0617A}"/>
              </a:ext>
            </a:extLst>
          </p:cNvPr>
          <p:cNvSpPr txBox="1"/>
          <p:nvPr/>
        </p:nvSpPr>
        <p:spPr>
          <a:xfrm>
            <a:off x="4697539" y="3498492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4FFDF47-B04C-2D89-F52F-EC14E2153301}"/>
              </a:ext>
            </a:extLst>
          </p:cNvPr>
          <p:cNvSpPr txBox="1"/>
          <p:nvPr/>
        </p:nvSpPr>
        <p:spPr>
          <a:xfrm>
            <a:off x="5739178" y="3498798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67F68C7-9CEF-4537-2E86-9AC155F94F81}"/>
              </a:ext>
            </a:extLst>
          </p:cNvPr>
          <p:cNvSpPr txBox="1"/>
          <p:nvPr/>
        </p:nvSpPr>
        <p:spPr>
          <a:xfrm>
            <a:off x="6685794" y="3498492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连接符: 肘形 8">
            <a:extLst>
              <a:ext uri="{FF2B5EF4-FFF2-40B4-BE49-F238E27FC236}">
                <a16:creationId xmlns:a16="http://schemas.microsoft.com/office/drawing/2014/main" id="{C076EBEF-670C-F02A-7950-76C8C4D2F67F}"/>
              </a:ext>
            </a:extLst>
          </p:cNvPr>
          <p:cNvCxnSpPr>
            <a:cxnSpLocks/>
          </p:cNvCxnSpPr>
          <p:nvPr/>
        </p:nvCxnSpPr>
        <p:spPr>
          <a:xfrm>
            <a:off x="3170989" y="4031916"/>
            <a:ext cx="1245939" cy="609600"/>
          </a:xfrm>
          <a:prstGeom prst="bentConnector3">
            <a:avLst>
              <a:gd name="adj1" fmla="val 64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4" name="图形 23" descr="筛选 纯色填充">
            <a:extLst>
              <a:ext uri="{FF2B5EF4-FFF2-40B4-BE49-F238E27FC236}">
                <a16:creationId xmlns:a16="http://schemas.microsoft.com/office/drawing/2014/main" id="{ACAD31EB-2BDF-06C5-C540-E6309513BE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06713" y="3184558"/>
            <a:ext cx="572294" cy="572294"/>
          </a:xfrm>
          <a:prstGeom prst="rect">
            <a:avLst/>
          </a:prstGeom>
        </p:spPr>
      </p:pic>
      <p:pic>
        <p:nvPicPr>
          <p:cNvPr id="26" name="图形 25" descr="数据库 轮廓">
            <a:extLst>
              <a:ext uri="{FF2B5EF4-FFF2-40B4-BE49-F238E27FC236}">
                <a16:creationId xmlns:a16="http://schemas.microsoft.com/office/drawing/2014/main" id="{7E25F360-8950-5EB7-A7D0-D3DFE94D27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39390" y="4200705"/>
            <a:ext cx="914400" cy="914400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DDF010AA-4B5C-7799-164F-A765AC253A1A}"/>
              </a:ext>
            </a:extLst>
          </p:cNvPr>
          <p:cNvSpPr txBox="1"/>
          <p:nvPr/>
        </p:nvSpPr>
        <p:spPr>
          <a:xfrm>
            <a:off x="5069972" y="4473239"/>
            <a:ext cx="2862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简单的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文件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已完成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7E2B125C-4AF2-3A4C-289E-DA8D6372F71E}"/>
              </a:ext>
            </a:extLst>
          </p:cNvPr>
          <p:cNvSpPr txBox="1"/>
          <p:nvPr/>
        </p:nvSpPr>
        <p:spPr>
          <a:xfrm>
            <a:off x="8663477" y="4503016"/>
            <a:ext cx="28629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复杂的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文件与</a:t>
            </a:r>
            <a:r>
              <a:rPr lang="en-US" altLang="zh-CN" sz="1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prep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文件夹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已完成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2" name="图形 11" descr="数据库 轮廓">
            <a:extLst>
              <a:ext uri="{FF2B5EF4-FFF2-40B4-BE49-F238E27FC236}">
                <a16:creationId xmlns:a16="http://schemas.microsoft.com/office/drawing/2014/main" id="{C9B58FBE-8E03-1640-92E8-70253F714E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840986" y="4184315"/>
            <a:ext cx="914400" cy="914400"/>
          </a:xfrm>
          <a:prstGeom prst="rect">
            <a:avLst/>
          </a:prstGeom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9115247A-8E44-8E35-E893-1BDE6A697582}"/>
              </a:ext>
            </a:extLst>
          </p:cNvPr>
          <p:cNvSpPr txBox="1"/>
          <p:nvPr/>
        </p:nvSpPr>
        <p:spPr>
          <a:xfrm>
            <a:off x="2811807" y="3855283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2241</a:t>
            </a:r>
            <a:endParaRPr lang="zh-CN" altLang="en-US" dirty="0">
              <a:solidFill>
                <a:schemeClr val="accent2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444C8E0D-0375-E0DB-1172-63494F585C1B}"/>
              </a:ext>
            </a:extLst>
          </p:cNvPr>
          <p:cNvSpPr txBox="1"/>
          <p:nvPr/>
        </p:nvSpPr>
        <p:spPr>
          <a:xfrm>
            <a:off x="4711615" y="3860508"/>
            <a:ext cx="3089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1795     116     101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6FCC968-0C94-1AF1-8C66-CD6AC3C13649}"/>
              </a:ext>
            </a:extLst>
          </p:cNvPr>
          <p:cNvSpPr txBox="1"/>
          <p:nvPr/>
        </p:nvSpPr>
        <p:spPr>
          <a:xfrm>
            <a:off x="4459343" y="5040933"/>
            <a:ext cx="6762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tx2">
                    <a:lumMod val="90000"/>
                    <a:lumOff val="1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2241</a:t>
            </a:r>
            <a:r>
              <a:rPr lang="en-US" altLang="zh-CN" dirty="0"/>
              <a:t>                                                  </a:t>
            </a:r>
            <a:r>
              <a:rPr lang="en-US" altLang="zh-CN" dirty="0">
                <a:solidFill>
                  <a:schemeClr val="tx2">
                    <a:lumMod val="90000"/>
                    <a:lumOff val="1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2227</a:t>
            </a:r>
            <a:endParaRPr lang="zh-CN" altLang="en-US" dirty="0">
              <a:solidFill>
                <a:schemeClr val="tx2">
                  <a:lumMod val="90000"/>
                  <a:lumOff val="1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82756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C95EF-4B64-4C28-689A-0622DFD2F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ED5EF5-BD79-DBC8-66CC-763F8471A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0F4756-B539-7336-6C71-8504CD5662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对剩余的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208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个</a:t>
            </a:r>
            <a:r>
              <a:rPr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cif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文件进行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prep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已完成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3B04B365-8208-0499-D150-110DABA8FF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200" y="2308857"/>
            <a:ext cx="6520224" cy="4339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720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F9A5D-1BD5-F066-F183-07144876D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E8CF73-EDAE-7D32-1832-75EB901B9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ACC86C-4EC4-875D-A294-8DDE68E1DE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protenix</a:t>
            </a:r>
            <a:r>
              <a:rPr lang="en-US" altLang="zh-CN" dirty="0" err="1"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foldbench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参数做法对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2227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个</a:t>
            </a:r>
            <a:r>
              <a:rPr lang="en-US" altLang="zh-CN" dirty="0" err="1">
                <a:latin typeface="黑体" panose="02010609060101010101" pitchFamily="49" charset="-122"/>
                <a:ea typeface="黑体" panose="02010609060101010101" pitchFamily="49" charset="-122"/>
              </a:rPr>
              <a:t>cif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文件进行构象预测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已完成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7" name="图形 6" descr="数据库 轮廓">
            <a:extLst>
              <a:ext uri="{FF2B5EF4-FFF2-40B4-BE49-F238E27FC236}">
                <a16:creationId xmlns:a16="http://schemas.microsoft.com/office/drawing/2014/main" id="{1397717B-A177-D7D0-1945-DB2B31AA6C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1574" y="2615268"/>
            <a:ext cx="914400" cy="9144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51FCECBD-00A2-FE9B-4046-E93BE2AE8FDD}"/>
              </a:ext>
            </a:extLst>
          </p:cNvPr>
          <p:cNvSpPr txBox="1"/>
          <p:nvPr/>
        </p:nvSpPr>
        <p:spPr>
          <a:xfrm>
            <a:off x="917931" y="3503336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PDB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894942F8-467A-2886-975A-B2E1A97751FD}"/>
              </a:ext>
            </a:extLst>
          </p:cNvPr>
          <p:cNvCxnSpPr>
            <a:cxnSpLocks/>
          </p:cNvCxnSpPr>
          <p:nvPr/>
        </p:nvCxnSpPr>
        <p:spPr>
          <a:xfrm>
            <a:off x="1737895" y="3072468"/>
            <a:ext cx="8823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3" name="图形 12" descr="筛选 轮廓">
            <a:extLst>
              <a:ext uri="{FF2B5EF4-FFF2-40B4-BE49-F238E27FC236}">
                <a16:creationId xmlns:a16="http://schemas.microsoft.com/office/drawing/2014/main" id="{3C313793-312A-E533-4ABA-F469A962AE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64226" y="3155879"/>
            <a:ext cx="629653" cy="629653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C2AAABF7-76F8-FA1A-1DEB-5133B4B054E1}"/>
              </a:ext>
            </a:extLst>
          </p:cNvPr>
          <p:cNvSpPr txBox="1"/>
          <p:nvPr/>
        </p:nvSpPr>
        <p:spPr>
          <a:xfrm>
            <a:off x="1570122" y="2857024"/>
            <a:ext cx="28468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latin typeface="黑体" panose="02010609060101010101" pitchFamily="49" charset="-122"/>
                <a:ea typeface="黑体" panose="02010609060101010101" pitchFamily="49" charset="-122"/>
              </a:rPr>
              <a:t>是纯</a:t>
            </a:r>
            <a:r>
              <a:rPr lang="en-US" altLang="zh-CN" sz="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RNA</a:t>
            </a:r>
            <a:r>
              <a:rPr lang="zh-CN" altLang="en-US" sz="800" dirty="0">
                <a:latin typeface="黑体" panose="02010609060101010101" pitchFamily="49" charset="-122"/>
                <a:ea typeface="黑体" panose="02010609060101010101" pitchFamily="49" charset="-122"/>
              </a:rPr>
              <a:t>链且有实验数据</a:t>
            </a:r>
          </a:p>
        </p:txBody>
      </p:sp>
      <p:pic>
        <p:nvPicPr>
          <p:cNvPr id="16" name="图形 15" descr="数据库 轮廓">
            <a:extLst>
              <a:ext uri="{FF2B5EF4-FFF2-40B4-BE49-F238E27FC236}">
                <a16:creationId xmlns:a16="http://schemas.microsoft.com/office/drawing/2014/main" id="{4E2E0DFD-9A0E-0CDC-6D4D-CD933CE84D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16463" y="2615268"/>
            <a:ext cx="914400" cy="914400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12CF91C6-E6A1-A614-F3CE-8D7C1E276750}"/>
              </a:ext>
            </a:extLst>
          </p:cNvPr>
          <p:cNvSpPr txBox="1"/>
          <p:nvPr/>
        </p:nvSpPr>
        <p:spPr>
          <a:xfrm>
            <a:off x="2811807" y="3503336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4B74FC9E-ABA3-97F9-ADFF-A602F8626239}"/>
              </a:ext>
            </a:extLst>
          </p:cNvPr>
          <p:cNvCxnSpPr>
            <a:cxnSpLocks/>
          </p:cNvCxnSpPr>
          <p:nvPr/>
        </p:nvCxnSpPr>
        <p:spPr>
          <a:xfrm>
            <a:off x="3630863" y="3072468"/>
            <a:ext cx="8823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" name="图形 5" descr="打开文件夹 轮廓">
            <a:extLst>
              <a:ext uri="{FF2B5EF4-FFF2-40B4-BE49-F238E27FC236}">
                <a16:creationId xmlns:a16="http://schemas.microsoft.com/office/drawing/2014/main" id="{4B024892-A819-3DDA-4A37-218D897C2A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62889" y="2588936"/>
            <a:ext cx="914400" cy="914400"/>
          </a:xfrm>
          <a:prstGeom prst="rect">
            <a:avLst/>
          </a:prstGeom>
        </p:spPr>
      </p:pic>
      <p:pic>
        <p:nvPicPr>
          <p:cNvPr id="11" name="图形 10" descr="打开文件夹 轮廓">
            <a:extLst>
              <a:ext uri="{FF2B5EF4-FFF2-40B4-BE49-F238E27FC236}">
                <a16:creationId xmlns:a16="http://schemas.microsoft.com/office/drawing/2014/main" id="{7524AE02-2F72-5D6F-DF6B-2E007BF91D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87034" y="2584479"/>
            <a:ext cx="914400" cy="914400"/>
          </a:xfrm>
          <a:prstGeom prst="rect">
            <a:avLst/>
          </a:prstGeom>
        </p:spPr>
      </p:pic>
      <p:pic>
        <p:nvPicPr>
          <p:cNvPr id="15" name="图形 14" descr="打开文件夹 轮廓">
            <a:extLst>
              <a:ext uri="{FF2B5EF4-FFF2-40B4-BE49-F238E27FC236}">
                <a16:creationId xmlns:a16="http://schemas.microsoft.com/office/drawing/2014/main" id="{0592C0ED-B484-D741-AC3C-2EF8D049D7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32768" y="2588936"/>
            <a:ext cx="914400" cy="914400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5690E5CD-6D15-2E0B-7E48-DE74E6D971B3}"/>
              </a:ext>
            </a:extLst>
          </p:cNvPr>
          <p:cNvSpPr txBox="1"/>
          <p:nvPr/>
        </p:nvSpPr>
        <p:spPr>
          <a:xfrm>
            <a:off x="4697539" y="3498492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9AF8B94-0FA8-A46A-6EED-508A89513515}"/>
              </a:ext>
            </a:extLst>
          </p:cNvPr>
          <p:cNvSpPr txBox="1"/>
          <p:nvPr/>
        </p:nvSpPr>
        <p:spPr>
          <a:xfrm>
            <a:off x="5739178" y="3498798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F9AFA3C-A87A-4757-8B47-636DC6DCC53F}"/>
              </a:ext>
            </a:extLst>
          </p:cNvPr>
          <p:cNvSpPr txBox="1"/>
          <p:nvPr/>
        </p:nvSpPr>
        <p:spPr>
          <a:xfrm>
            <a:off x="6685794" y="3498492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连接符: 肘形 8">
            <a:extLst>
              <a:ext uri="{FF2B5EF4-FFF2-40B4-BE49-F238E27FC236}">
                <a16:creationId xmlns:a16="http://schemas.microsoft.com/office/drawing/2014/main" id="{BDA1545E-7516-FB0E-2A8E-6D5EF3FBD804}"/>
              </a:ext>
            </a:extLst>
          </p:cNvPr>
          <p:cNvCxnSpPr>
            <a:cxnSpLocks/>
          </p:cNvCxnSpPr>
          <p:nvPr/>
        </p:nvCxnSpPr>
        <p:spPr>
          <a:xfrm>
            <a:off x="3170989" y="4031916"/>
            <a:ext cx="1245939" cy="609600"/>
          </a:xfrm>
          <a:prstGeom prst="bentConnector3">
            <a:avLst>
              <a:gd name="adj1" fmla="val 64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4" name="图形 23" descr="筛选 纯色填充">
            <a:extLst>
              <a:ext uri="{FF2B5EF4-FFF2-40B4-BE49-F238E27FC236}">
                <a16:creationId xmlns:a16="http://schemas.microsoft.com/office/drawing/2014/main" id="{68C13377-FBF9-75CE-64D8-65866FE372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06713" y="3184558"/>
            <a:ext cx="572294" cy="572294"/>
          </a:xfrm>
          <a:prstGeom prst="rect">
            <a:avLst/>
          </a:prstGeom>
        </p:spPr>
      </p:pic>
      <p:pic>
        <p:nvPicPr>
          <p:cNvPr id="26" name="图形 25" descr="数据库 轮廓">
            <a:extLst>
              <a:ext uri="{FF2B5EF4-FFF2-40B4-BE49-F238E27FC236}">
                <a16:creationId xmlns:a16="http://schemas.microsoft.com/office/drawing/2014/main" id="{E0CA3E29-4853-0F2B-B4D3-A8D83BCF53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39390" y="4200705"/>
            <a:ext cx="914400" cy="914400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7CB57F0E-4AE5-8D24-C594-EA915FC28734}"/>
              </a:ext>
            </a:extLst>
          </p:cNvPr>
          <p:cNvSpPr txBox="1"/>
          <p:nvPr/>
        </p:nvSpPr>
        <p:spPr>
          <a:xfrm>
            <a:off x="5069972" y="4473239"/>
            <a:ext cx="2862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简单的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文件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已完成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1" name="图形 30" descr="数据库 轮廓">
            <a:extLst>
              <a:ext uri="{FF2B5EF4-FFF2-40B4-BE49-F238E27FC236}">
                <a16:creationId xmlns:a16="http://schemas.microsoft.com/office/drawing/2014/main" id="{CF7C72DC-4AF6-F44E-27BD-2AA112ADE2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840580" y="4184316"/>
            <a:ext cx="914400" cy="914400"/>
          </a:xfrm>
          <a:prstGeom prst="rect">
            <a:avLst/>
          </a:prstGeom>
        </p:spPr>
      </p:pic>
      <p:sp>
        <p:nvSpPr>
          <p:cNvPr id="33" name="文本框 32">
            <a:extLst>
              <a:ext uri="{FF2B5EF4-FFF2-40B4-BE49-F238E27FC236}">
                <a16:creationId xmlns:a16="http://schemas.microsoft.com/office/drawing/2014/main" id="{195261CE-197B-60D1-310E-477DA127AAB0}"/>
              </a:ext>
            </a:extLst>
          </p:cNvPr>
          <p:cNvSpPr txBox="1"/>
          <p:nvPr/>
        </p:nvSpPr>
        <p:spPr>
          <a:xfrm>
            <a:off x="8663477" y="4503016"/>
            <a:ext cx="28629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复杂的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文件与</a:t>
            </a:r>
            <a:r>
              <a:rPr lang="en-US" altLang="zh-CN" sz="1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prep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文件夹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已完成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12" name="连接符: 肘形 11">
            <a:extLst>
              <a:ext uri="{FF2B5EF4-FFF2-40B4-BE49-F238E27FC236}">
                <a16:creationId xmlns:a16="http://schemas.microsoft.com/office/drawing/2014/main" id="{425AC2C0-C6F0-D9F9-676E-46140366AF82}"/>
              </a:ext>
            </a:extLst>
          </p:cNvPr>
          <p:cNvCxnSpPr/>
          <p:nvPr/>
        </p:nvCxnSpPr>
        <p:spPr>
          <a:xfrm>
            <a:off x="3170989" y="4641516"/>
            <a:ext cx="1208018" cy="1074821"/>
          </a:xfrm>
          <a:prstGeom prst="bentConnector3">
            <a:avLst>
              <a:gd name="adj1" fmla="val 423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2" name="图形 21" descr="数据库 轮廓">
            <a:extLst>
              <a:ext uri="{FF2B5EF4-FFF2-40B4-BE49-F238E27FC236}">
                <a16:creationId xmlns:a16="http://schemas.microsoft.com/office/drawing/2014/main" id="{75CAA289-A0E0-FA13-E007-D1A6CBDF15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39390" y="5342773"/>
            <a:ext cx="914400" cy="914400"/>
          </a:xfrm>
          <a:prstGeom prst="rect">
            <a:avLst/>
          </a:prstGeom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6808CE6E-7C7D-B87B-7515-E50E7B599E09}"/>
              </a:ext>
            </a:extLst>
          </p:cNvPr>
          <p:cNvSpPr txBox="1"/>
          <p:nvPr/>
        </p:nvSpPr>
        <p:spPr>
          <a:xfrm>
            <a:off x="5069972" y="5591108"/>
            <a:ext cx="67624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protenix_base_default_v1.0.0;    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seeds×5 samples;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Diffusion steps:200;</a:t>
            </a:r>
          </a:p>
          <a:p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Pairformer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cycles :10;</a:t>
            </a:r>
          </a:p>
          <a:p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精度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BF16;(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已完成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  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确定当前</a:t>
            </a:r>
            <a:r>
              <a:rPr lang="en-US" altLang="zh-CN" sz="1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folding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模型的</a:t>
            </a:r>
            <a:r>
              <a:rPr lang="en-US" altLang="zh-CN" sz="14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rna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预测水平</a:t>
            </a:r>
            <a:endParaRPr lang="en-US" altLang="zh-CN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B17E6678-9142-0C32-B2B5-EC5F01EE678C}"/>
              </a:ext>
            </a:extLst>
          </p:cNvPr>
          <p:cNvSpPr txBox="1"/>
          <p:nvPr/>
        </p:nvSpPr>
        <p:spPr>
          <a:xfrm>
            <a:off x="2811807" y="3855283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2241</a:t>
            </a:r>
            <a:endParaRPr lang="zh-CN" altLang="en-US" dirty="0">
              <a:solidFill>
                <a:schemeClr val="accent2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BF588135-BDE2-3757-7D54-E15746B61409}"/>
              </a:ext>
            </a:extLst>
          </p:cNvPr>
          <p:cNvSpPr txBox="1"/>
          <p:nvPr/>
        </p:nvSpPr>
        <p:spPr>
          <a:xfrm>
            <a:off x="4711615" y="3860508"/>
            <a:ext cx="3089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1795     116     101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E49D16C9-D43A-8FD9-BDF4-984E69AA2D4A}"/>
              </a:ext>
            </a:extLst>
          </p:cNvPr>
          <p:cNvSpPr txBox="1"/>
          <p:nvPr/>
        </p:nvSpPr>
        <p:spPr>
          <a:xfrm>
            <a:off x="4459343" y="5040933"/>
            <a:ext cx="6762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tx2">
                    <a:lumMod val="90000"/>
                    <a:lumOff val="1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2241</a:t>
            </a:r>
            <a:r>
              <a:rPr lang="en-US" altLang="zh-CN" dirty="0"/>
              <a:t>                                                  </a:t>
            </a:r>
            <a:r>
              <a:rPr lang="en-US" altLang="zh-CN" dirty="0">
                <a:solidFill>
                  <a:schemeClr val="tx2">
                    <a:lumMod val="90000"/>
                    <a:lumOff val="1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2227</a:t>
            </a:r>
            <a:endParaRPr lang="zh-CN" altLang="en-US" dirty="0">
              <a:solidFill>
                <a:schemeClr val="tx2">
                  <a:lumMod val="90000"/>
                  <a:lumOff val="1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8429FB89-283A-7AE9-8F45-766C602EAA2E}"/>
              </a:ext>
            </a:extLst>
          </p:cNvPr>
          <p:cNvSpPr txBox="1"/>
          <p:nvPr/>
        </p:nvSpPr>
        <p:spPr>
          <a:xfrm>
            <a:off x="4450470" y="6207741"/>
            <a:ext cx="692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5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2199</a:t>
            </a:r>
            <a:endParaRPr lang="zh-CN" altLang="en-US" dirty="0">
              <a:solidFill>
                <a:schemeClr val="accent5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28812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EF20E-E8F8-0C3E-6447-C53707931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B84814-B96D-3705-F906-B836D56A3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8C9133-50F7-05FE-B5AC-D3E2AFA146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685896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protenix</a:t>
            </a:r>
            <a:r>
              <a:rPr lang="en-US" altLang="zh-CN" dirty="0" err="1"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foldbench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参数做法，最终成功对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2199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cif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文件进行了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5*5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pred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EB404BBD-3A5F-D709-6620-F704720C16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1" y="2528958"/>
            <a:ext cx="6058469" cy="2567647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40252AE6-DAE0-2D5C-4989-27F652ABC7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378" y="2528958"/>
            <a:ext cx="5943118" cy="2822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780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A84D2-E69E-F4C3-86D5-CA50BA708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0CB322-5DDF-DD5B-B23F-61EC328FE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15FD0C-E276-1932-12A1-7ED0D3130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68589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5*5pred Metrics</a:t>
            </a:r>
          </a:p>
          <a:p>
            <a:pPr marL="0" indent="0">
              <a:buNone/>
            </a:pPr>
            <a:endParaRPr lang="en-US" altLang="zh-CN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	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7" name="图形 6">
            <a:extLst>
              <a:ext uri="{FF2B5EF4-FFF2-40B4-BE49-F238E27FC236}">
                <a16:creationId xmlns:a16="http://schemas.microsoft.com/office/drawing/2014/main" id="{B1277CFB-190F-270D-9E3D-7A66863A98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7791" y="2361764"/>
            <a:ext cx="6355053" cy="4241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656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B1E60-6151-082C-600A-D6F686A55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26A86D-F31B-EB11-ED48-C037EB05F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0A35C6-A44E-7861-5FD3-FFC479EB04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protenix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跑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decoys(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跑完了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7" name="图形 6" descr="数据库 轮廓">
            <a:extLst>
              <a:ext uri="{FF2B5EF4-FFF2-40B4-BE49-F238E27FC236}">
                <a16:creationId xmlns:a16="http://schemas.microsoft.com/office/drawing/2014/main" id="{35AE7CC6-8631-B840-E9E7-FEFD0E96CF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1574" y="2615268"/>
            <a:ext cx="914400" cy="9144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DB9F1D43-0D32-6246-6914-1643CA5863A5}"/>
              </a:ext>
            </a:extLst>
          </p:cNvPr>
          <p:cNvSpPr txBox="1"/>
          <p:nvPr/>
        </p:nvSpPr>
        <p:spPr>
          <a:xfrm>
            <a:off x="917931" y="3503336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PDB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25CFF255-A372-6613-7EA5-88271A52EC6A}"/>
              </a:ext>
            </a:extLst>
          </p:cNvPr>
          <p:cNvCxnSpPr>
            <a:cxnSpLocks/>
          </p:cNvCxnSpPr>
          <p:nvPr/>
        </p:nvCxnSpPr>
        <p:spPr>
          <a:xfrm>
            <a:off x="1737895" y="3072468"/>
            <a:ext cx="8823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3" name="图形 12" descr="筛选 轮廓">
            <a:extLst>
              <a:ext uri="{FF2B5EF4-FFF2-40B4-BE49-F238E27FC236}">
                <a16:creationId xmlns:a16="http://schemas.microsoft.com/office/drawing/2014/main" id="{30A768E6-A9B9-9720-F3F2-6F5C4EFA3D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64226" y="3155879"/>
            <a:ext cx="629653" cy="629653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0258D818-49A7-5905-FDCF-A58B66BAFF47}"/>
              </a:ext>
            </a:extLst>
          </p:cNvPr>
          <p:cNvSpPr txBox="1"/>
          <p:nvPr/>
        </p:nvSpPr>
        <p:spPr>
          <a:xfrm>
            <a:off x="1570122" y="2857024"/>
            <a:ext cx="28468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latin typeface="黑体" panose="02010609060101010101" pitchFamily="49" charset="-122"/>
                <a:ea typeface="黑体" panose="02010609060101010101" pitchFamily="49" charset="-122"/>
              </a:rPr>
              <a:t>是纯</a:t>
            </a:r>
            <a:r>
              <a:rPr lang="en-US" altLang="zh-CN" sz="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RNA</a:t>
            </a:r>
            <a:r>
              <a:rPr lang="zh-CN" altLang="en-US" sz="800" dirty="0">
                <a:latin typeface="黑体" panose="02010609060101010101" pitchFamily="49" charset="-122"/>
                <a:ea typeface="黑体" panose="02010609060101010101" pitchFamily="49" charset="-122"/>
              </a:rPr>
              <a:t>链且有实验数据</a:t>
            </a:r>
          </a:p>
        </p:txBody>
      </p:sp>
      <p:pic>
        <p:nvPicPr>
          <p:cNvPr id="16" name="图形 15" descr="数据库 轮廓">
            <a:extLst>
              <a:ext uri="{FF2B5EF4-FFF2-40B4-BE49-F238E27FC236}">
                <a16:creationId xmlns:a16="http://schemas.microsoft.com/office/drawing/2014/main" id="{EC62F9CE-BF6A-5CAB-BED1-382B041F41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16463" y="2615268"/>
            <a:ext cx="914400" cy="914400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55F02E27-B96F-093F-503D-5F4CABED3F6E}"/>
              </a:ext>
            </a:extLst>
          </p:cNvPr>
          <p:cNvSpPr txBox="1"/>
          <p:nvPr/>
        </p:nvSpPr>
        <p:spPr>
          <a:xfrm>
            <a:off x="2811807" y="3503336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D48F19A7-B714-C491-360A-684F3370743B}"/>
              </a:ext>
            </a:extLst>
          </p:cNvPr>
          <p:cNvCxnSpPr>
            <a:cxnSpLocks/>
          </p:cNvCxnSpPr>
          <p:nvPr/>
        </p:nvCxnSpPr>
        <p:spPr>
          <a:xfrm>
            <a:off x="3630863" y="3072468"/>
            <a:ext cx="8823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" name="图形 5" descr="打开文件夹 轮廓">
            <a:extLst>
              <a:ext uri="{FF2B5EF4-FFF2-40B4-BE49-F238E27FC236}">
                <a16:creationId xmlns:a16="http://schemas.microsoft.com/office/drawing/2014/main" id="{B0C6EB8D-54FC-0C23-6BAD-8987602479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62889" y="2588936"/>
            <a:ext cx="914400" cy="914400"/>
          </a:xfrm>
          <a:prstGeom prst="rect">
            <a:avLst/>
          </a:prstGeom>
        </p:spPr>
      </p:pic>
      <p:pic>
        <p:nvPicPr>
          <p:cNvPr id="11" name="图形 10" descr="打开文件夹 轮廓">
            <a:extLst>
              <a:ext uri="{FF2B5EF4-FFF2-40B4-BE49-F238E27FC236}">
                <a16:creationId xmlns:a16="http://schemas.microsoft.com/office/drawing/2014/main" id="{2A13B6DD-9131-6C84-316A-26416EE4CB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87034" y="2584479"/>
            <a:ext cx="914400" cy="914400"/>
          </a:xfrm>
          <a:prstGeom prst="rect">
            <a:avLst/>
          </a:prstGeom>
        </p:spPr>
      </p:pic>
      <p:pic>
        <p:nvPicPr>
          <p:cNvPr id="15" name="图形 14" descr="打开文件夹 轮廓">
            <a:extLst>
              <a:ext uri="{FF2B5EF4-FFF2-40B4-BE49-F238E27FC236}">
                <a16:creationId xmlns:a16="http://schemas.microsoft.com/office/drawing/2014/main" id="{0EAA19D5-83C0-1AE6-DD2C-3479988723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32768" y="2588936"/>
            <a:ext cx="914400" cy="914400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8739B23C-707E-FED2-CBB1-D43FA9C6D07F}"/>
              </a:ext>
            </a:extLst>
          </p:cNvPr>
          <p:cNvSpPr txBox="1"/>
          <p:nvPr/>
        </p:nvSpPr>
        <p:spPr>
          <a:xfrm>
            <a:off x="4697539" y="3498492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8FC214A-2E66-8C15-8B2E-3BC30A064F2B}"/>
              </a:ext>
            </a:extLst>
          </p:cNvPr>
          <p:cNvSpPr txBox="1"/>
          <p:nvPr/>
        </p:nvSpPr>
        <p:spPr>
          <a:xfrm>
            <a:off x="5739178" y="3498798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7568474-970A-8568-D824-7C7A576F16F1}"/>
              </a:ext>
            </a:extLst>
          </p:cNvPr>
          <p:cNvSpPr txBox="1"/>
          <p:nvPr/>
        </p:nvSpPr>
        <p:spPr>
          <a:xfrm>
            <a:off x="6685794" y="3498492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连接符: 肘形 8">
            <a:extLst>
              <a:ext uri="{FF2B5EF4-FFF2-40B4-BE49-F238E27FC236}">
                <a16:creationId xmlns:a16="http://schemas.microsoft.com/office/drawing/2014/main" id="{8B88F62E-77C1-7290-B7A5-5AB51854DB38}"/>
              </a:ext>
            </a:extLst>
          </p:cNvPr>
          <p:cNvCxnSpPr>
            <a:cxnSpLocks/>
          </p:cNvCxnSpPr>
          <p:nvPr/>
        </p:nvCxnSpPr>
        <p:spPr>
          <a:xfrm>
            <a:off x="3170989" y="4031916"/>
            <a:ext cx="1245939" cy="609600"/>
          </a:xfrm>
          <a:prstGeom prst="bentConnector3">
            <a:avLst>
              <a:gd name="adj1" fmla="val 64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4" name="图形 23" descr="筛选 纯色填充">
            <a:extLst>
              <a:ext uri="{FF2B5EF4-FFF2-40B4-BE49-F238E27FC236}">
                <a16:creationId xmlns:a16="http://schemas.microsoft.com/office/drawing/2014/main" id="{B52C689F-8A39-D4C6-F2F7-9C610AC694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06713" y="3184558"/>
            <a:ext cx="572294" cy="572294"/>
          </a:xfrm>
          <a:prstGeom prst="rect">
            <a:avLst/>
          </a:prstGeom>
        </p:spPr>
      </p:pic>
      <p:pic>
        <p:nvPicPr>
          <p:cNvPr id="26" name="图形 25" descr="数据库 轮廓">
            <a:extLst>
              <a:ext uri="{FF2B5EF4-FFF2-40B4-BE49-F238E27FC236}">
                <a16:creationId xmlns:a16="http://schemas.microsoft.com/office/drawing/2014/main" id="{6E21F3B5-74EC-05A6-DAC3-491DF0C866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39390" y="4200705"/>
            <a:ext cx="914400" cy="914400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ADA6C5C4-3D41-5779-C167-6AF5EFEDD1CC}"/>
              </a:ext>
            </a:extLst>
          </p:cNvPr>
          <p:cNvSpPr txBox="1"/>
          <p:nvPr/>
        </p:nvSpPr>
        <p:spPr>
          <a:xfrm>
            <a:off x="5069972" y="4473239"/>
            <a:ext cx="2862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简单的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文件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已完成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1" name="图形 30" descr="数据库 轮廓">
            <a:extLst>
              <a:ext uri="{FF2B5EF4-FFF2-40B4-BE49-F238E27FC236}">
                <a16:creationId xmlns:a16="http://schemas.microsoft.com/office/drawing/2014/main" id="{13C98A6C-D7F1-3D97-7FA7-C20B3AAE62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840580" y="4184316"/>
            <a:ext cx="914400" cy="914400"/>
          </a:xfrm>
          <a:prstGeom prst="rect">
            <a:avLst/>
          </a:prstGeom>
        </p:spPr>
      </p:pic>
      <p:sp>
        <p:nvSpPr>
          <p:cNvPr id="33" name="文本框 32">
            <a:extLst>
              <a:ext uri="{FF2B5EF4-FFF2-40B4-BE49-F238E27FC236}">
                <a16:creationId xmlns:a16="http://schemas.microsoft.com/office/drawing/2014/main" id="{949EE13E-B11B-709C-8AE2-CBF702DE9DB1}"/>
              </a:ext>
            </a:extLst>
          </p:cNvPr>
          <p:cNvSpPr txBox="1"/>
          <p:nvPr/>
        </p:nvSpPr>
        <p:spPr>
          <a:xfrm>
            <a:off x="8663477" y="4503016"/>
            <a:ext cx="28629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复杂的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文件与</a:t>
            </a:r>
            <a:r>
              <a:rPr lang="en-US" altLang="zh-CN" sz="1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prep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文件夹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已完成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12" name="连接符: 肘形 11">
            <a:extLst>
              <a:ext uri="{FF2B5EF4-FFF2-40B4-BE49-F238E27FC236}">
                <a16:creationId xmlns:a16="http://schemas.microsoft.com/office/drawing/2014/main" id="{673BA329-4033-9CFC-6496-3F06B2084D26}"/>
              </a:ext>
            </a:extLst>
          </p:cNvPr>
          <p:cNvCxnSpPr/>
          <p:nvPr/>
        </p:nvCxnSpPr>
        <p:spPr>
          <a:xfrm>
            <a:off x="3170989" y="4641516"/>
            <a:ext cx="1208018" cy="1074821"/>
          </a:xfrm>
          <a:prstGeom prst="bentConnector3">
            <a:avLst>
              <a:gd name="adj1" fmla="val 423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2" name="图形 21" descr="数据库 轮廓">
            <a:extLst>
              <a:ext uri="{FF2B5EF4-FFF2-40B4-BE49-F238E27FC236}">
                <a16:creationId xmlns:a16="http://schemas.microsoft.com/office/drawing/2014/main" id="{EF5405A6-B381-0CE8-0F83-399E743404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39390" y="5342773"/>
            <a:ext cx="914400" cy="914400"/>
          </a:xfrm>
          <a:prstGeom prst="rect">
            <a:avLst/>
          </a:prstGeom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B29F6787-83F7-9C32-18E2-E25EE5A1B814}"/>
              </a:ext>
            </a:extLst>
          </p:cNvPr>
          <p:cNvSpPr txBox="1"/>
          <p:nvPr/>
        </p:nvSpPr>
        <p:spPr>
          <a:xfrm>
            <a:off x="5069972" y="5591108"/>
            <a:ext cx="67624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protenix_base_default_v1.0.0;    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seeds×5 samples;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Diffusion steps:200;</a:t>
            </a:r>
          </a:p>
          <a:p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Pairformer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cycles :10;</a:t>
            </a:r>
          </a:p>
          <a:p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精度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BF16;(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已完成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  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确定当前</a:t>
            </a:r>
            <a:r>
              <a:rPr lang="en-US" altLang="zh-CN" sz="1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folding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模型的</a:t>
            </a:r>
            <a:r>
              <a:rPr lang="en-US" altLang="zh-CN" sz="14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rna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预测水平</a:t>
            </a:r>
            <a:endParaRPr lang="en-US" altLang="zh-CN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1C6F773D-EF55-D903-F500-AEFDD361D54B}"/>
              </a:ext>
            </a:extLst>
          </p:cNvPr>
          <p:cNvCxnSpPr/>
          <p:nvPr/>
        </p:nvCxnSpPr>
        <p:spPr>
          <a:xfrm>
            <a:off x="7409505" y="3072468"/>
            <a:ext cx="73881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0" name="图形 29" descr="数据库 轮廓">
            <a:extLst>
              <a:ext uri="{FF2B5EF4-FFF2-40B4-BE49-F238E27FC236}">
                <a16:creationId xmlns:a16="http://schemas.microsoft.com/office/drawing/2014/main" id="{49CFBC31-F217-9587-4127-B4391B68AD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097845" y="2615268"/>
            <a:ext cx="914400" cy="914400"/>
          </a:xfrm>
          <a:prstGeom prst="rect">
            <a:avLst/>
          </a:prstGeom>
        </p:spPr>
      </p:pic>
      <p:sp>
        <p:nvSpPr>
          <p:cNvPr id="34" name="文本框 33">
            <a:extLst>
              <a:ext uri="{FF2B5EF4-FFF2-40B4-BE49-F238E27FC236}">
                <a16:creationId xmlns:a16="http://schemas.microsoft.com/office/drawing/2014/main" id="{EAD08B7D-2AB3-241D-305D-3BD72ACAF8B0}"/>
              </a:ext>
            </a:extLst>
          </p:cNvPr>
          <p:cNvSpPr txBox="1"/>
          <p:nvPr/>
        </p:nvSpPr>
        <p:spPr>
          <a:xfrm>
            <a:off x="8097845" y="1775778"/>
            <a:ext cx="67624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protenix_base_default_v1.0.0;    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 seeds×4 samples;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Diffusion steps:200;</a:t>
            </a:r>
          </a:p>
          <a:p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Pairformer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cycles :10;</a:t>
            </a:r>
          </a:p>
          <a:p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精度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BF16;(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跑完了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CN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39FF523-AF19-F993-B7D5-EE7C040D340B}"/>
              </a:ext>
            </a:extLst>
          </p:cNvPr>
          <p:cNvSpPr txBox="1"/>
          <p:nvPr/>
        </p:nvSpPr>
        <p:spPr>
          <a:xfrm>
            <a:off x="2811807" y="3855283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2241</a:t>
            </a:r>
            <a:endParaRPr lang="zh-CN" altLang="en-US" dirty="0">
              <a:solidFill>
                <a:schemeClr val="accent2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898F7567-4F1E-4654-F712-52A2C41E5FCD}"/>
              </a:ext>
            </a:extLst>
          </p:cNvPr>
          <p:cNvSpPr txBox="1"/>
          <p:nvPr/>
        </p:nvSpPr>
        <p:spPr>
          <a:xfrm>
            <a:off x="4711615" y="3860508"/>
            <a:ext cx="3089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1795     116     101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54232D43-37A8-6B78-ABCB-CDB1AA0F539E}"/>
              </a:ext>
            </a:extLst>
          </p:cNvPr>
          <p:cNvSpPr txBox="1"/>
          <p:nvPr/>
        </p:nvSpPr>
        <p:spPr>
          <a:xfrm>
            <a:off x="4459343" y="5040933"/>
            <a:ext cx="6762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tx2">
                    <a:lumMod val="90000"/>
                    <a:lumOff val="1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2241</a:t>
            </a:r>
            <a:r>
              <a:rPr lang="en-US" altLang="zh-CN" dirty="0"/>
              <a:t>                                                  </a:t>
            </a:r>
            <a:r>
              <a:rPr lang="en-US" altLang="zh-CN" dirty="0">
                <a:solidFill>
                  <a:schemeClr val="tx2">
                    <a:lumMod val="90000"/>
                    <a:lumOff val="1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2227</a:t>
            </a:r>
            <a:endParaRPr lang="zh-CN" altLang="en-US" dirty="0">
              <a:solidFill>
                <a:schemeClr val="tx2">
                  <a:lumMod val="90000"/>
                  <a:lumOff val="1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F3222E33-5F06-848C-FDC3-22CC72F8544F}"/>
              </a:ext>
            </a:extLst>
          </p:cNvPr>
          <p:cNvSpPr txBox="1"/>
          <p:nvPr/>
        </p:nvSpPr>
        <p:spPr>
          <a:xfrm>
            <a:off x="4450470" y="6207741"/>
            <a:ext cx="692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5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2199</a:t>
            </a:r>
            <a:endParaRPr lang="zh-CN" altLang="en-US" dirty="0">
              <a:solidFill>
                <a:schemeClr val="accent5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371722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F6063-175C-6E28-3595-947B5B063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866763-C7AA-EB49-E044-5EAB2A8E9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813790-9BBE-5174-6FAB-B184CB27FC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用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RNA-FM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生成残基嵌入向量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已完成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7" name="图形 6" descr="数据库 轮廓">
            <a:extLst>
              <a:ext uri="{FF2B5EF4-FFF2-40B4-BE49-F238E27FC236}">
                <a16:creationId xmlns:a16="http://schemas.microsoft.com/office/drawing/2014/main" id="{3F5F9663-DBC5-ABBF-98CA-7D69DFCE91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1574" y="2615268"/>
            <a:ext cx="914400" cy="9144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B09CAB8F-80C7-A200-4F01-DCC8ED1FDFF8}"/>
              </a:ext>
            </a:extLst>
          </p:cNvPr>
          <p:cNvSpPr txBox="1"/>
          <p:nvPr/>
        </p:nvSpPr>
        <p:spPr>
          <a:xfrm>
            <a:off x="917931" y="3503336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PDB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28B17D92-EBBA-57C0-C468-0898BC73C6CA}"/>
              </a:ext>
            </a:extLst>
          </p:cNvPr>
          <p:cNvCxnSpPr>
            <a:cxnSpLocks/>
          </p:cNvCxnSpPr>
          <p:nvPr/>
        </p:nvCxnSpPr>
        <p:spPr>
          <a:xfrm>
            <a:off x="1737895" y="3072468"/>
            <a:ext cx="8823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3" name="图形 12" descr="筛选 轮廓">
            <a:extLst>
              <a:ext uri="{FF2B5EF4-FFF2-40B4-BE49-F238E27FC236}">
                <a16:creationId xmlns:a16="http://schemas.microsoft.com/office/drawing/2014/main" id="{0241FA24-04BD-A50D-587A-AC12B2F9C2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64226" y="3155879"/>
            <a:ext cx="629653" cy="629653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CD2BF90A-656B-E9D8-D8EF-ADFB532DF627}"/>
              </a:ext>
            </a:extLst>
          </p:cNvPr>
          <p:cNvSpPr txBox="1"/>
          <p:nvPr/>
        </p:nvSpPr>
        <p:spPr>
          <a:xfrm>
            <a:off x="1570122" y="2857024"/>
            <a:ext cx="28468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latin typeface="黑体" panose="02010609060101010101" pitchFamily="49" charset="-122"/>
                <a:ea typeface="黑体" panose="02010609060101010101" pitchFamily="49" charset="-122"/>
              </a:rPr>
              <a:t>是纯</a:t>
            </a:r>
            <a:r>
              <a:rPr lang="en-US" altLang="zh-CN" sz="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RNA</a:t>
            </a:r>
            <a:r>
              <a:rPr lang="zh-CN" altLang="en-US" sz="800" dirty="0">
                <a:latin typeface="黑体" panose="02010609060101010101" pitchFamily="49" charset="-122"/>
                <a:ea typeface="黑体" panose="02010609060101010101" pitchFamily="49" charset="-122"/>
              </a:rPr>
              <a:t>链且有实验数据</a:t>
            </a:r>
          </a:p>
        </p:txBody>
      </p:sp>
      <p:pic>
        <p:nvPicPr>
          <p:cNvPr id="16" name="图形 15" descr="数据库 轮廓">
            <a:extLst>
              <a:ext uri="{FF2B5EF4-FFF2-40B4-BE49-F238E27FC236}">
                <a16:creationId xmlns:a16="http://schemas.microsoft.com/office/drawing/2014/main" id="{0FF922CC-EBBC-2B9A-E941-BCD9DE903C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16463" y="2615268"/>
            <a:ext cx="914400" cy="914400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8F680964-CD97-79C7-2A4D-6BC88342966E}"/>
              </a:ext>
            </a:extLst>
          </p:cNvPr>
          <p:cNvSpPr txBox="1"/>
          <p:nvPr/>
        </p:nvSpPr>
        <p:spPr>
          <a:xfrm>
            <a:off x="2811807" y="3503336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369CA4EE-BD29-79F6-FDE6-5C676D78A918}"/>
              </a:ext>
            </a:extLst>
          </p:cNvPr>
          <p:cNvCxnSpPr>
            <a:cxnSpLocks/>
          </p:cNvCxnSpPr>
          <p:nvPr/>
        </p:nvCxnSpPr>
        <p:spPr>
          <a:xfrm>
            <a:off x="3630863" y="3072468"/>
            <a:ext cx="8823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" name="图形 5" descr="打开文件夹 轮廓">
            <a:extLst>
              <a:ext uri="{FF2B5EF4-FFF2-40B4-BE49-F238E27FC236}">
                <a16:creationId xmlns:a16="http://schemas.microsoft.com/office/drawing/2014/main" id="{6BFCDB11-EDCC-185A-25D3-685DB3A69F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62889" y="2588936"/>
            <a:ext cx="914400" cy="914400"/>
          </a:xfrm>
          <a:prstGeom prst="rect">
            <a:avLst/>
          </a:prstGeom>
        </p:spPr>
      </p:pic>
      <p:pic>
        <p:nvPicPr>
          <p:cNvPr id="11" name="图形 10" descr="打开文件夹 轮廓">
            <a:extLst>
              <a:ext uri="{FF2B5EF4-FFF2-40B4-BE49-F238E27FC236}">
                <a16:creationId xmlns:a16="http://schemas.microsoft.com/office/drawing/2014/main" id="{6AF016E7-38D9-AD84-51E1-9D187949EE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87034" y="2584479"/>
            <a:ext cx="914400" cy="914400"/>
          </a:xfrm>
          <a:prstGeom prst="rect">
            <a:avLst/>
          </a:prstGeom>
        </p:spPr>
      </p:pic>
      <p:pic>
        <p:nvPicPr>
          <p:cNvPr id="15" name="图形 14" descr="打开文件夹 轮廓">
            <a:extLst>
              <a:ext uri="{FF2B5EF4-FFF2-40B4-BE49-F238E27FC236}">
                <a16:creationId xmlns:a16="http://schemas.microsoft.com/office/drawing/2014/main" id="{EFE9C952-C728-71DA-A0B4-C85F940AB9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32768" y="2588936"/>
            <a:ext cx="914400" cy="914400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11F2DCE3-49EA-B827-68FD-CA60547F545C}"/>
              </a:ext>
            </a:extLst>
          </p:cNvPr>
          <p:cNvSpPr txBox="1"/>
          <p:nvPr/>
        </p:nvSpPr>
        <p:spPr>
          <a:xfrm>
            <a:off x="4697539" y="3498492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53670CE-E224-D9C0-3CB1-A70A17A29D7A}"/>
              </a:ext>
            </a:extLst>
          </p:cNvPr>
          <p:cNvSpPr txBox="1"/>
          <p:nvPr/>
        </p:nvSpPr>
        <p:spPr>
          <a:xfrm>
            <a:off x="5739178" y="3498798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BA68B76-2C75-0FAC-9101-8E4BBB76F56E}"/>
              </a:ext>
            </a:extLst>
          </p:cNvPr>
          <p:cNvSpPr txBox="1"/>
          <p:nvPr/>
        </p:nvSpPr>
        <p:spPr>
          <a:xfrm>
            <a:off x="6685794" y="3498492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连接符: 肘形 8">
            <a:extLst>
              <a:ext uri="{FF2B5EF4-FFF2-40B4-BE49-F238E27FC236}">
                <a16:creationId xmlns:a16="http://schemas.microsoft.com/office/drawing/2014/main" id="{B34E15AF-92A6-F393-EA7A-1BC47A2E441F}"/>
              </a:ext>
            </a:extLst>
          </p:cNvPr>
          <p:cNvCxnSpPr>
            <a:cxnSpLocks/>
          </p:cNvCxnSpPr>
          <p:nvPr/>
        </p:nvCxnSpPr>
        <p:spPr>
          <a:xfrm>
            <a:off x="3170989" y="4031916"/>
            <a:ext cx="1245939" cy="609600"/>
          </a:xfrm>
          <a:prstGeom prst="bentConnector3">
            <a:avLst>
              <a:gd name="adj1" fmla="val 64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4" name="图形 23" descr="筛选 纯色填充">
            <a:extLst>
              <a:ext uri="{FF2B5EF4-FFF2-40B4-BE49-F238E27FC236}">
                <a16:creationId xmlns:a16="http://schemas.microsoft.com/office/drawing/2014/main" id="{FFE7328A-86E5-8059-0EE7-5CF2AA4174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06713" y="3184558"/>
            <a:ext cx="572294" cy="572294"/>
          </a:xfrm>
          <a:prstGeom prst="rect">
            <a:avLst/>
          </a:prstGeom>
        </p:spPr>
      </p:pic>
      <p:pic>
        <p:nvPicPr>
          <p:cNvPr id="26" name="图形 25" descr="数据库 轮廓">
            <a:extLst>
              <a:ext uri="{FF2B5EF4-FFF2-40B4-BE49-F238E27FC236}">
                <a16:creationId xmlns:a16="http://schemas.microsoft.com/office/drawing/2014/main" id="{74FC3EA7-CE82-BE43-BF52-58F6ED046F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39390" y="4200705"/>
            <a:ext cx="914400" cy="914400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C5B89C1C-16AC-984D-4BD3-D1F1622F27BD}"/>
              </a:ext>
            </a:extLst>
          </p:cNvPr>
          <p:cNvSpPr txBox="1"/>
          <p:nvPr/>
        </p:nvSpPr>
        <p:spPr>
          <a:xfrm>
            <a:off x="5069972" y="4473239"/>
            <a:ext cx="2862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简单的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文件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已完成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1" name="图形 30" descr="数据库 轮廓">
            <a:extLst>
              <a:ext uri="{FF2B5EF4-FFF2-40B4-BE49-F238E27FC236}">
                <a16:creationId xmlns:a16="http://schemas.microsoft.com/office/drawing/2014/main" id="{1094287E-5F43-ABBD-B332-E3C4E35BE6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840580" y="4184316"/>
            <a:ext cx="914400" cy="914400"/>
          </a:xfrm>
          <a:prstGeom prst="rect">
            <a:avLst/>
          </a:prstGeom>
        </p:spPr>
      </p:pic>
      <p:sp>
        <p:nvSpPr>
          <p:cNvPr id="33" name="文本框 32">
            <a:extLst>
              <a:ext uri="{FF2B5EF4-FFF2-40B4-BE49-F238E27FC236}">
                <a16:creationId xmlns:a16="http://schemas.microsoft.com/office/drawing/2014/main" id="{4DE3EA0A-9258-DB90-1F84-9A4E01B091B6}"/>
              </a:ext>
            </a:extLst>
          </p:cNvPr>
          <p:cNvSpPr txBox="1"/>
          <p:nvPr/>
        </p:nvSpPr>
        <p:spPr>
          <a:xfrm>
            <a:off x="8663477" y="4503016"/>
            <a:ext cx="28629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复杂的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文件与</a:t>
            </a:r>
            <a:r>
              <a:rPr lang="en-US" altLang="zh-CN" sz="1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prep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文件夹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已完成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12" name="连接符: 肘形 11">
            <a:extLst>
              <a:ext uri="{FF2B5EF4-FFF2-40B4-BE49-F238E27FC236}">
                <a16:creationId xmlns:a16="http://schemas.microsoft.com/office/drawing/2014/main" id="{E394AC13-DF4B-CDA6-FF47-D3E2DCC3AB3E}"/>
              </a:ext>
            </a:extLst>
          </p:cNvPr>
          <p:cNvCxnSpPr/>
          <p:nvPr/>
        </p:nvCxnSpPr>
        <p:spPr>
          <a:xfrm>
            <a:off x="3170989" y="4641516"/>
            <a:ext cx="1208018" cy="1074821"/>
          </a:xfrm>
          <a:prstGeom prst="bentConnector3">
            <a:avLst>
              <a:gd name="adj1" fmla="val 423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2" name="图形 21" descr="数据库 轮廓">
            <a:extLst>
              <a:ext uri="{FF2B5EF4-FFF2-40B4-BE49-F238E27FC236}">
                <a16:creationId xmlns:a16="http://schemas.microsoft.com/office/drawing/2014/main" id="{9813F221-38D8-295E-9349-686D6B005C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39390" y="5342773"/>
            <a:ext cx="914400" cy="914400"/>
          </a:xfrm>
          <a:prstGeom prst="rect">
            <a:avLst/>
          </a:prstGeom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700EE57F-CA02-4CDC-437B-7E71D8D6187E}"/>
              </a:ext>
            </a:extLst>
          </p:cNvPr>
          <p:cNvSpPr txBox="1"/>
          <p:nvPr/>
        </p:nvSpPr>
        <p:spPr>
          <a:xfrm>
            <a:off x="5069972" y="5591108"/>
            <a:ext cx="67624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protenix_base_default_v1.0.0;    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seeds×5 samples;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Diffusion steps:200;</a:t>
            </a:r>
          </a:p>
          <a:p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Pairformer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cycles :10;</a:t>
            </a:r>
          </a:p>
          <a:p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精度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BF16;(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已完成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  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确定当前</a:t>
            </a:r>
            <a:r>
              <a:rPr lang="en-US" altLang="zh-CN" sz="1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folding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模型的</a:t>
            </a:r>
            <a:r>
              <a:rPr lang="en-US" altLang="zh-CN" sz="14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rna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预测水平</a:t>
            </a:r>
            <a:endParaRPr lang="en-US" altLang="zh-CN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C5F6EB50-25EA-AA1E-7361-B3D5B2449E14}"/>
              </a:ext>
            </a:extLst>
          </p:cNvPr>
          <p:cNvCxnSpPr/>
          <p:nvPr/>
        </p:nvCxnSpPr>
        <p:spPr>
          <a:xfrm>
            <a:off x="7409505" y="3072468"/>
            <a:ext cx="73881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0" name="图形 29" descr="数据库 轮廓">
            <a:extLst>
              <a:ext uri="{FF2B5EF4-FFF2-40B4-BE49-F238E27FC236}">
                <a16:creationId xmlns:a16="http://schemas.microsoft.com/office/drawing/2014/main" id="{E2970C37-FAC5-B717-8A53-58BEBABC85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097845" y="2615268"/>
            <a:ext cx="914400" cy="914400"/>
          </a:xfrm>
          <a:prstGeom prst="rect">
            <a:avLst/>
          </a:prstGeom>
        </p:spPr>
      </p:pic>
      <p:sp>
        <p:nvSpPr>
          <p:cNvPr id="34" name="文本框 33">
            <a:extLst>
              <a:ext uri="{FF2B5EF4-FFF2-40B4-BE49-F238E27FC236}">
                <a16:creationId xmlns:a16="http://schemas.microsoft.com/office/drawing/2014/main" id="{B145CFA1-B7EA-8F32-13D0-DCEBBB01535C}"/>
              </a:ext>
            </a:extLst>
          </p:cNvPr>
          <p:cNvSpPr txBox="1"/>
          <p:nvPr/>
        </p:nvSpPr>
        <p:spPr>
          <a:xfrm>
            <a:off x="8097845" y="1775778"/>
            <a:ext cx="67624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protenix_base_default_v1.0.0;    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 seeds×4 samples;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Diffusion steps:200;</a:t>
            </a:r>
          </a:p>
          <a:p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Pairformer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cycles :10;</a:t>
            </a:r>
          </a:p>
          <a:p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精度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BF16;(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跑完了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CN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B5CBDF80-E98E-318E-055D-F04E1452C0F8}"/>
              </a:ext>
            </a:extLst>
          </p:cNvPr>
          <p:cNvCxnSpPr/>
          <p:nvPr/>
        </p:nvCxnSpPr>
        <p:spPr>
          <a:xfrm flipH="1">
            <a:off x="2493879" y="5716337"/>
            <a:ext cx="67711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9" name="图形 28" descr="数据库 轮廓">
            <a:extLst>
              <a:ext uri="{FF2B5EF4-FFF2-40B4-BE49-F238E27FC236}">
                <a16:creationId xmlns:a16="http://schemas.microsoft.com/office/drawing/2014/main" id="{169A9194-770D-2E38-EB19-435ACA5504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563453" y="5313076"/>
            <a:ext cx="914400" cy="914400"/>
          </a:xfrm>
          <a:prstGeom prst="rect">
            <a:avLst/>
          </a:prstGeom>
        </p:spPr>
      </p:pic>
      <p:sp>
        <p:nvSpPr>
          <p:cNvPr id="35" name="文本框 34">
            <a:extLst>
              <a:ext uri="{FF2B5EF4-FFF2-40B4-BE49-F238E27FC236}">
                <a16:creationId xmlns:a16="http://schemas.microsoft.com/office/drawing/2014/main" id="{B0EA27D6-F6F6-E855-E38F-8EFBC3DAC8BA}"/>
              </a:ext>
            </a:extLst>
          </p:cNvPr>
          <p:cNvSpPr txBox="1"/>
          <p:nvPr/>
        </p:nvSpPr>
        <p:spPr>
          <a:xfrm>
            <a:off x="1015821" y="6395796"/>
            <a:ext cx="2326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原始残基嵌入向量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5FD1CD0-BE84-2180-4E50-D945B46384B6}"/>
              </a:ext>
            </a:extLst>
          </p:cNvPr>
          <p:cNvSpPr txBox="1"/>
          <p:nvPr/>
        </p:nvSpPr>
        <p:spPr>
          <a:xfrm>
            <a:off x="2811807" y="3855283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2241</a:t>
            </a:r>
            <a:endParaRPr lang="zh-CN" altLang="en-US" dirty="0">
              <a:solidFill>
                <a:schemeClr val="accent2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AD5D09CE-1ACF-2AC4-84FB-56F8A5E5B722}"/>
              </a:ext>
            </a:extLst>
          </p:cNvPr>
          <p:cNvSpPr txBox="1"/>
          <p:nvPr/>
        </p:nvSpPr>
        <p:spPr>
          <a:xfrm>
            <a:off x="4711615" y="3860508"/>
            <a:ext cx="3089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1795     116     101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012A37D6-87A5-5011-CCC5-DC0F0DB93A0A}"/>
              </a:ext>
            </a:extLst>
          </p:cNvPr>
          <p:cNvSpPr txBox="1"/>
          <p:nvPr/>
        </p:nvSpPr>
        <p:spPr>
          <a:xfrm>
            <a:off x="4459343" y="5040933"/>
            <a:ext cx="6762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tx2">
                    <a:lumMod val="90000"/>
                    <a:lumOff val="1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2241</a:t>
            </a:r>
            <a:r>
              <a:rPr lang="en-US" altLang="zh-CN" dirty="0"/>
              <a:t>                                                  </a:t>
            </a:r>
            <a:r>
              <a:rPr lang="en-US" altLang="zh-CN" dirty="0">
                <a:solidFill>
                  <a:schemeClr val="tx2">
                    <a:lumMod val="90000"/>
                    <a:lumOff val="1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2227</a:t>
            </a:r>
            <a:endParaRPr lang="zh-CN" altLang="en-US" dirty="0">
              <a:solidFill>
                <a:schemeClr val="tx2">
                  <a:lumMod val="90000"/>
                  <a:lumOff val="1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29492747-372E-B508-6289-F517A1EA2838}"/>
              </a:ext>
            </a:extLst>
          </p:cNvPr>
          <p:cNvSpPr txBox="1"/>
          <p:nvPr/>
        </p:nvSpPr>
        <p:spPr>
          <a:xfrm>
            <a:off x="4450470" y="6207741"/>
            <a:ext cx="692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5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2199</a:t>
            </a:r>
            <a:endParaRPr lang="zh-CN" altLang="en-US" dirty="0">
              <a:solidFill>
                <a:schemeClr val="accent5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3DEDBE11-A1B0-2AF1-D6CF-99EBD6DC23AA}"/>
              </a:ext>
            </a:extLst>
          </p:cNvPr>
          <p:cNvSpPr txBox="1"/>
          <p:nvPr/>
        </p:nvSpPr>
        <p:spPr>
          <a:xfrm>
            <a:off x="1653794" y="6157678"/>
            <a:ext cx="733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3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2241</a:t>
            </a:r>
            <a:endParaRPr lang="zh-CN" altLang="en-US" dirty="0">
              <a:solidFill>
                <a:schemeClr val="accent3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106308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32212F3-0435-219A-9CE8-A8C5B902F6FA}"/>
              </a:ext>
            </a:extLst>
          </p:cNvPr>
          <p:cNvSpPr txBox="1"/>
          <p:nvPr/>
        </p:nvSpPr>
        <p:spPr>
          <a:xfrm>
            <a:off x="438912" y="438912"/>
            <a:ext cx="1116613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	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重新拉取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PDB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1979-&gt;2241</a:t>
            </a:r>
          </a:p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重新划分训练集、验证集、测试集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en-US" altLang="zh-CN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foldbench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标准评估</a:t>
            </a:r>
            <a:r>
              <a:rPr lang="en-US" altLang="zh-CN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protenix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en-US" altLang="zh-CN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RNAfolding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能力 决定要不要跑一段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MD</a:t>
            </a:r>
          </a:p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改变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decoys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参数 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4*50-&gt;50*4</a:t>
            </a:r>
          </a:p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增加输入特征：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RNA-FM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输出残基嵌入特征向量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=====================================================================================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在其他模型生成的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decoys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上的效果</a:t>
            </a:r>
            <a:endParaRPr lang="en-US" altLang="zh-CN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与Alphafold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的扩散模型竞争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优势在哪</a:t>
            </a:r>
            <a:endParaRPr lang="zh-CN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改进模型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更多创新点</a:t>
            </a:r>
            <a:endParaRPr lang="en-US" altLang="zh-CN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=====================================================================================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            ICLR 2027</a:t>
            </a:r>
          </a:p>
        </p:txBody>
      </p:sp>
    </p:spTree>
    <p:extLst>
      <p:ext uri="{BB962C8B-B14F-4D97-AF65-F5344CB8AC3E}">
        <p14:creationId xmlns:p14="http://schemas.microsoft.com/office/powerpoint/2010/main" val="33787485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1499</TotalTime>
  <Words>2554</Words>
  <Application>Microsoft Office PowerPoint</Application>
  <PresentationFormat>宽屏</PresentationFormat>
  <Paragraphs>216</Paragraphs>
  <Slides>10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等线</vt:lpstr>
      <vt:lpstr>等线 Light</vt:lpstr>
      <vt:lpstr>黑体</vt:lpstr>
      <vt:lpstr>Arial</vt:lpstr>
      <vt:lpstr>Times New Roman</vt:lpstr>
      <vt:lpstr>Office 主题​​</vt:lpstr>
      <vt:lpstr>Data</vt:lpstr>
      <vt:lpstr>Data</vt:lpstr>
      <vt:lpstr>Data</vt:lpstr>
      <vt:lpstr>Data</vt:lpstr>
      <vt:lpstr>Data</vt:lpstr>
      <vt:lpstr>Data</vt:lpstr>
      <vt:lpstr>Data</vt:lpstr>
      <vt:lpstr>Data</vt:lpstr>
      <vt:lpstr>Data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庭浩 夏</dc:creator>
  <cp:lastModifiedBy>庭浩 夏</cp:lastModifiedBy>
  <cp:revision>192</cp:revision>
  <dcterms:created xsi:type="dcterms:W3CDTF">2026-08-12T07:21:45Z</dcterms:created>
  <dcterms:modified xsi:type="dcterms:W3CDTF">2026-08-19T17:52:39Z</dcterms:modified>
</cp:coreProperties>
</file>