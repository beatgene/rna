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2" r:id="rId2"/>
    <p:sldId id="259" r:id="rId3"/>
    <p:sldId id="270" r:id="rId4"/>
    <p:sldId id="257" r:id="rId5"/>
    <p:sldId id="262" r:id="rId6"/>
    <p:sldId id="264" r:id="rId7"/>
    <p:sldId id="263" r:id="rId8"/>
    <p:sldId id="266" r:id="rId9"/>
    <p:sldId id="273" r:id="rId10"/>
    <p:sldId id="258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34C14-0472-4B03-B879-76EA85209E82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05A59-1786-4DB1-9A5E-11789471B4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4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Kabsch </a:t>
            </a:r>
            <a:r>
              <a:rPr lang="zh-CN" alt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endParaRPr lang="en-US" altLang="zh-CN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带预热的余弦退火重启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057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Kabsch </a:t>
            </a:r>
            <a:r>
              <a:rPr lang="zh-CN" alt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</a:t>
            </a:r>
            <a:endParaRPr lang="en-US" altLang="zh-CN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带预热的余弦退火重启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DE2C29-8C47-43D8-B711-B0BE1BDD4F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919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我的</a:t>
            </a:r>
            <a:r>
              <a:rPr lang="en-US" altLang="zh-CN" dirty="0" err="1"/>
              <a:t>datamodule</a:t>
            </a:r>
            <a:r>
              <a:rPr lang="zh-CN" altLang="en-US" dirty="0"/>
              <a:t>包含了低样本的情况</a:t>
            </a:r>
            <a:r>
              <a:rPr lang="en-US" altLang="zh-CN" dirty="0"/>
              <a:t>;</a:t>
            </a:r>
            <a:r>
              <a:rPr lang="zh-CN" altLang="en-US" dirty="0"/>
              <a:t>同时注明训练集是随机，验证集和测试集是非随机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(2,E):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mol-&gt;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bond in mol.GetBonds():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i, j = bond.GetBeginAtomIdx(), bond.GetEndAtomIdx()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edge_list.append((i, j))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node_attr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第零维是手性  第一维是原子总度数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连接的原子数目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第二维是形式电荷  第三维是隐式价态  第四维是氢原子数量  第五维是杂化类型  第六维是自由基电子数  第七维是是否是芳香原子  第八维是否在环中  第九维参与了哪些大小的维</a:t>
            </a:r>
            <a:b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25640-3606-4B42-AC15-3F732CA874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2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检查残基对齐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05A59-1786-4DB1-9A5E-11789471B4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84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151ED-0AC3-2285-A01A-CFDEF8765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5E3086-26FE-5D10-7313-E590D5E35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D4311B-5053-50A0-B761-304A572CA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8B8875-6318-BB4C-E8CE-39753937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17C4DD-C3B9-DE1B-BE9D-44BC57DE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780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FFB40-93C4-76F5-F3E7-FCAF2CF7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298F3-8456-8FC1-F981-9061BA90E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546D5-67D9-E1AD-2075-04D60104B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2CA89-BBC7-25AA-B39E-E38FEBE2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01FE92-0BC8-F35E-8B3D-CCE20EFC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8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74743-E3AF-07DE-C78F-ED25A776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04A9C-8CCA-661E-FAB5-2B1ECB35D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CE38C4-1303-9733-8809-297A7F4C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4C58FA-161D-5173-026C-04FC5B7A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74A9E-4DFD-3EB1-06A5-26534021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738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ECD7B-52CF-6819-0D9C-A9505C12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B80499-F037-8323-9404-3F312B1DF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03E0C-DBB0-68C0-44E8-C870BB888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2D5AD4-A1C0-9AC6-1B98-023ACDFD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78A167-FE69-FC8B-E408-DFC6838DC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DBB9F3-0D90-EA04-8948-41514F31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48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A2E60-8207-BCE8-6F02-41856472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A94A9-1751-17C4-F94F-2DEC80F97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D27419-1289-EA3A-10CA-D37914F0D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080205-015F-7288-BDFA-8870652EE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A7DA8F-BF64-5986-94A7-B88DCDA00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79F6A4-721F-5515-6BA9-81FCA4CD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B08E12-FCBB-B68E-C894-1D7AE5C6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B89EA3-6380-D538-0FDB-0836B90B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85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F2B9D-55DE-8AF9-4CDD-318D74CA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E5EFB5-1707-F59B-A7AB-D5D46352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7639DD-6937-EE93-CB2F-090502CA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B194E0-EADF-5C49-4A53-DD314367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16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ACD2E7-C000-6DD0-E41D-54E984E4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EDE289-3625-83D3-58EF-90EBB972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E9A0A-B033-3523-FB90-6069C699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69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F298B-A8FA-9B7C-30EB-BE421278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3043E-2370-D742-1791-F60BB4363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2C4DFD-51C7-4F2F-465B-8A3311E7D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2C2401-873D-C173-539C-ED64CDA9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5A855E-486D-F5CE-D92A-BC35BF76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6374AF-26F0-AB2F-57E9-2769ED57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40D30-C588-129E-A533-427FAA67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E0B56E-0D75-2198-73C9-5D1B2195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DCC2E-0F3A-7B05-0AE3-A439F5A16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8DC423-F4CC-2BD7-5811-FA4B6B77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A275FA-A93B-C776-4C7B-0218F0D22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B4D18E-8E47-B50F-15EF-6004BDB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5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CA58D-797A-4F94-B821-61E80971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DF5A9D-78C7-2435-0A53-4E7CBDD94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D8FF33-AF43-7025-F8F6-08943CACB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1F38D5-4122-59E5-6B41-3F61EC0B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782250-8391-2BA7-5159-3D0CD235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5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908FEE-FAE4-0F3B-FF59-00CB15D74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D22434-104A-C83D-FF89-4DC011E11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5509E-F8C8-84DA-ED6D-4B6A2331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5F444E-F77B-4FDF-3612-C80A7704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97B367-E29F-BB73-BF53-4297B8EE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1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EC96AF-B217-3A12-DCD8-425C34C0C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AE5FDB-1AFB-5ADE-8F84-C70F200DD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55A6B-4DD9-17BC-E21A-465A52A89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1C46A5-B749-48EE-B69A-C251031CBB3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AF974-A4FE-BB63-5A25-E84352352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AAE3B9-8EC3-D912-1868-8051E92E9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759F7-7A8E-4701-BF7B-D8A249682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55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BAE9A7F-1B45-3DF1-EFF4-B62ED6550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832" y="0"/>
            <a:ext cx="3944982" cy="20723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36A18B-D070-64BD-D0A8-70DEAF833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50" y="0"/>
            <a:ext cx="4236722" cy="22256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B75143-E7F8-266E-8C5A-02C95D2A3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72" y="1"/>
            <a:ext cx="4053263" cy="21292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0497702-53BF-3F3E-632C-028537F31DE0}"/>
              </a:ext>
            </a:extLst>
          </p:cNvPr>
          <p:cNvSpPr txBox="1"/>
          <p:nvPr/>
        </p:nvSpPr>
        <p:spPr>
          <a:xfrm>
            <a:off x="1491345" y="2129247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186298-D03D-9799-55C6-48B635DF5A33}"/>
              </a:ext>
            </a:extLst>
          </p:cNvPr>
          <p:cNvSpPr txBox="1"/>
          <p:nvPr/>
        </p:nvSpPr>
        <p:spPr>
          <a:xfrm>
            <a:off x="5582196" y="2134180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86804-7F84-281F-BBC2-CE64FE49ECFA}"/>
              </a:ext>
            </a:extLst>
          </p:cNvPr>
          <p:cNvSpPr txBox="1"/>
          <p:nvPr/>
        </p:nvSpPr>
        <p:spPr>
          <a:xfrm>
            <a:off x="9727188" y="2129247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1-3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7137549-7F26-843F-FD10-BE886AF77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150" y="2912480"/>
            <a:ext cx="4236722" cy="222562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E9D9904-722F-34FC-06FB-AF9207621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72" y="3157493"/>
            <a:ext cx="4055130" cy="21302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B3CEB62-E361-0115-6440-B024715689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03" y="3157493"/>
            <a:ext cx="3946653" cy="207324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550BA8F-823D-A3CC-B59B-D6DF0119D624}"/>
              </a:ext>
            </a:extLst>
          </p:cNvPr>
          <p:cNvSpPr txBox="1"/>
          <p:nvPr/>
        </p:nvSpPr>
        <p:spPr>
          <a:xfrm>
            <a:off x="1490508" y="5291082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8D2FBD-29C1-31DD-F908-7DF6A4E3C6AA}"/>
              </a:ext>
            </a:extLst>
          </p:cNvPr>
          <p:cNvSpPr txBox="1"/>
          <p:nvPr/>
        </p:nvSpPr>
        <p:spPr>
          <a:xfrm>
            <a:off x="5582195" y="5413002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1-5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4E3236-22F1-D04A-5D35-D846D31BAD46}"/>
              </a:ext>
            </a:extLst>
          </p:cNvPr>
          <p:cNvSpPr txBox="1"/>
          <p:nvPr/>
        </p:nvSpPr>
        <p:spPr>
          <a:xfrm>
            <a:off x="9727188" y="5502878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1-6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043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2B55468-A449-FD9F-388D-30EB43220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504" y="1663338"/>
            <a:ext cx="6171496" cy="32419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A15BB5-04ED-992B-DD31-DD70F332CA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97948"/>
            <a:ext cx="6022295" cy="316361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F72738A-6A7B-8909-DBD4-D32082D17B9B}"/>
              </a:ext>
            </a:extLst>
          </p:cNvPr>
          <p:cNvSpPr txBox="1"/>
          <p:nvPr/>
        </p:nvSpPr>
        <p:spPr>
          <a:xfrm>
            <a:off x="2564831" y="4975386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233E07-E6D8-CFBA-F571-5D20BDBE5FD7}"/>
              </a:ext>
            </a:extLst>
          </p:cNvPr>
          <p:cNvSpPr txBox="1"/>
          <p:nvPr/>
        </p:nvSpPr>
        <p:spPr>
          <a:xfrm>
            <a:off x="8659937" y="5055950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086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DD1BD2-7ED3-C83B-DFA1-01696A31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7113"/>
            <a:ext cx="6004410" cy="31542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BECF7E-017D-2122-E381-9805E957F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60571" cy="29735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A30D2A8-C8E4-2E5A-DCD0-BEF21A1C3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775" y="0"/>
            <a:ext cx="5929225" cy="311471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F2FA879-7F7A-CF9B-5AB6-71E862F61F6F}"/>
              </a:ext>
            </a:extLst>
          </p:cNvPr>
          <p:cNvSpPr txBox="1"/>
          <p:nvPr/>
        </p:nvSpPr>
        <p:spPr>
          <a:xfrm>
            <a:off x="2383970" y="3155294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0AD70C-3EAC-3D82-7B85-C215E61C125A}"/>
              </a:ext>
            </a:extLst>
          </p:cNvPr>
          <p:cNvSpPr txBox="1"/>
          <p:nvPr/>
        </p:nvSpPr>
        <p:spPr>
          <a:xfrm>
            <a:off x="9030945" y="3155294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CBA44E-B24C-5803-D6EE-1FB62E7EA6D0}"/>
              </a:ext>
            </a:extLst>
          </p:cNvPr>
          <p:cNvSpPr txBox="1"/>
          <p:nvPr/>
        </p:nvSpPr>
        <p:spPr>
          <a:xfrm>
            <a:off x="2383969" y="6488668"/>
            <a:ext cx="89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3-3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870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1B867-46F4-FFF6-29BD-7725CDAE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067350-7199-D5D9-8855-5227B73B8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残基对齐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形 4" descr="文档 纯色填充">
            <a:extLst>
              <a:ext uri="{FF2B5EF4-FFF2-40B4-BE49-F238E27FC236}">
                <a16:creationId xmlns:a16="http://schemas.microsoft.com/office/drawing/2014/main" id="{9D098B14-AD43-F74B-9A4D-901756F81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900" y="3095517"/>
            <a:ext cx="635466" cy="6354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372B38E-A0C1-7D88-DE5B-882C38FFAFCF}"/>
              </a:ext>
            </a:extLst>
          </p:cNvPr>
          <p:cNvSpPr txBox="1"/>
          <p:nvPr/>
        </p:nvSpPr>
        <p:spPr>
          <a:xfrm>
            <a:off x="632554" y="3681254"/>
            <a:ext cx="6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CFBA586-A473-DBFD-1155-1E7A8D8B0B4B}"/>
              </a:ext>
            </a:extLst>
          </p:cNvPr>
          <p:cNvCxnSpPr/>
          <p:nvPr/>
        </p:nvCxnSpPr>
        <p:spPr>
          <a:xfrm>
            <a:off x="1262426" y="3456244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E478798-6D65-793C-BAE3-8F8A340B80B5}"/>
              </a:ext>
            </a:extLst>
          </p:cNvPr>
          <p:cNvSpPr txBox="1"/>
          <p:nvPr/>
        </p:nvSpPr>
        <p:spPr>
          <a:xfrm>
            <a:off x="1770658" y="3271578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167DCFA-E56F-FCBA-9B56-064BA4CB121D}"/>
              </a:ext>
            </a:extLst>
          </p:cNvPr>
          <p:cNvCxnSpPr/>
          <p:nvPr/>
        </p:nvCxnSpPr>
        <p:spPr>
          <a:xfrm>
            <a:off x="2773843" y="3487004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56CA35D-A50B-3F92-8ED9-16410D360866}"/>
              </a:ext>
            </a:extLst>
          </p:cNvPr>
          <p:cNvSpPr txBox="1"/>
          <p:nvPr/>
        </p:nvSpPr>
        <p:spPr>
          <a:xfrm>
            <a:off x="3252015" y="3271470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ECDBB0-1061-26F7-2E38-988FB30CA968}"/>
              </a:ext>
            </a:extLst>
          </p:cNvPr>
          <p:cNvCxnSpPr/>
          <p:nvPr/>
        </p:nvCxnSpPr>
        <p:spPr>
          <a:xfrm>
            <a:off x="4041979" y="3487004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0C0116D-E0C8-0A96-5857-8A2E04A9199F}"/>
              </a:ext>
            </a:extLst>
          </p:cNvPr>
          <p:cNvSpPr txBox="1"/>
          <p:nvPr/>
        </p:nvSpPr>
        <p:spPr>
          <a:xfrm>
            <a:off x="4525392" y="3271470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887AF36-C153-EBE4-4685-28248657E984}"/>
              </a:ext>
            </a:extLst>
          </p:cNvPr>
          <p:cNvCxnSpPr/>
          <p:nvPr/>
        </p:nvCxnSpPr>
        <p:spPr>
          <a:xfrm>
            <a:off x="5200706" y="3487004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E50FD03-7BAF-5711-B264-218FD6D1C8DA}"/>
              </a:ext>
            </a:extLst>
          </p:cNvPr>
          <p:cNvSpPr txBox="1"/>
          <p:nvPr/>
        </p:nvSpPr>
        <p:spPr>
          <a:xfrm>
            <a:off x="5678878" y="3271470"/>
            <a:ext cx="450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0952EB-213B-4A18-C469-FDA3C9269AE0}"/>
              </a:ext>
            </a:extLst>
          </p:cNvPr>
          <p:cNvSpPr txBox="1"/>
          <p:nvPr/>
        </p:nvSpPr>
        <p:spPr>
          <a:xfrm>
            <a:off x="1165079" y="3277012"/>
            <a:ext cx="103254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zh-CN" altLang="zh-CN" sz="5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.get_structure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C6B583-A030-538D-8B83-C10CEE95A9BA}"/>
              </a:ext>
            </a:extLst>
          </p:cNvPr>
          <p:cNvSpPr txBox="1"/>
          <p:nvPr/>
        </p:nvSpPr>
        <p:spPr>
          <a:xfrm>
            <a:off x="2735567" y="3286859"/>
            <a:ext cx="47817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structure[0]</a:t>
            </a:r>
            <a:endParaRPr lang="zh-CN" alt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AB0715F-009D-D678-2234-394FE21A87D8}"/>
              </a:ext>
            </a:extLst>
          </p:cNvPr>
          <p:cNvCxnSpPr/>
          <p:nvPr/>
        </p:nvCxnSpPr>
        <p:spPr>
          <a:xfrm>
            <a:off x="6129087" y="3487004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D4B3381-BC2A-9833-C23B-EBDF732FADC4}"/>
              </a:ext>
            </a:extLst>
          </p:cNvPr>
          <p:cNvSpPr txBox="1"/>
          <p:nvPr/>
        </p:nvSpPr>
        <p:spPr>
          <a:xfrm>
            <a:off x="6607259" y="3282487"/>
            <a:ext cx="6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E803BB5-C96D-E0E4-57E2-D88772A00A31}"/>
              </a:ext>
            </a:extLst>
          </p:cNvPr>
          <p:cNvSpPr txBox="1"/>
          <p:nvPr/>
        </p:nvSpPr>
        <p:spPr>
          <a:xfrm>
            <a:off x="7202665" y="2998409"/>
            <a:ext cx="6096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exact_id </a:t>
            </a:r>
            <a:r>
              <a:rPr lang="zh-CN" altLang="zh-CN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f“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lang="zh-CN" altLang="zh-CN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.id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res_id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atom_name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1050" dirty="0" err="1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r>
              <a:rPr lang="en-US" altLang="zh-CN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原子类别</a:t>
            </a:r>
            <a:r>
              <a:rPr lang="en-US" altLang="zh-CN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残基名称</a:t>
            </a:r>
            <a:r>
              <a:rPr lang="en-US" altLang="zh-CN" sz="105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05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1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3219EACC-0372-B557-9B6D-C13D1BBAC494}"/>
              </a:ext>
            </a:extLst>
          </p:cNvPr>
          <p:cNvSpPr/>
          <p:nvPr/>
        </p:nvSpPr>
        <p:spPr>
          <a:xfrm>
            <a:off x="7202665" y="3201778"/>
            <a:ext cx="45719" cy="595619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DA82927-738B-11FE-C24B-B67D424A9477}"/>
              </a:ext>
            </a:extLst>
          </p:cNvPr>
          <p:cNvSpPr txBox="1"/>
          <p:nvPr/>
        </p:nvSpPr>
        <p:spPr>
          <a:xfrm>
            <a:off x="7202665" y="3617479"/>
            <a:ext cx="6788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seq_id </a:t>
            </a:r>
            <a:r>
              <a:rPr lang="zh-CN" altLang="zh-CN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f"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global_res_idx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atom_name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altLang="zh-CN" sz="1200" dirty="0" err="1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原子类别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残基名称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2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5C291C-BAE6-5832-D6A1-4254F8A6D60B}"/>
              </a:ext>
            </a:extLst>
          </p:cNvPr>
          <p:cNvSpPr txBox="1"/>
          <p:nvPr/>
        </p:nvSpPr>
        <p:spPr>
          <a:xfrm>
            <a:off x="717732" y="4385716"/>
            <a:ext cx="1479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D14069-4AAB-22BD-3D17-9008E5DCE42E}"/>
              </a:ext>
            </a:extLst>
          </p:cNvPr>
          <p:cNvSpPr txBox="1"/>
          <p:nvPr/>
        </p:nvSpPr>
        <p:spPr>
          <a:xfrm>
            <a:off x="838199" y="5102144"/>
            <a:ext cx="6709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残基无法严格对齐，例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全部残基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AUCGG</a:t>
            </a: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包含有坐标的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AUC_G</a:t>
            </a:r>
          </a:p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predict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包含的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AUCGG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441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84F6-94BA-9D1C-9FC1-079D0B78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1F2478-58AC-7AB1-1E7A-49D927CFE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F038D-EAA4-455F-32AF-293C92C60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残基对齐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形 4" descr="文档 纯色填充">
            <a:extLst>
              <a:ext uri="{FF2B5EF4-FFF2-40B4-BE49-F238E27FC236}">
                <a16:creationId xmlns:a16="http://schemas.microsoft.com/office/drawing/2014/main" id="{37439FF9-FE06-C8E4-3546-87BE5DB846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3728906"/>
            <a:ext cx="635466" cy="6354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307308-571D-6934-E542-9A26236F49F9}"/>
              </a:ext>
            </a:extLst>
          </p:cNvPr>
          <p:cNvSpPr txBox="1"/>
          <p:nvPr/>
        </p:nvSpPr>
        <p:spPr>
          <a:xfrm>
            <a:off x="873854" y="4314643"/>
            <a:ext cx="6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B0EC90A-D84B-A8A6-5E15-BC041B99684F}"/>
              </a:ext>
            </a:extLst>
          </p:cNvPr>
          <p:cNvCxnSpPr/>
          <p:nvPr/>
        </p:nvCxnSpPr>
        <p:spPr>
          <a:xfrm>
            <a:off x="1503726" y="4089633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0BF754D-7C91-9748-D2E8-A06FC26174E7}"/>
              </a:ext>
            </a:extLst>
          </p:cNvPr>
          <p:cNvSpPr txBox="1"/>
          <p:nvPr/>
        </p:nvSpPr>
        <p:spPr>
          <a:xfrm>
            <a:off x="2011958" y="3904967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C24E29-2642-D6B4-4272-066F70DAD26F}"/>
              </a:ext>
            </a:extLst>
          </p:cNvPr>
          <p:cNvCxnSpPr/>
          <p:nvPr/>
        </p:nvCxnSpPr>
        <p:spPr>
          <a:xfrm>
            <a:off x="3015143" y="4120393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C56426D-1BA1-788F-1C14-74A6E542445E}"/>
              </a:ext>
            </a:extLst>
          </p:cNvPr>
          <p:cNvSpPr txBox="1"/>
          <p:nvPr/>
        </p:nvSpPr>
        <p:spPr>
          <a:xfrm>
            <a:off x="3493315" y="3904859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F1288FA-1CE2-4DC0-561D-A9FB566A3E17}"/>
              </a:ext>
            </a:extLst>
          </p:cNvPr>
          <p:cNvCxnSpPr/>
          <p:nvPr/>
        </p:nvCxnSpPr>
        <p:spPr>
          <a:xfrm>
            <a:off x="4283279" y="4120393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8334308-30B9-ABB5-6C77-88B30F72F19C}"/>
              </a:ext>
            </a:extLst>
          </p:cNvPr>
          <p:cNvSpPr txBox="1"/>
          <p:nvPr/>
        </p:nvSpPr>
        <p:spPr>
          <a:xfrm>
            <a:off x="4766692" y="3904859"/>
            <a:ext cx="1094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F6A9A1F-7CAC-755C-5CA3-4A1D02E7E8FE}"/>
              </a:ext>
            </a:extLst>
          </p:cNvPr>
          <p:cNvCxnSpPr/>
          <p:nvPr/>
        </p:nvCxnSpPr>
        <p:spPr>
          <a:xfrm>
            <a:off x="5442006" y="4120393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E6D3BF3-09E0-FDDA-12E3-20801A6D9059}"/>
              </a:ext>
            </a:extLst>
          </p:cNvPr>
          <p:cNvSpPr txBox="1"/>
          <p:nvPr/>
        </p:nvSpPr>
        <p:spPr>
          <a:xfrm>
            <a:off x="5920178" y="3904859"/>
            <a:ext cx="450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D85948-ADD7-1998-3C8E-3F44569DD89A}"/>
              </a:ext>
            </a:extLst>
          </p:cNvPr>
          <p:cNvSpPr txBox="1"/>
          <p:nvPr/>
        </p:nvSpPr>
        <p:spPr>
          <a:xfrm>
            <a:off x="1406379" y="3910401"/>
            <a:ext cx="103254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parser</a:t>
            </a:r>
            <a:r>
              <a:rPr lang="zh-CN" altLang="zh-CN" sz="5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.get_structure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1776660-10CB-7BC5-46E9-4C02584F5B9B}"/>
              </a:ext>
            </a:extLst>
          </p:cNvPr>
          <p:cNvSpPr txBox="1"/>
          <p:nvPr/>
        </p:nvSpPr>
        <p:spPr>
          <a:xfrm>
            <a:off x="2976867" y="3920248"/>
            <a:ext cx="47817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structure[0]</a:t>
            </a:r>
            <a:endParaRPr lang="zh-CN" alt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0CC93FA-9D1B-3BC1-4FFE-674374D266B0}"/>
              </a:ext>
            </a:extLst>
          </p:cNvPr>
          <p:cNvCxnSpPr/>
          <p:nvPr/>
        </p:nvCxnSpPr>
        <p:spPr>
          <a:xfrm>
            <a:off x="6370387" y="4120393"/>
            <a:ext cx="4781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5C9D46D-D04D-A807-6D54-2EA2C3F1F03F}"/>
              </a:ext>
            </a:extLst>
          </p:cNvPr>
          <p:cNvSpPr txBox="1"/>
          <p:nvPr/>
        </p:nvSpPr>
        <p:spPr>
          <a:xfrm>
            <a:off x="6848559" y="3915876"/>
            <a:ext cx="692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8151390-25C2-C01C-E018-1DCF5EFDF3E5}"/>
              </a:ext>
            </a:extLst>
          </p:cNvPr>
          <p:cNvSpPr txBox="1"/>
          <p:nvPr/>
        </p:nvSpPr>
        <p:spPr>
          <a:xfrm>
            <a:off x="7443965" y="4250868"/>
            <a:ext cx="6788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seq_id </a:t>
            </a:r>
            <a:r>
              <a:rPr lang="zh-CN" altLang="zh-CN" sz="1200" dirty="0">
                <a:solidFill>
                  <a:srgbClr val="08080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f"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global_res_idx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atom_name</a:t>
            </a:r>
            <a:r>
              <a:rPr lang="zh-CN" altLang="zh-CN" sz="1200" dirty="0">
                <a:solidFill>
                  <a:srgbClr val="0037A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6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altLang="zh-CN" sz="1200" dirty="0" err="1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原子类别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残基名称</a:t>
            </a:r>
            <a:r>
              <a:rPr lang="en-US" altLang="zh-CN" sz="1200" dirty="0">
                <a:solidFill>
                  <a:srgbClr val="067D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200" dirty="0">
                <a:solidFill>
                  <a:srgbClr val="067D1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1200" dirty="0">
              <a:solidFill>
                <a:srgbClr val="08080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7E4A06-E88B-AE20-1460-F420AF8D2600}"/>
              </a:ext>
            </a:extLst>
          </p:cNvPr>
          <p:cNvSpPr txBox="1"/>
          <p:nvPr/>
        </p:nvSpPr>
        <p:spPr>
          <a:xfrm>
            <a:off x="7443965" y="3703511"/>
            <a:ext cx="7116232" cy="243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98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Needleman-Wunsch</a:t>
            </a:r>
          </a:p>
        </p:txBody>
      </p:sp>
      <p:sp>
        <p:nvSpPr>
          <p:cNvPr id="11" name="加号 10">
            <a:extLst>
              <a:ext uri="{FF2B5EF4-FFF2-40B4-BE49-F238E27FC236}">
                <a16:creationId xmlns:a16="http://schemas.microsoft.com/office/drawing/2014/main" id="{36B79EAD-27CB-4E0A-8A2B-CACF267C4602}"/>
              </a:ext>
            </a:extLst>
          </p:cNvPr>
          <p:cNvSpPr/>
          <p:nvPr/>
        </p:nvSpPr>
        <p:spPr>
          <a:xfrm>
            <a:off x="7835663" y="3953677"/>
            <a:ext cx="359833" cy="338554"/>
          </a:xfrm>
          <a:prstGeom prst="mathPlu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46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80330-4EC9-3BEE-F5B3-B6481971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88562-3D8D-7DDA-25D7-FFC773C8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696895-32A2-39EE-3128-7A8FD0193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残基对齐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3E8A47-FDED-0C6F-A22E-1B01269E5BDE}"/>
              </a:ext>
            </a:extLst>
          </p:cNvPr>
          <p:cNvSpPr txBox="1"/>
          <p:nvPr/>
        </p:nvSpPr>
        <p:spPr>
          <a:xfrm>
            <a:off x="873831" y="2674811"/>
            <a:ext cx="71162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1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Needleman-Wunsch</a:t>
            </a:r>
          </a:p>
        </p:txBody>
      </p:sp>
    </p:spTree>
    <p:extLst>
      <p:ext uri="{BB962C8B-B14F-4D97-AF65-F5344CB8AC3E}">
        <p14:creationId xmlns:p14="http://schemas.microsoft.com/office/powerpoint/2010/main" val="386059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245E-CFBC-61DB-B2B7-DD725CE1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D650F-FB45-B0C3-D811-21B68E76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61FFC2-B2DE-6754-9D99-4D4A419AD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数据集划分</a:t>
            </a:r>
          </a:p>
        </p:txBody>
      </p:sp>
      <p:pic>
        <p:nvPicPr>
          <p:cNvPr id="4" name="内容占位符 4" descr="数据库 纯色填充">
            <a:extLst>
              <a:ext uri="{FF2B5EF4-FFF2-40B4-BE49-F238E27FC236}">
                <a16:creationId xmlns:a16="http://schemas.microsoft.com/office/drawing/2014/main" id="{B197A620-6CC4-DB51-F89B-F82EC7178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216881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19A152-8C74-D5D6-5C70-B62BB0F27619}"/>
              </a:ext>
            </a:extLst>
          </p:cNvPr>
          <p:cNvSpPr txBox="1"/>
          <p:nvPr/>
        </p:nvSpPr>
        <p:spPr>
          <a:xfrm>
            <a:off x="1003882" y="3072558"/>
            <a:ext cx="58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4374E86-DFDD-07E7-23AB-AD2267029201}"/>
              </a:ext>
            </a:extLst>
          </p:cNvPr>
          <p:cNvCxnSpPr>
            <a:cxnSpLocks/>
          </p:cNvCxnSpPr>
          <p:nvPr/>
        </p:nvCxnSpPr>
        <p:spPr>
          <a:xfrm>
            <a:off x="1752600" y="2736692"/>
            <a:ext cx="1537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71F0D62-4051-B30A-3351-F4BFF45F71FB}"/>
              </a:ext>
            </a:extLst>
          </p:cNvPr>
          <p:cNvSpPr txBox="1"/>
          <p:nvPr/>
        </p:nvSpPr>
        <p:spPr>
          <a:xfrm>
            <a:off x="1986443" y="2483801"/>
            <a:ext cx="2102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拼接</a:t>
            </a:r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链</a:t>
            </a:r>
          </a:p>
        </p:txBody>
      </p:sp>
      <p:pic>
        <p:nvPicPr>
          <p:cNvPr id="8" name="图形 7" descr="数据库 轮廓">
            <a:extLst>
              <a:ext uri="{FF2B5EF4-FFF2-40B4-BE49-F238E27FC236}">
                <a16:creationId xmlns:a16="http://schemas.microsoft.com/office/drawing/2014/main" id="{EFFC6565-1965-5CA2-F98B-146771A99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0673" y="2216881"/>
            <a:ext cx="914400" cy="91440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84B8D57-BBDF-90B0-96C3-1347925865B6}"/>
              </a:ext>
            </a:extLst>
          </p:cNvPr>
          <p:cNvCxnSpPr/>
          <p:nvPr/>
        </p:nvCxnSpPr>
        <p:spPr>
          <a:xfrm>
            <a:off x="4188203" y="2736692"/>
            <a:ext cx="1405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20C6AE5-8DDB-04C7-1EDF-97BF34FE9D3D}"/>
              </a:ext>
            </a:extLst>
          </p:cNvPr>
          <p:cNvSpPr txBox="1"/>
          <p:nvPr/>
        </p:nvSpPr>
        <p:spPr>
          <a:xfrm>
            <a:off x="4318232" y="2475082"/>
            <a:ext cx="15309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cd-hit-est</a:t>
            </a:r>
            <a:r>
              <a:rPr lang="zh-CN" altLang="zh-CN" sz="1100" dirty="0"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</a:p>
          <a:p>
            <a:endParaRPr lang="zh-CN" altLang="en-US" dirty="0"/>
          </a:p>
        </p:txBody>
      </p:sp>
      <p:pic>
        <p:nvPicPr>
          <p:cNvPr id="11" name="图形 10" descr="纸张 轮廓">
            <a:extLst>
              <a:ext uri="{FF2B5EF4-FFF2-40B4-BE49-F238E27FC236}">
                <a16:creationId xmlns:a16="http://schemas.microsoft.com/office/drawing/2014/main" id="{002F6477-FE67-1193-C6A0-0E544BD0A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5790" y="2114680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996731A-EF4D-55EE-8B89-79786E1A9740}"/>
              </a:ext>
            </a:extLst>
          </p:cNvPr>
          <p:cNvSpPr txBox="1"/>
          <p:nvPr/>
        </p:nvSpPr>
        <p:spPr>
          <a:xfrm>
            <a:off x="5901654" y="2946615"/>
            <a:ext cx="507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簇</a:t>
            </a:r>
          </a:p>
        </p:txBody>
      </p:sp>
    </p:spTree>
    <p:extLst>
      <p:ext uri="{BB962C8B-B14F-4D97-AF65-F5344CB8AC3E}">
        <p14:creationId xmlns:p14="http://schemas.microsoft.com/office/powerpoint/2010/main" val="412299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D0CD8-7039-A054-8E5F-99B28535E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4C600-7402-7463-3B9E-D1BA9871D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run:logger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wandb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datamodule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878B90-60E8-9F7A-44B7-90037C226347}"/>
              </a:ext>
            </a:extLst>
          </p:cNvPr>
          <p:cNvSpPr txBox="1"/>
          <p:nvPr/>
        </p:nvSpPr>
        <p:spPr>
          <a:xfrm>
            <a:off x="1313411" y="2909455"/>
            <a:ext cx="2421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现在模型输入的数据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1298FD-5AB4-A856-347F-32CA5C52E5FB}"/>
              </a:ext>
            </a:extLst>
          </p:cNvPr>
          <p:cNvSpPr txBox="1"/>
          <p:nvPr/>
        </p:nvSpPr>
        <p:spPr>
          <a:xfrm>
            <a:off x="1108364" y="3358342"/>
            <a:ext cx="575240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 (N,3) 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真实坐标</a:t>
            </a:r>
            <a:r>
              <a:rPr lang="zh-CN" altLang="en-US" sz="1200" dirty="0"/>
              <a:t> 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pos_pred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(N,3)</a:t>
            </a:r>
            <a:r>
              <a:rPr lang="en-US" altLang="zh-CN" sz="1200" dirty="0"/>
              <a:t> 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预测坐标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atomic_numbers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(N,)</a:t>
            </a:r>
            <a:r>
              <a:rPr lang="en-US" altLang="zh-CN" sz="1200" dirty="0"/>
              <a:t> </a:t>
            </a:r>
          </a:p>
          <a:p>
            <a:endParaRPr lang="en-US" altLang="zh-CN" sz="1200" dirty="0"/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edge_index</a:t>
            </a:r>
            <a:r>
              <a:rPr lang="en-US" altLang="zh-CN" sz="1200" dirty="0"/>
              <a:t>,  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拓扑边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按照距离连接的边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en-US" altLang="zh-CN" sz="1200" dirty="0"/>
              <a:t> 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残基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pdb_id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/>
              <a:t>            </a:t>
            </a:r>
          </a:p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alignment_ratio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BF9CDA-0CDE-487F-6B03-6C9EE0927942}"/>
              </a:ext>
            </a:extLst>
          </p:cNvPr>
          <p:cNvSpPr txBox="1"/>
          <p:nvPr/>
        </p:nvSpPr>
        <p:spPr>
          <a:xfrm>
            <a:off x="6186881" y="3686961"/>
            <a:ext cx="2890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RNAFM &amp; RESM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4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00A83-3B16-2B6A-5EB9-DFEE0957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ADFDC-7CD1-98F5-905B-E588EF8A1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使用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RNAFM RESM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丰富输入特征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使用公开的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RNA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结构预测的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Benchmark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653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1556A-5333-2729-7F4B-85BA1CAB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内容占位符 4" descr="数据库 纯色填充">
            <a:extLst>
              <a:ext uri="{FF2B5EF4-FFF2-40B4-BE49-F238E27FC236}">
                <a16:creationId xmlns:a16="http://schemas.microsoft.com/office/drawing/2014/main" id="{F5D509D9-003B-12E8-5FF4-5B4FCF4E8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69" y="1690688"/>
            <a:ext cx="914400" cy="9144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9DCCA88-1C07-A89B-EBEF-DB382E3A16EE}"/>
              </a:ext>
            </a:extLst>
          </p:cNvPr>
          <p:cNvSpPr txBox="1"/>
          <p:nvPr/>
        </p:nvSpPr>
        <p:spPr>
          <a:xfrm>
            <a:off x="951451" y="2546365"/>
            <a:ext cx="58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6EC757B-2FB9-69AE-73CF-C8023117F2F6}"/>
              </a:ext>
            </a:extLst>
          </p:cNvPr>
          <p:cNvCxnSpPr>
            <a:cxnSpLocks/>
          </p:cNvCxnSpPr>
          <p:nvPr/>
        </p:nvCxnSpPr>
        <p:spPr>
          <a:xfrm>
            <a:off x="1700169" y="2210499"/>
            <a:ext cx="1537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99FA5A3-EC8E-4D4B-D6CE-356ABBEDB3D4}"/>
              </a:ext>
            </a:extLst>
          </p:cNvPr>
          <p:cNvSpPr txBox="1"/>
          <p:nvPr/>
        </p:nvSpPr>
        <p:spPr>
          <a:xfrm>
            <a:off x="1618375" y="1948889"/>
            <a:ext cx="2102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每个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取最长的</a:t>
            </a:r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链</a:t>
            </a:r>
          </a:p>
        </p:txBody>
      </p:sp>
      <p:pic>
        <p:nvPicPr>
          <p:cNvPr id="13" name="图形 12" descr="数据库 轮廓">
            <a:extLst>
              <a:ext uri="{FF2B5EF4-FFF2-40B4-BE49-F238E27FC236}">
                <a16:creationId xmlns:a16="http://schemas.microsoft.com/office/drawing/2014/main" id="{DE3D33B8-D6CA-5A88-AC9E-C0262358A0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8242" y="1690688"/>
            <a:ext cx="914400" cy="91440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F53677D-30A3-7402-5C41-16B282BF6CE0}"/>
              </a:ext>
            </a:extLst>
          </p:cNvPr>
          <p:cNvCxnSpPr/>
          <p:nvPr/>
        </p:nvCxnSpPr>
        <p:spPr>
          <a:xfrm>
            <a:off x="4135772" y="2210499"/>
            <a:ext cx="1405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5CE6331-FC3B-A1A8-8F47-96B5DF4139EE}"/>
              </a:ext>
            </a:extLst>
          </p:cNvPr>
          <p:cNvSpPr txBox="1"/>
          <p:nvPr/>
        </p:nvSpPr>
        <p:spPr>
          <a:xfrm>
            <a:off x="4265801" y="1948889"/>
            <a:ext cx="15309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cd-hit-est</a:t>
            </a:r>
            <a:r>
              <a:rPr lang="zh-CN" altLang="zh-CN" sz="1100" dirty="0"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</a:p>
          <a:p>
            <a:endParaRPr lang="zh-CN" altLang="en-US" dirty="0"/>
          </a:p>
        </p:txBody>
      </p:sp>
      <p:pic>
        <p:nvPicPr>
          <p:cNvPr id="20" name="图形 19" descr="纸张 轮廓">
            <a:extLst>
              <a:ext uri="{FF2B5EF4-FFF2-40B4-BE49-F238E27FC236}">
                <a16:creationId xmlns:a16="http://schemas.microsoft.com/office/drawing/2014/main" id="{EB145840-B4D8-9BEF-8103-2FF9C1337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3359" y="1588487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4FB0FEA-3376-FF8A-5990-8A34BEB6532C}"/>
              </a:ext>
            </a:extLst>
          </p:cNvPr>
          <p:cNvSpPr txBox="1"/>
          <p:nvPr/>
        </p:nvSpPr>
        <p:spPr>
          <a:xfrm>
            <a:off x="5849223" y="2420422"/>
            <a:ext cx="507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簇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595D402-032A-35B4-BA4D-716E62E10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47" y="3460765"/>
            <a:ext cx="7874405" cy="11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3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6EE5-EC1F-34E9-1CD1-9F5E2D157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CF953-5747-A0DE-627C-08090537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7CCF9-321B-7473-4E9A-93AD10A0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数据集划分</a:t>
            </a:r>
          </a:p>
        </p:txBody>
      </p:sp>
      <p:pic>
        <p:nvPicPr>
          <p:cNvPr id="4" name="内容占位符 4" descr="数据库 纯色填充">
            <a:extLst>
              <a:ext uri="{FF2B5EF4-FFF2-40B4-BE49-F238E27FC236}">
                <a16:creationId xmlns:a16="http://schemas.microsoft.com/office/drawing/2014/main" id="{E04F3193-2E60-0FDC-7D4F-048C53C9D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216881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4898336-1BEF-973E-2A60-2D9D99EEF461}"/>
              </a:ext>
            </a:extLst>
          </p:cNvPr>
          <p:cNvSpPr txBox="1"/>
          <p:nvPr/>
        </p:nvSpPr>
        <p:spPr>
          <a:xfrm>
            <a:off x="1003882" y="3072558"/>
            <a:ext cx="58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8BA6058-073C-9DAD-04EB-D19C89A3B3D3}"/>
              </a:ext>
            </a:extLst>
          </p:cNvPr>
          <p:cNvCxnSpPr>
            <a:cxnSpLocks/>
          </p:cNvCxnSpPr>
          <p:nvPr/>
        </p:nvCxnSpPr>
        <p:spPr>
          <a:xfrm>
            <a:off x="1752600" y="2736692"/>
            <a:ext cx="1537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E81C9ED-74E5-A50E-06E6-F337EFD16176}"/>
              </a:ext>
            </a:extLst>
          </p:cNvPr>
          <p:cNvSpPr txBox="1"/>
          <p:nvPr/>
        </p:nvSpPr>
        <p:spPr>
          <a:xfrm>
            <a:off x="1986443" y="2483801"/>
            <a:ext cx="21021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链</a:t>
            </a:r>
          </a:p>
        </p:txBody>
      </p:sp>
      <p:pic>
        <p:nvPicPr>
          <p:cNvPr id="8" name="图形 7" descr="数据库 轮廓">
            <a:extLst>
              <a:ext uri="{FF2B5EF4-FFF2-40B4-BE49-F238E27FC236}">
                <a16:creationId xmlns:a16="http://schemas.microsoft.com/office/drawing/2014/main" id="{D9FAC51B-D829-ACD6-375A-C26A03A3F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0673" y="2216881"/>
            <a:ext cx="914400" cy="91440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031FBA3-DC87-D0BC-39E4-76B101B5E7A9}"/>
              </a:ext>
            </a:extLst>
          </p:cNvPr>
          <p:cNvCxnSpPr/>
          <p:nvPr/>
        </p:nvCxnSpPr>
        <p:spPr>
          <a:xfrm>
            <a:off x="4188203" y="2736692"/>
            <a:ext cx="1405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36A543E-D0B8-7DE9-C1F9-A4A990A7D711}"/>
              </a:ext>
            </a:extLst>
          </p:cNvPr>
          <p:cNvSpPr txBox="1"/>
          <p:nvPr/>
        </p:nvSpPr>
        <p:spPr>
          <a:xfrm>
            <a:off x="4096624" y="2505860"/>
            <a:ext cx="18434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9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cd-hit-est</a:t>
            </a:r>
            <a:r>
              <a:rPr lang="zh-CN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聚类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建立连通分量</a:t>
            </a:r>
            <a:endParaRPr lang="zh-CN" altLang="zh-CN" sz="9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形 10" descr="纸张 轮廓">
            <a:extLst>
              <a:ext uri="{FF2B5EF4-FFF2-40B4-BE49-F238E27FC236}">
                <a16:creationId xmlns:a16="http://schemas.microsoft.com/office/drawing/2014/main" id="{BD014BB1-AFE2-43AA-C1DB-B00726ED5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5790" y="2114680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19F52B7-228D-602F-2C39-E7FCF279168A}"/>
              </a:ext>
            </a:extLst>
          </p:cNvPr>
          <p:cNvSpPr txBox="1"/>
          <p:nvPr/>
        </p:nvSpPr>
        <p:spPr>
          <a:xfrm>
            <a:off x="5901654" y="2946615"/>
            <a:ext cx="507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簇</a:t>
            </a:r>
          </a:p>
        </p:txBody>
      </p:sp>
    </p:spTree>
    <p:extLst>
      <p:ext uri="{BB962C8B-B14F-4D97-AF65-F5344CB8AC3E}">
        <p14:creationId xmlns:p14="http://schemas.microsoft.com/office/powerpoint/2010/main" val="3941828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824</Words>
  <Application>Microsoft Office PowerPoint</Application>
  <PresentationFormat>宽屏</PresentationFormat>
  <Paragraphs>102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Data</vt:lpstr>
      <vt:lpstr>Data</vt:lpstr>
      <vt:lpstr>Data</vt:lpstr>
      <vt:lpstr>Data</vt:lpstr>
      <vt:lpstr>Model</vt:lpstr>
      <vt:lpstr>ToDo</vt:lpstr>
      <vt:lpstr>Data</vt:lpstr>
      <vt:lpstr>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51</cp:revision>
  <dcterms:created xsi:type="dcterms:W3CDTF">2026-07-22T11:46:34Z</dcterms:created>
  <dcterms:modified xsi:type="dcterms:W3CDTF">2026-07-23T12:51:17Z</dcterms:modified>
</cp:coreProperties>
</file>