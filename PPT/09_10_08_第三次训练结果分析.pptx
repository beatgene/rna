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8" r:id="rId11"/>
    <p:sldId id="269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86" autoAdjust="0"/>
  </p:normalViewPr>
  <p:slideViewPr>
    <p:cSldViewPr snapToGrid="0" showGuides="1">
      <p:cViewPr varScale="1">
        <p:scale>
          <a:sx n="140" d="100"/>
          <a:sy n="140" d="100"/>
        </p:scale>
        <p:origin x="872" y="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D15B5-C15D-4F6D-A633-7024851875A3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2832B-6945-4655-B83F-FAB23F5834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17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观察到小幅平均改善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2832B-6945-4655-B83F-FAB23F58346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96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实际改善幅度较小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2832B-6945-4655-B83F-FAB23F58346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100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验证集分布整体向较低 RMSD 箱移动；测试集的移动较弱。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2832B-6945-4655-B83F-FAB23F58346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143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2832B-6945-4655-B83F-FAB23F58346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63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 5–10 Å 的测试链在 epoch 49 后平均改善 0.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310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Å；输入 &lt;2 Å 的链反而回退；输入 ≥20 Å 的高误差链尽管胜率较高，绝对改善通常很小。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2832B-6945-4655-B83F-FAB23F58346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940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3956F-C5C1-E430-3E93-5706E8D8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44A875-DE4D-01F9-27E2-3EF07E126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10D933-2956-3EA0-7697-705336F5B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在测试集与 </a:t>
            </a:r>
            <a:r>
              <a:rPr lang="en-US" altLang="zh-CN" dirty="0" err="1"/>
              <a:t>FoldBench</a:t>
            </a:r>
            <a:r>
              <a:rPr lang="en-US" altLang="zh-CN" dirty="0"/>
              <a:t> RNA </a:t>
            </a:r>
            <a:r>
              <a:rPr lang="zh-CN" altLang="en-US" dirty="0"/>
              <a:t>单体任务重合的 </a:t>
            </a:r>
            <a:r>
              <a:rPr lang="en-US" altLang="zh-CN" dirty="0"/>
              <a:t>9 </a:t>
            </a:r>
            <a:r>
              <a:rPr lang="zh-CN" altLang="en-US" dirty="0"/>
              <a:t>个目标上，</a:t>
            </a:r>
            <a:r>
              <a:rPr lang="en-US" altLang="zh-CN" dirty="0"/>
              <a:t>epoch 49 </a:t>
            </a:r>
            <a:r>
              <a:rPr lang="zh-CN" altLang="en-US" dirty="0"/>
              <a:t>精修后的 </a:t>
            </a:r>
            <a:r>
              <a:rPr lang="en-US" altLang="zh-CN" dirty="0" err="1"/>
              <a:t>lDDT</a:t>
            </a:r>
            <a:r>
              <a:rPr lang="en-US" altLang="zh-CN" dirty="0"/>
              <a:t> 9 </a:t>
            </a:r>
            <a:r>
              <a:rPr lang="zh-CN" altLang="en-US" dirty="0"/>
              <a:t>个目标全部下降。整体 </a:t>
            </a:r>
            <a:r>
              <a:rPr lang="en-US" altLang="zh-CN" dirty="0"/>
              <a:t>RMSD </a:t>
            </a:r>
            <a:r>
              <a:rPr lang="zh-CN" altLang="en-US" dirty="0"/>
              <a:t>基本不变，但键长、键角及碰撞异常大量增加，表明当前模型的局部结构几何是主要问题。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CBE91-7A46-7FE1-1371-D7CEA09016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2832B-6945-4655-B83F-FAB23F58346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115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A39B4-2EAF-8149-4478-9755B85BB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B7C31F-7D45-099F-9D24-9DDDA0509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D498A4-F932-B4B0-B918-332A41DE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EF7BA-237C-254F-5C33-923B131B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35069B-5880-6EA6-2B44-5FF75B12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72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34203-BA72-6220-EE48-C39059AB5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668E03-3062-021C-5048-9901F89FA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BD114-B0ED-DFEE-E610-479E968E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57D3E-FF13-27D0-1D76-0BFCA5AF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739E25-B090-6BCE-BA38-E679963A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30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F91E6-F71E-360D-481F-761533C3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E029EA-809D-1A6A-238D-A5A4E8AE4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7627D-2AD9-C486-AB1F-C7F01DB82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1B59F8-DCD0-6265-951B-01D33506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CBA2B-6001-4594-4120-5FB38EFB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46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EA48D-D5B2-7A14-9F3E-87BCBDAD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FA8B2-3D96-7F65-C9AC-A71D61F49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8E6BA8-7167-5DEB-3F43-DD317DE15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89F1E9-36CE-BACC-A8B1-FFAD1FE7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46A5ED-8DE8-E5E6-D782-C4F3DD6C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1F3D68-113B-C048-936D-074AF2AD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10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02480-37E1-BF9F-7495-A9264346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CFB050-E486-B43C-B5B7-CF100D674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3C9328-F480-C822-E6BE-44FD9D73A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8BF4D0-5B52-E30B-E564-1958636F7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3037B3-7881-FB0C-9BE5-85FA086D3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FFC722-A63B-EA83-A138-4AD4686B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F514B8-6E80-1651-6568-5FE0FA42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3CDF51-20C0-E891-6304-9B8D6D55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220363-6A96-E370-9566-E3E4457F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46C3BE-F54E-6244-BAD6-962A601E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11B07E-AB7F-1EBF-8528-DC1356B2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BA1D15-5249-496E-95C6-764AEE61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02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B0370C-407A-E83C-006B-77F702CA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43EC01-75D9-415B-AE5C-7EEA8333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C2CAFF-3B29-8C15-8805-98EDAF36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68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F2645-194F-9E73-31BE-34FE3445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0C38D-151D-AFDC-4EC7-1820A8430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4D8EF1-567E-8288-23F2-9CB62853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99072-15AA-CA7F-E08A-704C0E50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98C73A-0056-0C69-57CE-8739D642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43D105-3294-0E12-DD58-534A4F0D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11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6FE43-0724-0006-AFE6-7316B583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CF8B4C-9042-5396-60C3-B25053F2FCD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4D28DC-3AA2-E13D-84C1-6D9505481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60BB7B-B9A9-33B5-82B0-8EF25A18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1D364B-BBC5-78BD-FA56-247C9519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BD80D2-966D-8F9E-124F-9A1F36DB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397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532A3-E267-C7C9-27A6-B333E320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5C3C40-7B40-C5F4-D249-FC54BF10C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6147BE-F32B-7645-0DCA-D6A66DCC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7B4E7A-CCAC-1822-7011-C9B433A2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332CDC-42F4-2AE3-F9E3-C05E1A29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51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F27ACC-ADC7-E88A-6FFC-83796DA95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63D0E2-1D3A-B0C0-D896-F0874DB22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EF883-3766-B6E0-30D9-D71C4CA9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388A74-A75C-7D89-5917-BDB21188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3AAE99-C086-AD78-BDC1-40131F5B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3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8C7DDB-C1E7-0AF3-62D3-8C9302FB5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9C236B-57B0-E35C-05ED-4DE97819B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7192C-0E47-B4B1-508A-BD352F9E6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6013B-D0AC-484E-B29B-C5528B4CCC5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26978-988F-1CB1-5CD2-78A7FA087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CD61C-6096-DEA2-EFE7-B93F23171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89551-1ABE-4C8F-A706-2E911D665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0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18EEB-0F0B-1101-7F10-64A7BDD0ED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10.8</a:t>
            </a: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第三次训练结果分析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88E77E-7DD5-6FFB-41E3-828D0F348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702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3EEAC-B429-AC82-C6F3-EBF9DC4E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评估设置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77031-60BD-5F86-C512-F09F185DE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checkpoint：</a:t>
            </a:r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epoch=49-step=157550.ckpt</a:t>
            </a:r>
          </a:p>
          <a:p>
            <a:pPr lvl="0"/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模型：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one-step residual refinement + mobility gate</a:t>
            </a:r>
          </a:p>
          <a:p>
            <a:pPr lvl="0"/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主指标：在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observed atoms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上进行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Kabsch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对齐后的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</a:p>
          <a:p>
            <a:pPr lvl="0"/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improvement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定义：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input RMSD - refined RMSD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，正值表示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refinement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后更接近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native</a:t>
            </a:r>
          </a:p>
          <a:p>
            <a:pPr lvl="0"/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验证集：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03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PDB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/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测试集：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67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PDB 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目前权重选择的依据是验证集上所有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.pt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，并未经过</a:t>
            </a:r>
            <a:r>
              <a:rPr lang="en-US" altLang="zh-CN" sz="12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ranking_score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的筛选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746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59467-75FC-4050-5B57-DF89A966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总体结果</a:t>
            </a:r>
          </a:p>
        </p:txBody>
      </p:sp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C9259DDE-4A2A-838E-1748-9E1CE848BD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90958"/>
              </p:ext>
            </p:extLst>
          </p:nvPr>
        </p:nvGraphicFramePr>
        <p:xfrm>
          <a:off x="949705" y="2686773"/>
          <a:ext cx="1078281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669">
                  <a:extLst>
                    <a:ext uri="{9D8B030D-6E8A-4147-A177-3AD203B41FA5}">
                      <a16:colId xmlns:a16="http://schemas.microsoft.com/office/drawing/2014/main" val="2947900015"/>
                    </a:ext>
                  </a:extLst>
                </a:gridCol>
                <a:gridCol w="2182237">
                  <a:extLst>
                    <a:ext uri="{9D8B030D-6E8A-4147-A177-3AD203B41FA5}">
                      <a16:colId xmlns:a16="http://schemas.microsoft.com/office/drawing/2014/main" val="3468904482"/>
                    </a:ext>
                  </a:extLst>
                </a:gridCol>
                <a:gridCol w="2438970">
                  <a:extLst>
                    <a:ext uri="{9D8B030D-6E8A-4147-A177-3AD203B41FA5}">
                      <a16:colId xmlns:a16="http://schemas.microsoft.com/office/drawing/2014/main" val="1532831992"/>
                    </a:ext>
                  </a:extLst>
                </a:gridCol>
                <a:gridCol w="2310604">
                  <a:extLst>
                    <a:ext uri="{9D8B030D-6E8A-4147-A177-3AD203B41FA5}">
                      <a16:colId xmlns:a16="http://schemas.microsoft.com/office/drawing/2014/main" val="3475860271"/>
                    </a:ext>
                  </a:extLst>
                </a:gridCol>
                <a:gridCol w="1283669">
                  <a:extLst>
                    <a:ext uri="{9D8B030D-6E8A-4147-A177-3AD203B41FA5}">
                      <a16:colId xmlns:a16="http://schemas.microsoft.com/office/drawing/2014/main" val="695775371"/>
                    </a:ext>
                  </a:extLst>
                </a:gridCol>
                <a:gridCol w="1283669">
                  <a:extLst>
                    <a:ext uri="{9D8B030D-6E8A-4147-A177-3AD203B41FA5}">
                      <a16:colId xmlns:a16="http://schemas.microsoft.com/office/drawing/2014/main" val="4179539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数据集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Input_rmsd_mean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refined_rmsd_mean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 err="1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improvement_mean</a:t>
                      </a:r>
                      <a:endParaRPr lang="zh-CN" altLang="en-US" sz="16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中位改善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 err="1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win_rate</a:t>
                      </a:r>
                      <a:endParaRPr lang="zh-CN" altLang="en-US" sz="16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3001272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(103)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9.3504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8.9207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0.4297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0.0537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66.99%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845212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test(67)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10.4270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10.3510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0.0760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0.0033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59.70%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4215432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83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FE73E-ECED-2F5F-D179-D665D2DD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改善幅度</a:t>
            </a:r>
          </a:p>
        </p:txBody>
      </p:sp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7A678603-22F6-6BB0-D690-2D27FF4022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3621095"/>
              </p:ext>
            </p:extLst>
          </p:nvPr>
        </p:nvGraphicFramePr>
        <p:xfrm>
          <a:off x="881760" y="2720340"/>
          <a:ext cx="775632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356">
                  <a:extLst>
                    <a:ext uri="{9D8B030D-6E8A-4147-A177-3AD203B41FA5}">
                      <a16:colId xmlns:a16="http://schemas.microsoft.com/office/drawing/2014/main" val="2947900015"/>
                    </a:ext>
                  </a:extLst>
                </a:gridCol>
                <a:gridCol w="1579992">
                  <a:extLst>
                    <a:ext uri="{9D8B030D-6E8A-4147-A177-3AD203B41FA5}">
                      <a16:colId xmlns:a16="http://schemas.microsoft.com/office/drawing/2014/main" val="3468904482"/>
                    </a:ext>
                  </a:extLst>
                </a:gridCol>
                <a:gridCol w="1579992">
                  <a:extLst>
                    <a:ext uri="{9D8B030D-6E8A-4147-A177-3AD203B41FA5}">
                      <a16:colId xmlns:a16="http://schemas.microsoft.com/office/drawing/2014/main" val="1532831992"/>
                    </a:ext>
                  </a:extLst>
                </a:gridCol>
                <a:gridCol w="1579992">
                  <a:extLst>
                    <a:ext uri="{9D8B030D-6E8A-4147-A177-3AD203B41FA5}">
                      <a16:colId xmlns:a16="http://schemas.microsoft.com/office/drawing/2014/main" val="3475860271"/>
                    </a:ext>
                  </a:extLst>
                </a:gridCol>
                <a:gridCol w="1579993">
                  <a:extLst>
                    <a:ext uri="{9D8B030D-6E8A-4147-A177-3AD203B41FA5}">
                      <a16:colId xmlns:a16="http://schemas.microsoft.com/office/drawing/2014/main" val="695775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数据集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改善</a:t>
                      </a:r>
                      <a:r>
                        <a:rPr lang="en-US" altLang="zh-CN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&gt;0.1Å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改善</a:t>
                      </a:r>
                      <a:r>
                        <a:rPr lang="en-US" altLang="zh-CN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&gt;0.5Å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变差</a:t>
                      </a:r>
                      <a:r>
                        <a:rPr lang="en-US" altLang="zh-CN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&gt;0.1Å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变差</a:t>
                      </a:r>
                      <a:r>
                        <a:rPr lang="en-US" altLang="zh-CN" sz="16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&gt;0.5Å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3001272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(103)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45/103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23/103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7/103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3/103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845212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test(67)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20/67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5/67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12/67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1/67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4215432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60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EFC55-EE07-6F55-0A75-98D9374E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输入与输出的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分布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E9249E0D-7B10-AC7B-F665-921CC4D7A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4016"/>
            <a:ext cx="10515600" cy="385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749C2-25F3-4D2A-3F39-734ED68E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按照链长分层，精修前后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A1408E-DF99-5819-A05B-3985B6FD5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36" y="1578229"/>
            <a:ext cx="10877728" cy="430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72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07BB0-B9E6-3008-50F3-69A924BDF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按输入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分层，哪些起点得到修正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AF3E02-DF24-65E2-A78A-8FEC482D2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421179" cy="461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5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1D2CF-7ABD-B56B-7CF9-040B43B8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r>
              <a:rPr lang="zh-CN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RMSD&lt;2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Å</a:t>
            </a: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：单独检查高质量输入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71243F1-C4B9-052D-2134-ECB6E2F99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286701"/>
              </p:ext>
            </p:extLst>
          </p:nvPr>
        </p:nvGraphicFramePr>
        <p:xfrm>
          <a:off x="837063" y="1488490"/>
          <a:ext cx="67744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804">
                  <a:extLst>
                    <a:ext uri="{9D8B030D-6E8A-4147-A177-3AD203B41FA5}">
                      <a16:colId xmlns:a16="http://schemas.microsoft.com/office/drawing/2014/main" val="25440822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7475073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9170475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241944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64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数据集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子集数量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/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输入平均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(Å)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epoch 49 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后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(Å)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变差比例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503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验证集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12/103,11.7%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1.1996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0.9632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25.0%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028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测试集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3/67,4.5%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1.6455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1.7798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66.7%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28775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F206728-17DC-9A85-7113-43D775001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810837"/>
              </p:ext>
            </p:extLst>
          </p:nvPr>
        </p:nvGraphicFramePr>
        <p:xfrm>
          <a:off x="838200" y="4427839"/>
          <a:ext cx="4064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5440822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260624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24194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PDB</a:t>
                      </a:r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输入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(Å)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epoch 49 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后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(Å)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503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23JZ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1.3739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1.5890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358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8VT5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1.7905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1.9782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287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9C6J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1.7721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1.7721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23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60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7C877-3C23-24C5-5236-9D1438A5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46391-8571-8E89-F5FB-EA6EF760C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验证集效果明显好于测试集，在测试集上只能观察到小幅平均改善，不能保证稳定的测试集平均改善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改善的比率不代表实际改善的幅度，如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epoch 49 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在测试集有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/67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条链方向上改善，但改善至少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0.1Å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的只有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/67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条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验证集分布整体向较低</a:t>
            </a:r>
            <a:r>
              <a:rPr lang="zh-CN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箱移动；测试集的移动较弱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一般来讲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在长链上效果较差；效果集中在短链与中等输入误差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 测试集上输入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RMSD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小于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2Å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的效果较差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尽管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loss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中包含了键长损失、平面损失与非键合原子冲突，大部分链的局部几何变差</a:t>
            </a:r>
          </a:p>
        </p:txBody>
      </p:sp>
    </p:spTree>
    <p:extLst>
      <p:ext uri="{BB962C8B-B14F-4D97-AF65-F5344CB8AC3E}">
        <p14:creationId xmlns:p14="http://schemas.microsoft.com/office/powerpoint/2010/main" val="395050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87F5-4F6C-60D1-090B-D8A5F4FB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74A0D-2759-3E60-9914-49A099C1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foldbench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64151FC-B768-0E18-2D9E-B15DFE311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74248"/>
              </p:ext>
            </p:extLst>
          </p:nvPr>
        </p:nvGraphicFramePr>
        <p:xfrm>
          <a:off x="241940" y="1765945"/>
          <a:ext cx="11317716" cy="396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806">
                  <a:extLst>
                    <a:ext uri="{9D8B030D-6E8A-4147-A177-3AD203B41FA5}">
                      <a16:colId xmlns:a16="http://schemas.microsoft.com/office/drawing/2014/main" val="2753651112"/>
                    </a:ext>
                  </a:extLst>
                </a:gridCol>
                <a:gridCol w="912719">
                  <a:extLst>
                    <a:ext uri="{9D8B030D-6E8A-4147-A177-3AD203B41FA5}">
                      <a16:colId xmlns:a16="http://schemas.microsoft.com/office/drawing/2014/main" val="2338306424"/>
                    </a:ext>
                  </a:extLst>
                </a:gridCol>
                <a:gridCol w="1916710">
                  <a:extLst>
                    <a:ext uri="{9D8B030D-6E8A-4147-A177-3AD203B41FA5}">
                      <a16:colId xmlns:a16="http://schemas.microsoft.com/office/drawing/2014/main" val="703688401"/>
                    </a:ext>
                  </a:extLst>
                </a:gridCol>
                <a:gridCol w="2281797">
                  <a:extLst>
                    <a:ext uri="{9D8B030D-6E8A-4147-A177-3AD203B41FA5}">
                      <a16:colId xmlns:a16="http://schemas.microsoft.com/office/drawing/2014/main" val="2340317978"/>
                    </a:ext>
                  </a:extLst>
                </a:gridCol>
                <a:gridCol w="2007982">
                  <a:extLst>
                    <a:ext uri="{9D8B030D-6E8A-4147-A177-3AD203B41FA5}">
                      <a16:colId xmlns:a16="http://schemas.microsoft.com/office/drawing/2014/main" val="2821957730"/>
                    </a:ext>
                  </a:extLst>
                </a:gridCol>
                <a:gridCol w="1003991">
                  <a:extLst>
                    <a:ext uri="{9D8B030D-6E8A-4147-A177-3AD203B41FA5}">
                      <a16:colId xmlns:a16="http://schemas.microsoft.com/office/drawing/2014/main" val="1160529677"/>
                    </a:ext>
                  </a:extLst>
                </a:gridCol>
                <a:gridCol w="1095263">
                  <a:extLst>
                    <a:ext uri="{9D8B030D-6E8A-4147-A177-3AD203B41FA5}">
                      <a16:colId xmlns:a16="http://schemas.microsoft.com/office/drawing/2014/main" val="843444157"/>
                    </a:ext>
                  </a:extLst>
                </a:gridCol>
                <a:gridCol w="821448">
                  <a:extLst>
                    <a:ext uri="{9D8B030D-6E8A-4147-A177-3AD203B41FA5}">
                      <a16:colId xmlns:a16="http://schemas.microsoft.com/office/drawing/2014/main" val="4164043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目标链</a:t>
                      </a: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链长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200" b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nt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本项目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RMSD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前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-&gt;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后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Å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Flodbench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RMSD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前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-&gt;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后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Å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Flodbench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200" b="1" kern="120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lDDT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前</a:t>
                      </a: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-&gt;</a:t>
                      </a: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后</a:t>
                      </a: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 err="1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bad_bonds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 err="1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bad_angles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clashes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88900" marR="88900" marT="88900" marB="88900"/>
                </a:tc>
                <a:extLst>
                  <a:ext uri="{0D108BD9-81ED-4DB2-BD59-A6C34878D82A}">
                    <a16:rowId xmlns:a16="http://schemas.microsoft.com/office/drawing/2014/main" val="1967180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7SXP</a:t>
                      </a: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22</a:t>
                      </a:r>
                      <a:endParaRPr lang="zh-CN" altLang="en-US" sz="12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4.1838 → 4.5097</a:t>
                      </a: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2.576 → 2.817</a:t>
                      </a: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0.780 → 0.000</a:t>
                      </a: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334</a:t>
                      </a:r>
                      <a:endParaRPr lang="zh-CN" altLang="zh-CN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312</a:t>
                      </a:r>
                      <a:endParaRPr lang="zh-CN" altLang="zh-CN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8900" marR="88900" marT="88900" marB="889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516</a:t>
                      </a:r>
                      <a:endParaRPr lang="zh-CN" altLang="zh-CN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8900" marR="88900" marT="88900" marB="88900"/>
                </a:tc>
                <a:extLst>
                  <a:ext uri="{0D108BD9-81ED-4DB2-BD59-A6C34878D82A}">
                    <a16:rowId xmlns:a16="http://schemas.microsoft.com/office/drawing/2014/main" val="2569289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7WIA 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9.1782 → 9.1542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9.908 → 9.878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0.714 → 0.041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255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122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61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234393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7WII 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4.4622 → 4.2132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3.853 → 3.694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0.777 → 0.013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306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215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176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188980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7ZJ4 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374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41.6628 → 41.6590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42.167 → 42.164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0.626 → 0.523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139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87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2261978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8HB8 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6.6685 → 6.6409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5.996 → 5.977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0.372 → 0.045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299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158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97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495686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8ITS 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13.0042 → 12.9918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14.016 → 14.064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0.608 → 0.002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357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139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60424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8UPT 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4.0872 → 4.1135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4.008 → 4.028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0.738 → 0.346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186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153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889852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8V1H 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2.5710 → 2.5754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2.490 → 2.516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0.872 → 0.463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238102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9G7C 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224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29.7998 → 29.8034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30.446 → 30.446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0.516 → 0.443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4042932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 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个目标平均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12.8464 → 12.8512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12.829 → 12.843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0.667 → 0.208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4240964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03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9A5B5-3009-428F-906F-E48A384F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在骨架原子上的效果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7041834-BBA3-F9C5-AE63-C1D55DD75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550798"/>
              </p:ext>
            </p:extLst>
          </p:nvPr>
        </p:nvGraphicFramePr>
        <p:xfrm>
          <a:off x="779059" y="2804160"/>
          <a:ext cx="8719783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711">
                  <a:extLst>
                    <a:ext uri="{9D8B030D-6E8A-4147-A177-3AD203B41FA5}">
                      <a16:colId xmlns:a16="http://schemas.microsoft.com/office/drawing/2014/main" val="611346959"/>
                    </a:ext>
                  </a:extLst>
                </a:gridCol>
                <a:gridCol w="957049">
                  <a:extLst>
                    <a:ext uri="{9D8B030D-6E8A-4147-A177-3AD203B41FA5}">
                      <a16:colId xmlns:a16="http://schemas.microsoft.com/office/drawing/2014/main" val="239879047"/>
                    </a:ext>
                  </a:extLst>
                </a:gridCol>
                <a:gridCol w="1169727">
                  <a:extLst>
                    <a:ext uri="{9D8B030D-6E8A-4147-A177-3AD203B41FA5}">
                      <a16:colId xmlns:a16="http://schemas.microsoft.com/office/drawing/2014/main" val="3421764224"/>
                    </a:ext>
                  </a:extLst>
                </a:gridCol>
                <a:gridCol w="1169727">
                  <a:extLst>
                    <a:ext uri="{9D8B030D-6E8A-4147-A177-3AD203B41FA5}">
                      <a16:colId xmlns:a16="http://schemas.microsoft.com/office/drawing/2014/main" val="1321231626"/>
                    </a:ext>
                  </a:extLst>
                </a:gridCol>
                <a:gridCol w="1382405">
                  <a:extLst>
                    <a:ext uri="{9D8B030D-6E8A-4147-A177-3AD203B41FA5}">
                      <a16:colId xmlns:a16="http://schemas.microsoft.com/office/drawing/2014/main" val="772489909"/>
                    </a:ext>
                  </a:extLst>
                </a:gridCol>
                <a:gridCol w="1382405">
                  <a:extLst>
                    <a:ext uri="{9D8B030D-6E8A-4147-A177-3AD203B41FA5}">
                      <a16:colId xmlns:a16="http://schemas.microsoft.com/office/drawing/2014/main" val="4169570405"/>
                    </a:ext>
                  </a:extLst>
                </a:gridCol>
                <a:gridCol w="1807759">
                  <a:extLst>
                    <a:ext uri="{9D8B030D-6E8A-4147-A177-3AD203B41FA5}">
                      <a16:colId xmlns:a16="http://schemas.microsoft.com/office/drawing/2014/main" val="34692334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0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1400" b="1" i="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数据集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PDB</a:t>
                      </a:r>
                      <a:r>
                        <a:rPr lang="zh-CN" altLang="en-US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链数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骨架前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Å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骨架后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Å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平均改善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Å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中位改善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Å</a:t>
                      </a:r>
                      <a:r>
                        <a:rPr lang="en-US" altLang="zh-CN" sz="1400" b="1" i="0" kern="1200" dirty="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1400" b="1" i="0" kern="120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改善链数 </a:t>
                      </a:r>
                      <a:r>
                        <a:rPr lang="en-US" altLang="zh-CN" sz="1400" b="1" i="0" kern="120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/ </a:t>
                      </a:r>
                      <a:r>
                        <a:rPr lang="zh-CN" altLang="en-US" sz="1400" b="1" i="0" kern="1200">
                          <a:solidFill>
                            <a:srgbClr val="080808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比例</a:t>
                      </a: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3846119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val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9.5173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9.1301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+0.3872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+0.0225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72 / 69.9%</a:t>
                      </a: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324970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10.6133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10.5571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+0.0561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+0.0024</a:t>
                      </a: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1400" b="0" i="0" kern="1200" dirty="0">
                          <a:solidFill>
                            <a:srgbClr val="080808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41 / 61.2%</a:t>
                      </a:r>
                    </a:p>
                  </a:txBody>
                  <a:tcPr marL="101600" marR="101600" marT="101600" marB="101600" anchor="ctr"/>
                </a:tc>
                <a:extLst>
                  <a:ext uri="{0D108BD9-81ED-4DB2-BD59-A6C34878D82A}">
                    <a16:rowId xmlns:a16="http://schemas.microsoft.com/office/drawing/2014/main" val="383234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72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AD630-5741-8B66-F33C-1D5A9D67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Todo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E3ED5A-DD46-8ACF-7727-6CEDBBD4E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高质量输入保护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几何约束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长链有效移动</a:t>
            </a:r>
          </a:p>
        </p:txBody>
      </p:sp>
    </p:spTree>
    <p:extLst>
      <p:ext uri="{BB962C8B-B14F-4D97-AF65-F5344CB8AC3E}">
        <p14:creationId xmlns:p14="http://schemas.microsoft.com/office/powerpoint/2010/main" val="383321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1229</Words>
  <Application>Microsoft Office PowerPoint</Application>
  <PresentationFormat>宽屏</PresentationFormat>
  <Paragraphs>208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黑体</vt:lpstr>
      <vt:lpstr>Arial</vt:lpstr>
      <vt:lpstr>Times New Roman</vt:lpstr>
      <vt:lpstr>Office 主题​​</vt:lpstr>
      <vt:lpstr>10.8第三次训练结果分析</vt:lpstr>
      <vt:lpstr>评估设置</vt:lpstr>
      <vt:lpstr>总体结果</vt:lpstr>
      <vt:lpstr>改善幅度</vt:lpstr>
      <vt:lpstr>输入与输出的RMSD分布</vt:lpstr>
      <vt:lpstr>按照链长分层，精修前后RMSD</vt:lpstr>
      <vt:lpstr>按输入RMSD分层，哪些起点得到修正</vt:lpstr>
      <vt:lpstr>输入RMSD&lt;2Å：单独检查高质量输入</vt:lpstr>
      <vt:lpstr>结论</vt:lpstr>
      <vt:lpstr>foldbench</vt:lpstr>
      <vt:lpstr>在骨架原子上的效果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167</cp:revision>
  <dcterms:created xsi:type="dcterms:W3CDTF">2026-10-08T02:33:36Z</dcterms:created>
  <dcterms:modified xsi:type="dcterms:W3CDTF">2026-10-08T13:32:24Z</dcterms:modified>
</cp:coreProperties>
</file>