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9" r:id="rId4"/>
    <p:sldId id="260" r:id="rId5"/>
    <p:sldId id="261" r:id="rId6"/>
    <p:sldId id="262" r:id="rId7"/>
    <p:sldId id="263" r:id="rId8"/>
    <p:sldId id="275" r:id="rId9"/>
    <p:sldId id="276" r:id="rId10"/>
    <p:sldId id="265" r:id="rId11"/>
    <p:sldId id="267" r:id="rId12"/>
    <p:sldId id="268" r:id="rId13"/>
    <p:sldId id="269" r:id="rId14"/>
    <p:sldId id="270" r:id="rId15"/>
    <p:sldId id="271" r:id="rId16"/>
    <p:sldId id="272"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180" autoAdjust="0"/>
  </p:normalViewPr>
  <p:slideViewPr>
    <p:cSldViewPr snapToGrid="0">
      <p:cViewPr varScale="1">
        <p:scale>
          <a:sx n="129" d="100"/>
          <a:sy n="129" d="100"/>
        </p:scale>
        <p:origin x="129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当前RNA</a:t>
            </a:r>
            <a:r>
              <a:rPr lang="zh-CN" altLang="en-US" dirty="0"/>
              <a:t>预</a:t>
            </a:r>
            <a:r>
              <a:rPr dirty="0" err="1"/>
              <a:t>测模型通常能给出合理的整体折叠，但原子级结构仍不可用</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先区分两个目标：预测fold与得到可用于下游计算的全原子结构</a:t>
            </a:r>
            <a:r>
              <a:rPr dirty="0"/>
              <a:t>。</a:t>
            </a:r>
          </a:p>
          <a:p>
            <a:r>
              <a:rPr dirty="0" err="1"/>
              <a:t>论文认为后者仍是现代RNA结构预测流水线的瓶颈</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网络使用</a:t>
            </a:r>
            <a:r>
              <a:rPr dirty="0"/>
              <a:t> 5 个 geometric-attention + FFN </a:t>
            </a:r>
            <a:r>
              <a:rPr dirty="0" err="1"/>
              <a:t>模块</a:t>
            </a:r>
            <a:r>
              <a:rPr dirty="0"/>
              <a:t>。</a:t>
            </a:r>
          </a:p>
          <a:p>
            <a:r>
              <a:rPr dirty="0" err="1"/>
              <a:t>参数化几何归一化相当于让不同注意力头分别关注不同的空间范围和相对朝向</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后面的</a:t>
            </a:r>
            <a:r>
              <a:rPr dirty="0"/>
              <a:t> Cryo-EM 实验会显示：严重畸变时，C4′-trace </a:t>
            </a:r>
            <a:r>
              <a:rPr dirty="0" err="1"/>
              <a:t>反而优于</a:t>
            </a:r>
            <a:r>
              <a:rPr dirty="0"/>
              <a:t> backbone frame。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片段库规模：150 个碱基对片段、50 个堆叠片段、150 </a:t>
            </a:r>
            <a:r>
              <a:rPr dirty="0" err="1"/>
              <a:t>个单核苷酸片段</a:t>
            </a:r>
            <a:r>
              <a:rPr dirty="0"/>
              <a:t>。</a:t>
            </a:r>
          </a:p>
          <a:p>
            <a:r>
              <a:rPr dirty="0" err="1"/>
              <a:t>这一步不是神经网络直接回归全部原子坐标</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MC </a:t>
            </a:r>
            <a:r>
              <a:rPr dirty="0" err="1"/>
              <a:t>最多</a:t>
            </a:r>
            <a:r>
              <a:rPr dirty="0"/>
              <a:t> 50,000 </a:t>
            </a:r>
            <a:r>
              <a:rPr dirty="0" err="1"/>
              <a:t>步或</a:t>
            </a:r>
            <a:r>
              <a:rPr dirty="0"/>
              <a:t> 2 </a:t>
            </a:r>
            <a:r>
              <a:rPr dirty="0" err="1"/>
              <a:t>小时；L-BFGS</a:t>
            </a:r>
            <a:r>
              <a:rPr dirty="0"/>
              <a:t> </a:t>
            </a:r>
            <a:r>
              <a:rPr dirty="0" err="1"/>
              <a:t>最多</a:t>
            </a:r>
            <a:r>
              <a:rPr dirty="0"/>
              <a:t> 1 </a:t>
            </a:r>
            <a:r>
              <a:rPr dirty="0" err="1"/>
              <a:t>小时</a:t>
            </a:r>
            <a:r>
              <a:rPr dirty="0"/>
              <a:t>。</a:t>
            </a:r>
          </a:p>
          <a:p>
            <a:r>
              <a:rPr dirty="0" err="1"/>
              <a:t>二者结合既能跨越局部能垒，又能实现稳定的梯度收敛</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28D7A-8483-8461-E6E7-D60FA54DB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C13CB-AC6A-A1D0-8F4F-EEFD6EC35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2D897-3ABC-2399-9024-75A653489BD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8535586-6590-8CFF-C363-76F785DBAD3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65286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78158-6B9C-73DA-6DC7-6040040AD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FB727-E29D-9954-7FBE-18204CC43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422BE-56B2-FF89-4C7F-5B370B961DA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0AC114B-4435-C89C-7696-AA1FDFF5AB2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81789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Benchmark </a:t>
            </a:r>
            <a:r>
              <a:rPr dirty="0" err="1"/>
              <a:t>的初始模型由</a:t>
            </a:r>
            <a:r>
              <a:rPr dirty="0"/>
              <a:t> DRfold2 </a:t>
            </a:r>
            <a:r>
              <a:rPr dirty="0" err="1"/>
              <a:t>生成</a:t>
            </a:r>
            <a:r>
              <a:rPr dirty="0"/>
              <a:t>。</a:t>
            </a:r>
          </a:p>
          <a:p>
            <a:r>
              <a:rPr dirty="0"/>
              <a:t>Cryo-EM </a:t>
            </a:r>
            <a:r>
              <a:rPr dirty="0" err="1"/>
              <a:t>数据去除了与训练序列完全相同的样本</a:t>
            </a:r>
            <a:r>
              <a:rPr dirty="0"/>
              <a:t>。</a:t>
            </a:r>
            <a:r>
              <a:rPr lang="zh-CN" altLang="zh-CN" dirty="0"/>
              <a:t>For all targets in this dataset, the initial structures for refinement were obtained from EMRNA models identified directly from Cryo-EM density maps. </a:t>
            </a:r>
            <a:endParaRPr dirty="0"/>
          </a:p>
          <a:p>
            <a:r>
              <a:rPr dirty="0"/>
              <a:t>CASP16 </a:t>
            </a:r>
            <a:r>
              <a:rPr dirty="0" err="1"/>
              <a:t>使用</a:t>
            </a:r>
            <a:r>
              <a:rPr dirty="0"/>
              <a:t> 16 </a:t>
            </a:r>
            <a:r>
              <a:rPr dirty="0" err="1"/>
              <a:t>个已有</a:t>
            </a:r>
            <a:r>
              <a:rPr dirty="0"/>
              <a:t> PDB </a:t>
            </a:r>
            <a:r>
              <a:rPr dirty="0" err="1"/>
              <a:t>实验结构的单体目标</a:t>
            </a:r>
            <a:r>
              <a:rPr dirty="0"/>
              <a:t>。</a:t>
            </a:r>
            <a:endParaRPr lang="en-US" dirty="0"/>
          </a:p>
          <a:p>
            <a:endParaRPr lang="en-US" dirty="0"/>
          </a:p>
          <a:p>
            <a:r>
              <a:rPr lang="en-US" dirty="0"/>
              <a:t> Benchmark：</a:t>
            </a:r>
          </a:p>
          <a:p>
            <a:r>
              <a:rPr lang="en-US" dirty="0"/>
              <a:t>  PDB</a:t>
            </a:r>
            <a:r>
              <a:rPr lang="zh-CN" altLang="en-US" dirty="0"/>
              <a:t>实验结构 → 取序列 → </a:t>
            </a:r>
            <a:r>
              <a:rPr lang="en-US" dirty="0"/>
              <a:t>DRfold2</a:t>
            </a:r>
            <a:r>
              <a:rPr lang="zh-CN" altLang="en-US" dirty="0"/>
              <a:t>粗粒化预测</a:t>
            </a:r>
          </a:p>
          <a:p>
            <a:r>
              <a:rPr lang="zh-CN" altLang="en-US" dirty="0"/>
              <a:t>  → </a:t>
            </a:r>
            <a:r>
              <a:rPr lang="en-US" dirty="0" err="1"/>
              <a:t>RNArefine</a:t>
            </a:r>
            <a:r>
              <a:rPr lang="zh-CN" altLang="en-US" dirty="0"/>
              <a:t>补全原子 → </a:t>
            </a:r>
            <a:r>
              <a:rPr lang="en-US" dirty="0"/>
              <a:t>refinement</a:t>
            </a:r>
          </a:p>
          <a:p>
            <a:r>
              <a:rPr lang="en-US" dirty="0"/>
              <a:t>  → </a:t>
            </a:r>
            <a:r>
              <a:rPr lang="zh-CN" altLang="en-US" dirty="0"/>
              <a:t>与原</a:t>
            </a:r>
            <a:r>
              <a:rPr lang="en-US" dirty="0"/>
              <a:t>PDB</a:t>
            </a:r>
            <a:r>
              <a:rPr lang="zh-CN" altLang="en-US" dirty="0"/>
              <a:t>实验结构比较</a:t>
            </a:r>
          </a:p>
          <a:p>
            <a:endParaRPr lang="zh-CN" altLang="en-US" dirty="0"/>
          </a:p>
          <a:p>
            <a:r>
              <a:rPr lang="zh-CN" altLang="en-US" dirty="0"/>
              <a:t>  </a:t>
            </a:r>
            <a:r>
              <a:rPr lang="en-US" dirty="0"/>
              <a:t>Cryo-EM：</a:t>
            </a:r>
          </a:p>
          <a:p>
            <a:r>
              <a:rPr lang="en-US" dirty="0"/>
              <a:t>  </a:t>
            </a:r>
            <a:r>
              <a:rPr lang="zh-CN" altLang="en-US" dirty="0"/>
              <a:t>实验</a:t>
            </a:r>
            <a:r>
              <a:rPr lang="en-US" dirty="0"/>
              <a:t>Cryo-EM map + </a:t>
            </a:r>
            <a:r>
              <a:rPr lang="zh-CN" altLang="en-US" dirty="0"/>
              <a:t>序列 → </a:t>
            </a:r>
            <a:r>
              <a:rPr lang="en-US" dirty="0"/>
              <a:t>EMRNA</a:t>
            </a:r>
            <a:r>
              <a:rPr lang="zh-CN" altLang="en-US" dirty="0"/>
              <a:t>自动全原子建模</a:t>
            </a:r>
          </a:p>
          <a:p>
            <a:r>
              <a:rPr lang="zh-CN" altLang="en-US" dirty="0"/>
              <a:t>  → </a:t>
            </a:r>
            <a:r>
              <a:rPr lang="en-US" dirty="0" err="1"/>
              <a:t>RNArefine</a:t>
            </a:r>
            <a:r>
              <a:rPr lang="en-US" dirty="0"/>
              <a:t> refinement</a:t>
            </a:r>
          </a:p>
          <a:p>
            <a:r>
              <a:rPr lang="en-US" dirty="0"/>
              <a:t>  → </a:t>
            </a:r>
            <a:r>
              <a:rPr lang="zh-CN" altLang="en-US" dirty="0"/>
              <a:t>与实验团队存入</a:t>
            </a:r>
            <a:r>
              <a:rPr lang="en-US" dirty="0"/>
              <a:t>PDB</a:t>
            </a:r>
            <a:r>
              <a:rPr lang="zh-CN" altLang="en-US" dirty="0"/>
              <a:t>的</a:t>
            </a:r>
            <a:r>
              <a:rPr lang="en-US" dirty="0"/>
              <a:t>Cryo-EM</a:t>
            </a:r>
            <a:r>
              <a:rPr lang="zh-CN" altLang="en-US" dirty="0"/>
              <a:t>参考模型比较</a:t>
            </a:r>
          </a:p>
          <a:p>
            <a:endParaRPr lang="zh-CN" altLang="en-US" dirty="0"/>
          </a:p>
          <a:p>
            <a:r>
              <a:rPr lang="zh-CN" altLang="en-US" dirty="0"/>
              <a:t>  </a:t>
            </a:r>
            <a:r>
              <a:rPr lang="en-US" dirty="0"/>
              <a:t>CASP16：</a:t>
            </a:r>
          </a:p>
          <a:p>
            <a:r>
              <a:rPr lang="en-US" dirty="0"/>
              <a:t>  </a:t>
            </a:r>
            <a:r>
              <a:rPr lang="zh-CN" altLang="en-US" dirty="0"/>
              <a:t>未知实验结构时，各参赛组根据序列盲预测并提交</a:t>
            </a:r>
            <a:r>
              <a:rPr lang="en-US" dirty="0"/>
              <a:t>Model 1</a:t>
            </a:r>
          </a:p>
          <a:p>
            <a:r>
              <a:rPr lang="en-US" dirty="0"/>
              <a:t>  → </a:t>
            </a:r>
            <a:r>
              <a:rPr lang="en-US" dirty="0" err="1"/>
              <a:t>RNArefine</a:t>
            </a:r>
            <a:r>
              <a:rPr lang="en-US" dirty="0"/>
              <a:t> refinement</a:t>
            </a:r>
          </a:p>
          <a:p>
            <a:r>
              <a:rPr lang="en-US" dirty="0"/>
              <a:t>  → </a:t>
            </a:r>
            <a:r>
              <a:rPr lang="zh-CN" altLang="en-US" dirty="0"/>
              <a:t>与后来公开的</a:t>
            </a:r>
            <a:r>
              <a:rPr lang="en-US" dirty="0"/>
              <a:t>PDB</a:t>
            </a:r>
            <a:r>
              <a:rPr lang="zh-CN" altLang="en-US" dirty="0"/>
              <a:t>实验结构比较</a:t>
            </a:r>
          </a:p>
          <a:p>
            <a:r>
              <a:rPr lang="zh-CN" altLang="en-US" dirty="0"/>
              <a:t>  → 再估算</a:t>
            </a:r>
            <a:r>
              <a:rPr lang="en-US" dirty="0"/>
              <a:t>CASP-equivalent</a:t>
            </a:r>
            <a:r>
              <a:rPr lang="zh-CN" altLang="en-US" dirty="0"/>
              <a:t>分数和排名</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传统</a:t>
            </a:r>
            <a:r>
              <a:rPr dirty="0"/>
              <a:t> </a:t>
            </a:r>
            <a:r>
              <a:rPr dirty="0" err="1"/>
              <a:t>DSSR、ClaRNA</a:t>
            </a:r>
            <a:r>
              <a:rPr dirty="0"/>
              <a:t> </a:t>
            </a:r>
            <a:r>
              <a:rPr dirty="0" err="1"/>
              <a:t>等工具在天然结构上强，但对预测结构中的局部几何错误敏感</a:t>
            </a:r>
            <a:r>
              <a:rPr dirty="0"/>
              <a:t>。</a:t>
            </a:r>
          </a:p>
          <a:p>
            <a:r>
              <a:rPr dirty="0"/>
              <a:t>C4′-trace </a:t>
            </a:r>
            <a:r>
              <a:rPr dirty="0" err="1"/>
              <a:t>的优势来自对局部原子畸变不敏感</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TM-score、GDT-TS</a:t>
            </a:r>
            <a:r>
              <a:rPr dirty="0"/>
              <a:t> 和 RMSD </a:t>
            </a:r>
            <a:r>
              <a:rPr dirty="0" err="1"/>
              <a:t>基本不变，说明改进主要来自局部几何与相互作用</a:t>
            </a:r>
            <a:r>
              <a:rPr dirty="0"/>
              <a:t>。</a:t>
            </a:r>
          </a:p>
          <a:p>
            <a:r>
              <a:rPr dirty="0"/>
              <a:t>penalized TM-score 与 penalized </a:t>
            </a:r>
            <a:r>
              <a:rPr dirty="0" err="1"/>
              <a:t>lDDT</a:t>
            </a:r>
            <a:r>
              <a:rPr dirty="0"/>
              <a:t> </a:t>
            </a:r>
            <a:r>
              <a:rPr dirty="0" err="1"/>
              <a:t>明显改善</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比较方法包括</a:t>
            </a:r>
            <a:r>
              <a:rPr dirty="0"/>
              <a:t> </a:t>
            </a:r>
            <a:r>
              <a:rPr dirty="0" err="1"/>
              <a:t>PDBfixer、RNAfitme、Arena、QRNAS</a:t>
            </a:r>
            <a:r>
              <a:rPr dirty="0"/>
              <a:t> 和 MD。</a:t>
            </a:r>
          </a:p>
          <a:p>
            <a:r>
              <a:rPr dirty="0" err="1"/>
              <a:t>作者报告</a:t>
            </a:r>
            <a:r>
              <a:rPr dirty="0"/>
              <a:t> </a:t>
            </a:r>
            <a:r>
              <a:rPr dirty="0" err="1"/>
              <a:t>RNArefine</a:t>
            </a:r>
            <a:r>
              <a:rPr dirty="0"/>
              <a:t> </a:t>
            </a:r>
            <a:r>
              <a:rPr dirty="0" err="1"/>
              <a:t>的综合得分最高</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相互作用约束的价值不是单纯降低 clash，而是防止优化破坏 RNA 相互作用网络。</a:t>
            </a:r>
          </a:p>
          <a:p>
            <a:r>
              <a:t>组合精修的综合得分高于任一单独阶段。</a:t>
            </a:r>
          </a:p>
          <a:p>
            <a:endParaRPr/>
          </a:p>
          <a:p>
            <a:r>
              <a:t>[Sources]</a:t>
            </a:r>
          </a:p>
          <a:p>
            <a:r>
              <a:t>Tsukiyama et al., RNArefine, bioRxiv (2026), DOI: 10.64898/2026.06.26.734804; Figures S3–S4; Tables S15 and S17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RNArefine</a:t>
            </a:r>
            <a:r>
              <a:rPr dirty="0"/>
              <a:t> </a:t>
            </a:r>
            <a:r>
              <a:rPr dirty="0" err="1"/>
              <a:t>没有直接使用</a:t>
            </a:r>
            <a:r>
              <a:rPr dirty="0"/>
              <a:t> cryo-EM </a:t>
            </a:r>
            <a:r>
              <a:rPr dirty="0" err="1"/>
              <a:t>密度图，却仍能改善</a:t>
            </a:r>
            <a:r>
              <a:rPr dirty="0"/>
              <a:t> EMRNA </a:t>
            </a:r>
            <a:r>
              <a:rPr dirty="0" err="1"/>
              <a:t>模型的物理质量</a:t>
            </a:r>
            <a:r>
              <a:rPr dirty="0"/>
              <a:t>。</a:t>
            </a:r>
          </a:p>
          <a:p>
            <a:r>
              <a:rPr dirty="0"/>
              <a:t>C4′-trace </a:t>
            </a:r>
            <a:r>
              <a:rPr dirty="0" err="1"/>
              <a:t>在高度畸变输入上通常比</a:t>
            </a:r>
            <a:r>
              <a:rPr dirty="0"/>
              <a:t> backbone frame </a:t>
            </a:r>
            <a:r>
              <a:rPr dirty="0" err="1"/>
              <a:t>更稳健</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CASP16 前 30 </a:t>
            </a:r>
            <a:r>
              <a:rPr dirty="0" err="1"/>
              <a:t>组中有</a:t>
            </a:r>
            <a:r>
              <a:rPr dirty="0"/>
              <a:t> 28 </a:t>
            </a:r>
            <a:r>
              <a:rPr dirty="0" err="1"/>
              <a:t>组的估计排名分数提高</a:t>
            </a:r>
            <a:r>
              <a:rPr dirty="0"/>
              <a:t>。</a:t>
            </a:r>
          </a:p>
          <a:p>
            <a:r>
              <a:rPr dirty="0"/>
              <a:t>注意：CASP16 </a:t>
            </a:r>
            <a:r>
              <a:rPr dirty="0" err="1"/>
              <a:t>是基于</a:t>
            </a:r>
            <a:r>
              <a:rPr dirty="0"/>
              <a:t> PDB </a:t>
            </a:r>
            <a:r>
              <a:rPr dirty="0" err="1"/>
              <a:t>参考结构推算的</a:t>
            </a:r>
            <a:r>
              <a:rPr dirty="0"/>
              <a:t> CASP-equivalent </a:t>
            </a:r>
            <a:r>
              <a:rPr dirty="0" err="1"/>
              <a:t>score，不是官方重新评测</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3-1">
            <a:extLst>
              <a:ext uri="{FF2B5EF4-FFF2-40B4-BE49-F238E27FC236}">
                <a16:creationId xmlns:a16="http://schemas.microsoft.com/office/drawing/2014/main" id="{D0BE177A-69A0-467C-9BEE-F8A7C0A372B6}"/>
              </a:ext>
            </a:extLst>
          </p:cNvPr>
          <p:cNvSpPr>
            <a:spLocks noGrp="1"/>
          </p:cNvSpPr>
          <p:nvPr/>
        </p:nvSpPr>
        <p:spPr>
          <a:xfrm>
            <a:off x="947956" y="3195020"/>
            <a:ext cx="11849450" cy="467960"/>
          </a:xfrm>
          <a:prstGeom prst="rect">
            <a:avLst/>
          </a:prstGeom>
        </p:spPr>
        <p:txBody>
          <a:bodyPr lIns="0" tIns="0" rIns="0" bIns="0" anchor="b">
            <a:noAutofit/>
          </a:bodyPr>
          <a:lstStyle/>
          <a:p>
            <a:pPr>
              <a:lnSpc>
                <a:spcPct val="105000"/>
              </a:lnSpc>
              <a:buNone/>
              <a:defRPr sz="6000">
                <a:solidFill>
                  <a:srgbClr val="000000"/>
                </a:solidFill>
                <a:latin typeface="Helvetica Neue"/>
                <a:ea typeface="Helvetica Neue"/>
                <a:cs typeface="Helvetica Neue"/>
              </a:defRPr>
            </a:pPr>
            <a:r>
              <a:rPr sz="2800" b="1" dirty="0" err="1">
                <a:solidFill>
                  <a:srgbClr val="000000"/>
                </a:solidFill>
                <a:latin typeface="Times New Roman" panose="02020603050405020304" pitchFamily="18" charset="0"/>
                <a:ea typeface="Noto Sans SC"/>
                <a:cs typeface="Times New Roman" panose="02020603050405020304" pitchFamily="18" charset="0"/>
              </a:rPr>
              <a:t>RNArefine</a:t>
            </a:r>
            <a:r>
              <a:rPr lang="en-US" sz="2800" b="1" dirty="0" err="1">
                <a:solidFill>
                  <a:srgbClr val="000000"/>
                </a:solidFill>
                <a:latin typeface="Times New Roman" panose="02020603050405020304" pitchFamily="18" charset="0"/>
                <a:ea typeface="Noto Sans SC"/>
                <a:cs typeface="Times New Roman" panose="02020603050405020304" pitchFamily="18" charset="0"/>
              </a:rPr>
              <a:t>:</a:t>
            </a:r>
            <a:r>
              <a:rPr sz="2800" b="1" dirty="0" err="1">
                <a:solidFill>
                  <a:srgbClr val="000000"/>
                </a:solidFill>
                <a:latin typeface="Times New Roman" panose="02020603050405020304" pitchFamily="18" charset="0"/>
                <a:ea typeface="Noto Sans SC"/>
                <a:cs typeface="Times New Roman" panose="02020603050405020304" pitchFamily="18" charset="0"/>
              </a:rPr>
              <a:t>AI-guided</a:t>
            </a:r>
            <a:r>
              <a:rPr sz="2800" b="1" dirty="0">
                <a:solidFill>
                  <a:srgbClr val="000000"/>
                </a:solidFill>
                <a:latin typeface="Times New Roman" panose="02020603050405020304" pitchFamily="18" charset="0"/>
                <a:ea typeface="Noto Sans SC"/>
                <a:cs typeface="Times New Roman" panose="02020603050405020304" pitchFamily="18" charset="0"/>
              </a:rPr>
              <a:t> Atomic-Level Refinement</a:t>
            </a:r>
            <a:r>
              <a:rPr lang="en-US" sz="2800" b="1" dirty="0">
                <a:solidFill>
                  <a:srgbClr val="000000"/>
                </a:solidFill>
                <a:latin typeface="Times New Roman" panose="02020603050405020304" pitchFamily="18" charset="0"/>
                <a:ea typeface="Noto Sans SC"/>
                <a:cs typeface="Times New Roman" panose="02020603050405020304" pitchFamily="18" charset="0"/>
              </a:rPr>
              <a:t> of RNA Structures </a:t>
            </a:r>
            <a:endParaRPr sz="2800" b="1" dirty="0">
              <a:solidFill>
                <a:srgbClr val="000000"/>
              </a:solidFill>
              <a:latin typeface="Times New Roman" panose="02020603050405020304" pitchFamily="18" charset="0"/>
              <a:ea typeface="Noto Sans SC"/>
              <a:cs typeface="Times New Roman" panose="02020603050405020304" pitchFamily="18" charset="0"/>
            </a:endParaRPr>
          </a:p>
        </p:txBody>
      </p:sp>
    </p:spTree>
    <p:extLst>
      <p:ext uri="{BB962C8B-B14F-4D97-AF65-F5344CB8AC3E}">
        <p14:creationId xmlns:p14="http://schemas.microsoft.com/office/powerpoint/2010/main" val="1174359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Shape-532-p58-2">
            <a:extLst>
              <a:ext uri="{FF2B5EF4-FFF2-40B4-BE49-F238E27FC236}">
                <a16:creationId xmlns:a16="http://schemas.microsoft.com/office/drawing/2014/main" id="{4F172A2F-CBF8-4916-9B38-53123E821622}"/>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2</a:t>
            </a:r>
          </a:p>
        </p:txBody>
      </p:sp>
      <p:sp>
        <p:nvSpPr>
          <p:cNvPr id="2" name="Google-Shape-533-p58-3">
            <a:extLst>
              <a:ext uri="{FF2B5EF4-FFF2-40B4-BE49-F238E27FC236}">
                <a16:creationId xmlns:a16="http://schemas.microsoft.com/office/drawing/2014/main" id="{42573E79-FB37-427C-ADD2-73A70F11038D}"/>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dirty="0" err="1">
                <a:solidFill>
                  <a:srgbClr val="000000"/>
                </a:solidFill>
                <a:latin typeface="黑体" panose="02010609060101010101" pitchFamily="49" charset="-122"/>
                <a:ea typeface="黑体" panose="02010609060101010101" pitchFamily="49" charset="-122"/>
                <a:cs typeface="Noto Sans SC"/>
              </a:rPr>
              <a:t>RNA预测的难点已从“整体折叠”转向“原子可用性</a:t>
            </a:r>
            <a:r>
              <a:rPr sz="3600" b="0" dirty="0">
                <a:solidFill>
                  <a:srgbClr val="000000"/>
                </a:solidFill>
                <a:latin typeface="黑体" panose="02010609060101010101" pitchFamily="49" charset="-122"/>
                <a:ea typeface="黑体" panose="02010609060101010101" pitchFamily="49" charset="-122"/>
                <a:cs typeface="Noto Sans SC"/>
              </a:rPr>
              <a:t>”</a:t>
            </a:r>
          </a:p>
        </p:txBody>
      </p:sp>
      <p:sp>
        <p:nvSpPr>
          <p:cNvPr id="3" name="Google-Shape-534-p58-4">
            <a:extLst>
              <a:ext uri="{FF2B5EF4-FFF2-40B4-BE49-F238E27FC236}">
                <a16:creationId xmlns:a16="http://schemas.microsoft.com/office/drawing/2014/main" id="{24019083-2B99-41FE-9C5D-191CD1B12CC5}"/>
              </a:ext>
            </a:extLst>
          </p:cNvPr>
          <p:cNvSpPr>
            <a:spLocks noGrp="1"/>
          </p:cNvSpPr>
          <p:nvPr/>
        </p:nvSpPr>
        <p:spPr>
          <a:xfrm>
            <a:off x="393668" y="2031968"/>
            <a:ext cx="5537168" cy="3534823"/>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dirty="0" err="1">
                <a:solidFill>
                  <a:srgbClr val="000000"/>
                </a:solidFill>
                <a:latin typeface="黑体" panose="02010609060101010101" pitchFamily="49" charset="-122"/>
                <a:ea typeface="黑体" panose="02010609060101010101" pitchFamily="49" charset="-122"/>
                <a:cs typeface="Noto Sans SC"/>
              </a:rPr>
              <a:t>整体结构进步很快</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DRfold2、RhoFold、AlphaFold3</a:t>
            </a:r>
            <a:r>
              <a:rPr sz="1725" b="0" dirty="0">
                <a:solidFill>
                  <a:srgbClr val="222222"/>
                </a:solidFill>
                <a:latin typeface="黑体" panose="02010609060101010101" pitchFamily="49" charset="-122"/>
                <a:ea typeface="黑体" panose="02010609060101010101" pitchFamily="49" charset="-122"/>
                <a:cs typeface="Noto Sans SC"/>
              </a:rPr>
              <a:t>等模型已能预测许多</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RNA</a:t>
            </a:r>
            <a:r>
              <a:rPr sz="1725" b="0" dirty="0">
                <a:solidFill>
                  <a:srgbClr val="222222"/>
                </a:solidFill>
                <a:latin typeface="黑体" panose="02010609060101010101" pitchFamily="49" charset="-122"/>
                <a:ea typeface="黑体" panose="02010609060101010101" pitchFamily="49" charset="-122"/>
                <a:cs typeface="Noto Sans SC"/>
              </a:rPr>
              <a:t> </a:t>
            </a:r>
            <a:r>
              <a:rPr sz="1725" b="0" dirty="0" err="1">
                <a:solidFill>
                  <a:srgbClr val="222222"/>
                </a:solidFill>
                <a:latin typeface="黑体" panose="02010609060101010101" pitchFamily="49" charset="-122"/>
                <a:ea typeface="黑体" panose="02010609060101010101" pitchFamily="49" charset="-122"/>
                <a:cs typeface="Noto Sans SC"/>
              </a:rPr>
              <a:t>的全局拓扑，为结构研究提供可用起点</a:t>
            </a:r>
            <a:r>
              <a:rPr sz="1725" b="0" dirty="0">
                <a:solidFill>
                  <a:srgbClr val="222222"/>
                </a:solidFill>
                <a:latin typeface="黑体" panose="02010609060101010101" pitchFamily="49" charset="-122"/>
                <a:ea typeface="黑体" panose="02010609060101010101" pitchFamily="49" charset="-122"/>
                <a:cs typeface="Noto Sans SC"/>
              </a:rPr>
              <a:t>。</a:t>
            </a:r>
          </a:p>
        </p:txBody>
      </p:sp>
      <p:sp>
        <p:nvSpPr>
          <p:cNvPr id="4" name="Content-Placeholder-3-5">
            <a:extLst>
              <a:ext uri="{FF2B5EF4-FFF2-40B4-BE49-F238E27FC236}">
                <a16:creationId xmlns:a16="http://schemas.microsoft.com/office/drawing/2014/main" id="{35019545-810D-4D5D-B670-3572090685D7}"/>
              </a:ext>
            </a:extLst>
          </p:cNvPr>
          <p:cNvSpPr>
            <a:spLocks noGrp="1"/>
          </p:cNvSpPr>
          <p:nvPr/>
        </p:nvSpPr>
        <p:spPr>
          <a:xfrm>
            <a:off x="6261166" y="2031967"/>
            <a:ext cx="5537168" cy="3534823"/>
          </a:xfrm>
          <a:prstGeom prst="rect">
            <a:avLst/>
          </a:prstGeom>
        </p:spPr>
        <p:txBody>
          <a:bodyPr lIns="0" tIns="0" rIns="0" bIns="0">
            <a:normAutofit/>
          </a:bodyPr>
          <a:lstStyle/>
          <a:p>
            <a:pPr algn="l">
              <a:lnSpc>
                <a:spcPct val="105000"/>
              </a:lnSpc>
              <a:buNone/>
              <a:defRPr sz="2400">
                <a:solidFill>
                  <a:srgbClr val="000000"/>
                </a:solidFill>
                <a:latin typeface="Helvetica Neue"/>
                <a:ea typeface="Helvetica Neue"/>
                <a:cs typeface="Helvetica Neue"/>
              </a:defRPr>
            </a:pPr>
            <a:r>
              <a:rPr sz="2100" b="1" dirty="0" err="1">
                <a:solidFill>
                  <a:srgbClr val="000000"/>
                </a:solidFill>
                <a:latin typeface="黑体" panose="02010609060101010101" pitchFamily="49" charset="-122"/>
                <a:ea typeface="黑体" panose="02010609060101010101" pitchFamily="49" charset="-122"/>
                <a:cs typeface="Noto Sans SC"/>
              </a:rPr>
              <a:t>原子细节仍然脆弱</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err="1">
                <a:solidFill>
                  <a:srgbClr val="222222"/>
                </a:solidFill>
                <a:latin typeface="黑体" panose="02010609060101010101" pitchFamily="49" charset="-122"/>
                <a:ea typeface="黑体" panose="02010609060101010101" pitchFamily="49" charset="-122"/>
                <a:cs typeface="Noto Sans SC"/>
              </a:rPr>
              <a:t>预测模型可能存在缺失原子、断键、严重碰撞、异常键长</a:t>
            </a:r>
            <a:r>
              <a:rPr sz="1725" b="0" dirty="0">
                <a:solidFill>
                  <a:srgbClr val="222222"/>
                </a:solidFill>
                <a:latin typeface="黑体" panose="02010609060101010101" pitchFamily="49" charset="-122"/>
                <a:ea typeface="黑体" panose="02010609060101010101" pitchFamily="49" charset="-122"/>
                <a:cs typeface="Noto Sans SC"/>
              </a:rPr>
              <a:t>/</a:t>
            </a:r>
            <a:r>
              <a:rPr sz="1725" b="0" dirty="0" err="1">
                <a:solidFill>
                  <a:srgbClr val="222222"/>
                </a:solidFill>
                <a:latin typeface="黑体" panose="02010609060101010101" pitchFamily="49" charset="-122"/>
                <a:ea typeface="黑体" panose="02010609060101010101" pitchFamily="49" charset="-122"/>
                <a:cs typeface="Noto Sans SC"/>
              </a:rPr>
              <a:t>键角，以及错误的配对和堆叠</a:t>
            </a:r>
            <a:r>
              <a:rPr sz="1725" b="0" dirty="0">
                <a:solidFill>
                  <a:srgbClr val="222222"/>
                </a:solidFill>
                <a:latin typeface="黑体" panose="02010609060101010101" pitchFamily="49" charset="-122"/>
                <a:ea typeface="黑体" panose="02010609060101010101" pitchFamily="49" charset="-122"/>
                <a:cs typeface="Noto Sans SC"/>
              </a:rPr>
              <a:t>。</a:t>
            </a:r>
          </a:p>
        </p:txBody>
      </p:sp>
    </p:spTree>
    <p:extLst>
      <p:ext uri="{BB962C8B-B14F-4D97-AF65-F5344CB8AC3E}">
        <p14:creationId xmlns:p14="http://schemas.microsoft.com/office/powerpoint/2010/main" val="1310360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2F060EDF-6AB2-415A-8F15-9D736F676F0B}"/>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4</a:t>
            </a:r>
          </a:p>
        </p:txBody>
      </p:sp>
      <p:sp>
        <p:nvSpPr>
          <p:cNvPr id="2" name="Google-Shape-533-p58-3">
            <a:extLst>
              <a:ext uri="{FF2B5EF4-FFF2-40B4-BE49-F238E27FC236}">
                <a16:creationId xmlns:a16="http://schemas.microsoft.com/office/drawing/2014/main" id="{C1558E73-B3E1-4606-8755-421C54D33E9C}"/>
              </a:ext>
            </a:extLst>
          </p:cNvPr>
          <p:cNvSpPr>
            <a:spLocks noGrp="1"/>
          </p:cNvSpPr>
          <p:nvPr/>
        </p:nvSpPr>
        <p:spPr>
          <a:xfrm>
            <a:off x="393668" y="344043"/>
            <a:ext cx="2067798" cy="61978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lang="en-US" sz="3600" b="0" dirty="0">
                <a:solidFill>
                  <a:srgbClr val="000000"/>
                </a:solidFill>
                <a:latin typeface="Times New Roman" panose="02020603050405020304" pitchFamily="18" charset="0"/>
                <a:ea typeface="Noto Sans SC"/>
                <a:cs typeface="Times New Roman" panose="02020603050405020304" pitchFamily="18" charset="0"/>
              </a:rPr>
              <a:t>Methods</a:t>
            </a:r>
            <a:endParaRPr sz="3600" b="0" dirty="0">
              <a:solidFill>
                <a:srgbClr val="000000"/>
              </a:solidFill>
              <a:latin typeface="Times New Roman" panose="02020603050405020304" pitchFamily="18" charset="0"/>
              <a:ea typeface="Noto Sans SC"/>
              <a:cs typeface="Times New Roman" panose="02020603050405020304" pitchFamily="18" charset="0"/>
            </a:endParaRPr>
          </a:p>
        </p:txBody>
      </p:sp>
      <p:sp>
        <p:nvSpPr>
          <p:cNvPr id="5" name="Google-Shape-534-p58-5">
            <a:extLst>
              <a:ext uri="{FF2B5EF4-FFF2-40B4-BE49-F238E27FC236}">
                <a16:creationId xmlns:a16="http://schemas.microsoft.com/office/drawing/2014/main" id="{0430723A-B139-4361-9A02-2F09D90B7D9D}"/>
              </a:ext>
            </a:extLst>
          </p:cNvPr>
          <p:cNvSpPr>
            <a:spLocks noGrp="1"/>
          </p:cNvSpPr>
          <p:nvPr/>
        </p:nvSpPr>
        <p:spPr>
          <a:xfrm>
            <a:off x="393668" y="2031968"/>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dirty="0" err="1">
                <a:solidFill>
                  <a:srgbClr val="000000"/>
                </a:solidFill>
                <a:latin typeface="黑体" panose="02010609060101010101" pitchFamily="49" charset="-122"/>
                <a:ea typeface="黑体" panose="02010609060101010101" pitchFamily="49" charset="-122"/>
                <a:cs typeface="Noto Sans SC"/>
              </a:rPr>
              <a:t>三阶段流程</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a:solidFill>
                  <a:srgbClr val="222222"/>
                </a:solidFill>
                <a:latin typeface="黑体" panose="02010609060101010101" pitchFamily="49" charset="-122"/>
                <a:ea typeface="黑体" panose="02010609060101010101" pitchFamily="49" charset="-122"/>
                <a:cs typeface="Noto Sans SC"/>
              </a:rPr>
              <a:t>①</a:t>
            </a:r>
            <a:r>
              <a:rPr sz="1725" b="0" dirty="0" err="1">
                <a:solidFill>
                  <a:srgbClr val="222222"/>
                </a:solidFill>
                <a:latin typeface="黑体" panose="02010609060101010101" pitchFamily="49" charset="-122"/>
                <a:ea typeface="黑体" panose="02010609060101010101" pitchFamily="49" charset="-122"/>
                <a:cs typeface="Noto Sans SC"/>
              </a:rPr>
              <a:t>预测碱基配对与堆叠</a:t>
            </a:r>
            <a:r>
              <a:rPr sz="1725" b="0" dirty="0">
                <a:solidFill>
                  <a:srgbClr val="222222"/>
                </a:solidFill>
                <a:latin typeface="Noto Sans SC"/>
                <a:ea typeface="Noto Sans SC"/>
                <a:cs typeface="Noto Sans SC"/>
              </a:rPr>
              <a:t>
</a:t>
            </a:r>
            <a:r>
              <a:rPr sz="1725" b="0" dirty="0">
                <a:solidFill>
                  <a:srgbClr val="222222"/>
                </a:solidFill>
                <a:latin typeface="黑体" panose="02010609060101010101" pitchFamily="49" charset="-122"/>
                <a:ea typeface="黑体" panose="02010609060101010101" pitchFamily="49" charset="-122"/>
                <a:cs typeface="Noto Sans SC"/>
              </a:rPr>
              <a:t>②</a:t>
            </a:r>
            <a:r>
              <a:rPr sz="1725" b="0" dirty="0" err="1">
                <a:solidFill>
                  <a:srgbClr val="222222"/>
                </a:solidFill>
                <a:latin typeface="黑体" panose="02010609060101010101" pitchFamily="49" charset="-122"/>
                <a:ea typeface="黑体" panose="02010609060101010101" pitchFamily="49" charset="-122"/>
                <a:cs typeface="Noto Sans SC"/>
              </a:rPr>
              <a:t>必要时补全全原子结构</a:t>
            </a:r>
            <a:r>
              <a:rPr sz="1725" b="0" dirty="0">
                <a:solidFill>
                  <a:srgbClr val="222222"/>
                </a:solidFill>
                <a:latin typeface="Noto Sans SC"/>
                <a:ea typeface="Noto Sans SC"/>
                <a:cs typeface="Noto Sans SC"/>
              </a:rPr>
              <a:t>
</a:t>
            </a:r>
            <a:r>
              <a:rPr sz="1725" b="0" dirty="0">
                <a:solidFill>
                  <a:srgbClr val="222222"/>
                </a:solidFill>
                <a:latin typeface="黑体" panose="02010609060101010101" pitchFamily="49" charset="-122"/>
                <a:ea typeface="黑体" panose="02010609060101010101" pitchFamily="49" charset="-122"/>
                <a:cs typeface="Noto Sans SC"/>
              </a:rPr>
              <a:t>③</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Monte </a:t>
            </a:r>
            <a:r>
              <a:rPr sz="1725" b="0" dirty="0" err="1">
                <a:solidFill>
                  <a:srgbClr val="222222"/>
                </a:solidFill>
                <a:latin typeface="Times New Roman" panose="02020603050405020304" pitchFamily="18" charset="0"/>
                <a:ea typeface="黑体" panose="02010609060101010101" pitchFamily="49" charset="-122"/>
                <a:cs typeface="Times New Roman" panose="02020603050405020304" pitchFamily="18" charset="0"/>
              </a:rPr>
              <a:t>Carlo</a:t>
            </a:r>
            <a:r>
              <a:rPr sz="1725" b="0" dirty="0" err="1">
                <a:solidFill>
                  <a:srgbClr val="222222"/>
                </a:solidFill>
                <a:latin typeface="黑体" panose="02010609060101010101" pitchFamily="49" charset="-122"/>
                <a:ea typeface="黑体" panose="02010609060101010101" pitchFamily="49" charset="-122"/>
                <a:cs typeface="Noto Sans SC"/>
              </a:rPr>
              <a:t>搜索后用</a:t>
            </a:r>
            <a:r>
              <a:rPr sz="1725" b="0" dirty="0" err="1">
                <a:solidFill>
                  <a:srgbClr val="222222"/>
                </a:solidFill>
                <a:latin typeface="Times New Roman" panose="02020603050405020304" pitchFamily="18" charset="0"/>
                <a:ea typeface="黑体" panose="02010609060101010101" pitchFamily="49" charset="-122"/>
                <a:cs typeface="Times New Roman" panose="02020603050405020304" pitchFamily="18" charset="0"/>
              </a:rPr>
              <a:t>L-BFGS</a:t>
            </a:r>
            <a:r>
              <a:rPr sz="1725" b="0" dirty="0" err="1">
                <a:solidFill>
                  <a:srgbClr val="222222"/>
                </a:solidFill>
                <a:latin typeface="黑体" panose="02010609060101010101" pitchFamily="49" charset="-122"/>
                <a:ea typeface="黑体" panose="02010609060101010101" pitchFamily="49" charset="-122"/>
                <a:cs typeface="Noto Sans SC"/>
              </a:rPr>
              <a:t>最小化</a:t>
            </a:r>
            <a:endParaRPr sz="1725" b="0" dirty="0">
              <a:solidFill>
                <a:srgbClr val="222222"/>
              </a:solidFill>
              <a:latin typeface="黑体" panose="02010609060101010101" pitchFamily="49" charset="-122"/>
              <a:ea typeface="黑体" panose="02010609060101010101" pitchFamily="49" charset="-122"/>
              <a:cs typeface="Noto Sans SC"/>
            </a:endParaRPr>
          </a:p>
        </p:txBody>
      </p:sp>
      <p:pic>
        <p:nvPicPr>
          <p:cNvPr id="11" name="图片 10"/>
          <p:cNvPicPr>
            <a:picLocks noChangeAspect="1"/>
          </p:cNvPicPr>
          <p:nvPr/>
        </p:nvPicPr>
        <p:blipFill>
          <a:blip r:embed="rId3"/>
          <a:stretch/>
        </p:blipFill>
        <p:spPr>
          <a:xfrm>
            <a:off x="4206240" y="69768"/>
            <a:ext cx="6825871" cy="6692030"/>
          </a:xfrm>
          <a:prstGeom prst="rect">
            <a:avLst/>
          </a:prstGeom>
        </p:spPr>
      </p:pic>
    </p:spTree>
    <p:extLst>
      <p:ext uri="{BB962C8B-B14F-4D97-AF65-F5344CB8AC3E}">
        <p14:creationId xmlns:p14="http://schemas.microsoft.com/office/powerpoint/2010/main" val="1847590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76CFC7A1-361C-4519-9E06-1B5F72B6C48F}"/>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5</a:t>
            </a:r>
          </a:p>
        </p:txBody>
      </p:sp>
      <p:sp>
        <p:nvSpPr>
          <p:cNvPr id="2" name="Google-Shape-533-p58-3">
            <a:extLst>
              <a:ext uri="{FF2B5EF4-FFF2-40B4-BE49-F238E27FC236}">
                <a16:creationId xmlns:a16="http://schemas.microsoft.com/office/drawing/2014/main" id="{715C2C52-6314-43B9-ADF4-D3AB3F1EE44F}"/>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dirty="0" err="1">
                <a:solidFill>
                  <a:srgbClr val="000000"/>
                </a:solidFill>
                <a:latin typeface="黑体" panose="02010609060101010101" pitchFamily="49" charset="-122"/>
                <a:ea typeface="黑体" panose="02010609060101010101" pitchFamily="49" charset="-122"/>
                <a:cs typeface="Noto Sans SC"/>
              </a:rPr>
              <a:t>几何注意力识别RNA相互作用</a:t>
            </a:r>
            <a:endParaRPr sz="3600" b="0" dirty="0">
              <a:solidFill>
                <a:srgbClr val="000000"/>
              </a:solidFill>
              <a:latin typeface="黑体" panose="02010609060101010101" pitchFamily="49" charset="-122"/>
              <a:ea typeface="黑体" panose="02010609060101010101" pitchFamily="49" charset="-122"/>
              <a:cs typeface="Noto Sans SC"/>
            </a:endParaRPr>
          </a:p>
        </p:txBody>
      </p:sp>
      <p:sp>
        <p:nvSpPr>
          <p:cNvPr id="5" name="Google-Shape-534-p58-5">
            <a:extLst>
              <a:ext uri="{FF2B5EF4-FFF2-40B4-BE49-F238E27FC236}">
                <a16:creationId xmlns:a16="http://schemas.microsoft.com/office/drawing/2014/main" id="{46EAE6E0-C8E1-4BC2-B2D3-AC9F31615AE3}"/>
              </a:ext>
            </a:extLst>
          </p:cNvPr>
          <p:cNvSpPr>
            <a:spLocks noGrp="1"/>
          </p:cNvSpPr>
          <p:nvPr/>
        </p:nvSpPr>
        <p:spPr>
          <a:xfrm>
            <a:off x="393668" y="1309815"/>
            <a:ext cx="5175136" cy="3705897"/>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dirty="0" err="1">
                <a:solidFill>
                  <a:srgbClr val="000000"/>
                </a:solidFill>
                <a:latin typeface="黑体" panose="02010609060101010101" pitchFamily="49" charset="-122"/>
                <a:ea typeface="黑体" panose="02010609060101010101" pitchFamily="49" charset="-122"/>
                <a:cs typeface="Noto Sans SC"/>
              </a:rPr>
              <a:t>模型输出的是概率</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err="1">
                <a:solidFill>
                  <a:srgbClr val="222222"/>
                </a:solidFill>
                <a:latin typeface="黑体" panose="02010609060101010101" pitchFamily="49" charset="-122"/>
                <a:ea typeface="黑体" panose="02010609060101010101" pitchFamily="49" charset="-122"/>
                <a:cs typeface="Noto Sans SC"/>
              </a:rPr>
              <a:t>输入序列、局部坐标和相对位置；先预测碱基对，再将配对信息用于堆叠预测。每个注意力头学习偏好的距离与方向范围</a:t>
            </a:r>
            <a:r>
              <a:rPr sz="1725" b="0" dirty="0">
                <a:solidFill>
                  <a:srgbClr val="222222"/>
                </a:solidFill>
                <a:latin typeface="黑体" panose="02010609060101010101" pitchFamily="49" charset="-122"/>
                <a:ea typeface="黑体" panose="02010609060101010101" pitchFamily="49" charset="-122"/>
                <a:cs typeface="Noto Sans SC"/>
              </a:rPr>
              <a:t>。</a:t>
            </a:r>
          </a:p>
        </p:txBody>
      </p:sp>
      <p:pic>
        <p:nvPicPr>
          <p:cNvPr id="11" name="图片 10"/>
          <p:cNvPicPr>
            <a:picLocks noChangeAspect="1"/>
          </p:cNvPicPr>
          <p:nvPr/>
        </p:nvPicPr>
        <p:blipFill>
          <a:blip r:embed="rId3"/>
          <a:stretch/>
        </p:blipFill>
        <p:spPr>
          <a:xfrm>
            <a:off x="393668" y="2931539"/>
            <a:ext cx="8779985" cy="3775707"/>
          </a:xfrm>
          <a:prstGeom prst="rect">
            <a:avLst/>
          </a:prstGeom>
        </p:spPr>
      </p:pic>
    </p:spTree>
    <p:extLst>
      <p:ext uri="{BB962C8B-B14F-4D97-AF65-F5344CB8AC3E}">
        <p14:creationId xmlns:p14="http://schemas.microsoft.com/office/powerpoint/2010/main" val="11995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Shape-532-p58-2">
            <a:extLst>
              <a:ext uri="{FF2B5EF4-FFF2-40B4-BE49-F238E27FC236}">
                <a16:creationId xmlns:a16="http://schemas.microsoft.com/office/drawing/2014/main" id="{1FF129F5-6A8A-49D3-8B15-4D47462EE454}"/>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6</a:t>
            </a:r>
          </a:p>
        </p:txBody>
      </p:sp>
      <p:sp>
        <p:nvSpPr>
          <p:cNvPr id="2" name="Google-Shape-533-p58-3">
            <a:extLst>
              <a:ext uri="{FF2B5EF4-FFF2-40B4-BE49-F238E27FC236}">
                <a16:creationId xmlns:a16="http://schemas.microsoft.com/office/drawing/2014/main" id="{871245C9-D8D6-49A5-A002-225E216F3DCC}"/>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dirty="0" err="1">
                <a:solidFill>
                  <a:srgbClr val="000000"/>
                </a:solidFill>
                <a:latin typeface="黑体" panose="02010609060101010101" pitchFamily="49" charset="-122"/>
                <a:ea typeface="黑体" panose="02010609060101010101" pitchFamily="49" charset="-122"/>
                <a:cs typeface="Noto Sans SC"/>
              </a:rPr>
              <a:t>两种输入表示适应不同质量的RNA结构</a:t>
            </a:r>
            <a:endParaRPr sz="3600" b="0" dirty="0">
              <a:solidFill>
                <a:srgbClr val="000000"/>
              </a:solidFill>
              <a:latin typeface="黑体" panose="02010609060101010101" pitchFamily="49" charset="-122"/>
              <a:ea typeface="黑体" panose="02010609060101010101" pitchFamily="49" charset="-122"/>
              <a:cs typeface="Noto Sans SC"/>
            </a:endParaRPr>
          </a:p>
        </p:txBody>
      </p:sp>
      <p:sp>
        <p:nvSpPr>
          <p:cNvPr id="3" name="Google-Shape-534-p58-4">
            <a:extLst>
              <a:ext uri="{FF2B5EF4-FFF2-40B4-BE49-F238E27FC236}">
                <a16:creationId xmlns:a16="http://schemas.microsoft.com/office/drawing/2014/main" id="{B5677EA4-DAE6-4EDE-A00D-F5807866AE3D}"/>
              </a:ext>
            </a:extLst>
          </p:cNvPr>
          <p:cNvSpPr>
            <a:spLocks noGrp="1"/>
          </p:cNvSpPr>
          <p:nvPr/>
        </p:nvSpPr>
        <p:spPr>
          <a:xfrm>
            <a:off x="393668" y="2031968"/>
            <a:ext cx="5537168" cy="3534823"/>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dirty="0">
                <a:solidFill>
                  <a:srgbClr val="000000"/>
                </a:solidFill>
                <a:latin typeface="Times New Roman" panose="02020603050405020304" pitchFamily="18" charset="0"/>
                <a:ea typeface="Noto Sans SC"/>
                <a:cs typeface="Times New Roman" panose="02020603050405020304" pitchFamily="18" charset="0"/>
              </a:rPr>
              <a:t>Backbone frame</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a:solidFill>
                  <a:srgbClr val="222222"/>
                </a:solidFill>
                <a:latin typeface="黑体" panose="02010609060101010101" pitchFamily="49" charset="-122"/>
                <a:ea typeface="黑体" panose="02010609060101010101" pitchFamily="49" charset="-122"/>
                <a:cs typeface="Noto Sans SC"/>
              </a:rPr>
              <a:t>利用</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P、C4′、C3′、O5′、O3</a:t>
            </a:r>
            <a:r>
              <a:rPr lang="en-US" altLang="zh-CN"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 </a:t>
            </a:r>
            <a:r>
              <a:rPr sz="1725" b="0" dirty="0" err="1">
                <a:solidFill>
                  <a:srgbClr val="222222"/>
                </a:solidFill>
                <a:latin typeface="黑体" panose="02010609060101010101" pitchFamily="49" charset="-122"/>
                <a:ea typeface="黑体" panose="02010609060101010101" pitchFamily="49" charset="-122"/>
                <a:cs typeface="Noto Sans SC"/>
              </a:rPr>
              <a:t>建立局部坐标系，同时提供距离和方向。天然或高质量结构上通常更准确</a:t>
            </a:r>
            <a:r>
              <a:rPr sz="1725" b="0" dirty="0">
                <a:solidFill>
                  <a:srgbClr val="222222"/>
                </a:solidFill>
                <a:latin typeface="黑体" panose="02010609060101010101" pitchFamily="49" charset="-122"/>
                <a:ea typeface="黑体" panose="02010609060101010101" pitchFamily="49" charset="-122"/>
                <a:cs typeface="Noto Sans SC"/>
              </a:rPr>
              <a:t>。</a:t>
            </a:r>
          </a:p>
        </p:txBody>
      </p:sp>
      <p:sp>
        <p:nvSpPr>
          <p:cNvPr id="4" name="Content-Placeholder-3-5">
            <a:extLst>
              <a:ext uri="{FF2B5EF4-FFF2-40B4-BE49-F238E27FC236}">
                <a16:creationId xmlns:a16="http://schemas.microsoft.com/office/drawing/2014/main" id="{8F4DA000-3A2F-483F-8B9D-4CA127B76162}"/>
              </a:ext>
            </a:extLst>
          </p:cNvPr>
          <p:cNvSpPr>
            <a:spLocks noGrp="1"/>
          </p:cNvSpPr>
          <p:nvPr/>
        </p:nvSpPr>
        <p:spPr>
          <a:xfrm>
            <a:off x="6256592" y="2031968"/>
            <a:ext cx="5537168" cy="3534823"/>
          </a:xfrm>
          <a:prstGeom prst="rect">
            <a:avLst/>
          </a:prstGeom>
        </p:spPr>
        <p:txBody>
          <a:bodyPr lIns="0" tIns="0" rIns="0" bIns="0">
            <a:normAutofit/>
          </a:bodyPr>
          <a:lstStyle/>
          <a:p>
            <a:pPr algn="l">
              <a:lnSpc>
                <a:spcPct val="105000"/>
              </a:lnSpc>
              <a:buNone/>
              <a:defRPr sz="2400">
                <a:solidFill>
                  <a:srgbClr val="000000"/>
                </a:solidFill>
                <a:latin typeface="Helvetica Neue"/>
                <a:ea typeface="Helvetica Neue"/>
                <a:cs typeface="Helvetica Neue"/>
              </a:defRPr>
            </a:pPr>
            <a:r>
              <a:rPr sz="2100" dirty="0">
                <a:solidFill>
                  <a:srgbClr val="000000"/>
                </a:solidFill>
                <a:latin typeface="Times New Roman" panose="02020603050405020304" pitchFamily="18" charset="0"/>
                <a:ea typeface="Noto Sans SC"/>
                <a:cs typeface="Times New Roman" panose="02020603050405020304" pitchFamily="18" charset="0"/>
              </a:rPr>
              <a:t>C4′ trace</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a:solidFill>
                  <a:srgbClr val="222222"/>
                </a:solidFill>
                <a:latin typeface="黑体" panose="02010609060101010101" pitchFamily="49" charset="-122"/>
                <a:ea typeface="黑体" panose="02010609060101010101" pitchFamily="49" charset="-122"/>
                <a:cs typeface="Noto Sans SC"/>
              </a:rPr>
              <a:t>只使用</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C4′</a:t>
            </a:r>
            <a:r>
              <a:rPr sz="1725" b="0" dirty="0">
                <a:solidFill>
                  <a:srgbClr val="222222"/>
                </a:solidFill>
                <a:latin typeface="黑体" panose="02010609060101010101" pitchFamily="49" charset="-122"/>
                <a:ea typeface="黑体" panose="02010609060101010101" pitchFamily="49" charset="-122"/>
                <a:cs typeface="Noto Sans SC"/>
              </a:rPr>
              <a:t>坐标，主要依赖距离。信息更少，却不容易被错误键长、键角和局部坐标系误导。</a:t>
            </a:r>
          </a:p>
        </p:txBody>
      </p:sp>
    </p:spTree>
    <p:extLst>
      <p:ext uri="{BB962C8B-B14F-4D97-AF65-F5344CB8AC3E}">
        <p14:creationId xmlns:p14="http://schemas.microsoft.com/office/powerpoint/2010/main" val="1550316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69E1B4DB-F1E8-410C-834F-4AA55852D96C}"/>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7</a:t>
            </a:r>
          </a:p>
        </p:txBody>
      </p:sp>
      <p:sp>
        <p:nvSpPr>
          <p:cNvPr id="2" name="Google-Shape-533-p58-3">
            <a:extLst>
              <a:ext uri="{FF2B5EF4-FFF2-40B4-BE49-F238E27FC236}">
                <a16:creationId xmlns:a16="http://schemas.microsoft.com/office/drawing/2014/main" id="{EB4100FD-3910-4923-AEE3-7DCE1A7254A3}"/>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a:solidFill>
                  <a:srgbClr val="000000"/>
                </a:solidFill>
                <a:latin typeface="Noto Sans SC"/>
                <a:ea typeface="Noto Sans SC"/>
                <a:cs typeface="Noto Sans SC"/>
              </a:rPr>
              <a:t>结构片段补全原子细节</a:t>
            </a:r>
          </a:p>
        </p:txBody>
      </p:sp>
      <p:sp>
        <p:nvSpPr>
          <p:cNvPr id="5" name="Google-Shape-534-p58-5">
            <a:extLst>
              <a:ext uri="{FF2B5EF4-FFF2-40B4-BE49-F238E27FC236}">
                <a16:creationId xmlns:a16="http://schemas.microsoft.com/office/drawing/2014/main" id="{BE514587-3033-493C-90DA-2456BA20683B}"/>
              </a:ext>
            </a:extLst>
          </p:cNvPr>
          <p:cNvSpPr>
            <a:spLocks noGrp="1"/>
          </p:cNvSpPr>
          <p:nvPr/>
        </p:nvSpPr>
        <p:spPr>
          <a:xfrm>
            <a:off x="393668" y="2031968"/>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a:solidFill>
                  <a:srgbClr val="000000"/>
                </a:solidFill>
                <a:latin typeface="Noto Sans SC"/>
                <a:ea typeface="Noto Sans SC"/>
                <a:cs typeface="Noto Sans SC"/>
              </a:rPr>
              <a:t>片段驱动重建
</a:t>
            </a:r>
          </a:p>
          <a:p>
            <a:pPr algn="l">
              <a:lnSpc>
                <a:spcPct val="105000"/>
              </a:lnSpc>
              <a:buNone/>
              <a:defRPr sz="2400">
                <a:solidFill>
                  <a:srgbClr val="000000"/>
                </a:solidFill>
                <a:latin typeface="Helvetica Neue"/>
                <a:ea typeface="Helvetica Neue"/>
                <a:cs typeface="Helvetica Neue"/>
              </a:defRPr>
            </a:pPr>
            <a:r>
              <a:rPr sz="1725" b="0">
                <a:solidFill>
                  <a:srgbClr val="222222"/>
                </a:solidFill>
                <a:latin typeface="Noto Sans SC"/>
                <a:ea typeface="Noto Sans SC"/>
                <a:cs typeface="Noto Sans SC"/>
              </a:rPr>
              <a:t>作者从高分辨率结构中聚类得到碱基对、堆叠和单核苷酸片段；根据预测配对选择片段，再用 Kabsch 对齐放回骨架。</a:t>
            </a:r>
          </a:p>
        </p:txBody>
      </p:sp>
      <p:pic>
        <p:nvPicPr>
          <p:cNvPr id="11" name="图片 10"/>
          <p:cNvPicPr>
            <a:picLocks noChangeAspect="1"/>
          </p:cNvPicPr>
          <p:nvPr/>
        </p:nvPicPr>
        <p:blipFill>
          <a:blip r:embed="rId3"/>
          <a:stretch/>
        </p:blipFill>
        <p:spPr>
          <a:xfrm>
            <a:off x="5930836" y="2080878"/>
            <a:ext cx="6219346" cy="2612125"/>
          </a:xfrm>
          <a:prstGeom prst="rect">
            <a:avLst/>
          </a:prstGeom>
        </p:spPr>
      </p:pic>
    </p:spTree>
    <p:extLst>
      <p:ext uri="{BB962C8B-B14F-4D97-AF65-F5344CB8AC3E}">
        <p14:creationId xmlns:p14="http://schemas.microsoft.com/office/powerpoint/2010/main" val="1904193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Number-Placeholder-3-2">
            <a:extLst>
              <a:ext uri="{FF2B5EF4-FFF2-40B4-BE49-F238E27FC236}">
                <a16:creationId xmlns:a16="http://schemas.microsoft.com/office/drawing/2014/main" id="{0AF35B04-16C4-4741-8349-0403ECF7417B}"/>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8</a:t>
            </a:r>
          </a:p>
        </p:txBody>
      </p:sp>
      <p:sp>
        <p:nvSpPr>
          <p:cNvPr id="2" name="Title-10-3">
            <a:extLst>
              <a:ext uri="{FF2B5EF4-FFF2-40B4-BE49-F238E27FC236}">
                <a16:creationId xmlns:a16="http://schemas.microsoft.com/office/drawing/2014/main" id="{7E038CFC-0DF9-41E1-96D9-81789E03B70D}"/>
              </a:ext>
            </a:extLst>
          </p:cNvPr>
          <p:cNvSpPr>
            <a:spLocks noGrp="1"/>
          </p:cNvSpPr>
          <p:nvPr/>
        </p:nvSpPr>
        <p:spPr>
          <a:xfrm>
            <a:off x="393668" y="344043"/>
            <a:ext cx="11404568" cy="1047464"/>
          </a:xfrm>
          <a:prstGeom prst="rect">
            <a:avLst/>
          </a:prstGeom>
        </p:spPr>
        <p:txBody>
          <a:bodyPr lIns="0" tIns="0" rIns="0" bIns="0" anchor="t">
            <a:normAutofit/>
          </a:bodyPr>
          <a:lstStyle/>
          <a:p>
            <a:pPr algn="l">
              <a:lnSpc>
                <a:spcPct val="105000"/>
              </a:lnSpc>
              <a:buNone/>
              <a:defRPr sz="2900">
                <a:solidFill>
                  <a:srgbClr val="000000"/>
                </a:solidFill>
                <a:latin typeface="Helvetica Neue"/>
                <a:ea typeface="Helvetica Neue"/>
                <a:cs typeface="Helvetica Neue"/>
              </a:defRPr>
            </a:pPr>
            <a:r>
              <a:rPr sz="3600" b="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Monte </a:t>
            </a:r>
            <a:r>
              <a:rPr sz="3600" b="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Carlo</a:t>
            </a:r>
            <a:r>
              <a:rPr sz="3600" b="0" dirty="0" err="1">
                <a:solidFill>
                  <a:srgbClr val="000000"/>
                </a:solidFill>
                <a:latin typeface="黑体" panose="02010609060101010101" pitchFamily="49" charset="-122"/>
                <a:ea typeface="黑体" panose="02010609060101010101" pitchFamily="49" charset="-122"/>
                <a:cs typeface="Noto Sans SC"/>
              </a:rPr>
              <a:t>负责探索，</a:t>
            </a:r>
            <a:r>
              <a:rPr sz="3600" b="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L-BFGS</a:t>
            </a:r>
            <a:r>
              <a:rPr sz="3600" b="0" dirty="0" err="1">
                <a:solidFill>
                  <a:srgbClr val="000000"/>
                </a:solidFill>
                <a:latin typeface="黑体" panose="02010609060101010101" pitchFamily="49" charset="-122"/>
                <a:ea typeface="黑体" panose="02010609060101010101" pitchFamily="49" charset="-122"/>
                <a:cs typeface="Noto Sans SC"/>
              </a:rPr>
              <a:t>负责精细收敛</a:t>
            </a:r>
            <a:endParaRPr sz="3600" b="0" dirty="0">
              <a:solidFill>
                <a:srgbClr val="000000"/>
              </a:solidFill>
              <a:latin typeface="黑体" panose="02010609060101010101" pitchFamily="49" charset="-122"/>
              <a:ea typeface="黑体" panose="02010609060101010101" pitchFamily="49" charset="-122"/>
              <a:cs typeface="Noto Sans SC"/>
            </a:endParaRPr>
          </a:p>
        </p:txBody>
      </p:sp>
      <p:cxnSp>
        <p:nvCxnSpPr>
          <p:cNvPr id="15" name="Google-Shape-2259-p159-4"/>
          <p:cNvCxnSpPr/>
          <p:nvPr/>
        </p:nvCxnSpPr>
        <p:spPr>
          <a:xfrm>
            <a:off x="337757" y="3373755"/>
            <a:ext cx="12245435" cy="286"/>
          </a:xfrm>
          <a:prstGeom prst="straightConnector1">
            <a:avLst/>
          </a:prstGeom>
          <a:ln w="9525">
            <a:solidFill>
              <a:srgbClr val="000000"/>
            </a:solidFill>
            <a:prstDash val="solid"/>
          </a:ln>
        </p:spPr>
      </p:cxnSp>
      <p:sp>
        <p:nvSpPr>
          <p:cNvPr id="4" name="Google-Shape-2260-p159-5">
            <a:extLst>
              <a:ext uri="{FF2B5EF4-FFF2-40B4-BE49-F238E27FC236}">
                <a16:creationId xmlns:a16="http://schemas.microsoft.com/office/drawing/2014/main" id="{39861F70-9C3E-4E2A-86EC-E9DE59298F07}"/>
              </a:ext>
            </a:extLst>
          </p:cNvPr>
          <p:cNvSpPr>
            <a:spLocks noGrp="1"/>
          </p:cNvSpPr>
          <p:nvPr/>
        </p:nvSpPr>
        <p:spPr>
          <a:xfrm>
            <a:off x="337757" y="3320225"/>
            <a:ext cx="107061" cy="107061"/>
          </a:xfrm>
          <a:prstGeom prst="ellipse">
            <a:avLst/>
          </a:prstGeom>
          <a:solidFill>
            <a:srgbClr val="000000"/>
          </a:solidFill>
        </p:spPr>
        <p:txBody>
          <a:bodyPr/>
          <a:lstStyle/>
          <a:p>
            <a:endParaRPr lang="zh-CN" altLang="en-US"/>
          </a:p>
        </p:txBody>
      </p:sp>
      <p:sp>
        <p:nvSpPr>
          <p:cNvPr id="5" name="Google-Shape-2261-p159-6">
            <a:extLst>
              <a:ext uri="{FF2B5EF4-FFF2-40B4-BE49-F238E27FC236}">
                <a16:creationId xmlns:a16="http://schemas.microsoft.com/office/drawing/2014/main" id="{C39F3E6D-7594-4917-B863-FCDADF5061E0}"/>
              </a:ext>
            </a:extLst>
          </p:cNvPr>
          <p:cNvSpPr>
            <a:spLocks noGrp="1"/>
          </p:cNvSpPr>
          <p:nvPr/>
        </p:nvSpPr>
        <p:spPr>
          <a:xfrm>
            <a:off x="4251770" y="3320225"/>
            <a:ext cx="107061" cy="107061"/>
          </a:xfrm>
          <a:prstGeom prst="ellipse">
            <a:avLst/>
          </a:prstGeom>
          <a:solidFill>
            <a:srgbClr val="000000"/>
          </a:solidFill>
        </p:spPr>
        <p:txBody>
          <a:bodyPr/>
          <a:lstStyle/>
          <a:p>
            <a:endParaRPr lang="zh-CN" altLang="en-US"/>
          </a:p>
        </p:txBody>
      </p:sp>
      <p:sp>
        <p:nvSpPr>
          <p:cNvPr id="6" name="Google-Shape-2262-p159-7">
            <a:extLst>
              <a:ext uri="{FF2B5EF4-FFF2-40B4-BE49-F238E27FC236}">
                <a16:creationId xmlns:a16="http://schemas.microsoft.com/office/drawing/2014/main" id="{F2BA53C4-4B94-46FA-8FB9-C5854F270BA3}"/>
              </a:ext>
            </a:extLst>
          </p:cNvPr>
          <p:cNvSpPr>
            <a:spLocks noGrp="1"/>
          </p:cNvSpPr>
          <p:nvPr/>
        </p:nvSpPr>
        <p:spPr>
          <a:xfrm>
            <a:off x="8176070" y="3320225"/>
            <a:ext cx="107061" cy="107061"/>
          </a:xfrm>
          <a:prstGeom prst="ellipse">
            <a:avLst/>
          </a:prstGeom>
          <a:solidFill>
            <a:srgbClr val="000000"/>
          </a:solidFill>
        </p:spPr>
        <p:txBody>
          <a:bodyPr/>
          <a:lstStyle/>
          <a:p>
            <a:endParaRPr lang="zh-CN" altLang="en-US"/>
          </a:p>
        </p:txBody>
      </p:sp>
      <p:sp>
        <p:nvSpPr>
          <p:cNvPr id="7" name="Content-Placeholder-15-8">
            <a:extLst>
              <a:ext uri="{FF2B5EF4-FFF2-40B4-BE49-F238E27FC236}">
                <a16:creationId xmlns:a16="http://schemas.microsoft.com/office/drawing/2014/main" id="{07AC6408-5CDC-4616-84C2-30ECE305B345}"/>
              </a:ext>
            </a:extLst>
          </p:cNvPr>
          <p:cNvSpPr>
            <a:spLocks noGrp="1"/>
          </p:cNvSpPr>
          <p:nvPr/>
        </p:nvSpPr>
        <p:spPr>
          <a:xfrm>
            <a:off x="393668" y="2843308"/>
            <a:ext cx="1612868" cy="262414"/>
          </a:xfrm>
          <a:prstGeom prst="rect">
            <a:avLst/>
          </a:prstGeom>
        </p:spPr>
        <p:txBody>
          <a:bodyPr lIns="0" tIns="0" rIns="0" bIns="0">
            <a:noAutofit/>
          </a:bodyPr>
          <a:lstStyle/>
          <a:p>
            <a:pPr algn="l">
              <a:lnSpc>
                <a:spcPct val="105000"/>
              </a:lnSpc>
              <a:buNone/>
              <a:defRPr sz="1600">
                <a:solidFill>
                  <a:srgbClr val="000000"/>
                </a:solidFill>
                <a:latin typeface="Helvetica Neue"/>
                <a:ea typeface="Helvetica Neue"/>
                <a:cs typeface="Helvetica Neue"/>
              </a:defRPr>
            </a:pPr>
            <a:r>
              <a:rPr sz="1650" dirty="0" err="1">
                <a:solidFill>
                  <a:srgbClr val="3D8DFF"/>
                </a:solidFill>
                <a:latin typeface="黑体" panose="02010609060101010101" pitchFamily="49" charset="-122"/>
                <a:ea typeface="黑体" panose="02010609060101010101" pitchFamily="49" charset="-122"/>
                <a:cs typeface="Noto Sans SC"/>
              </a:rPr>
              <a:t>输入</a:t>
            </a:r>
            <a:endParaRPr sz="1650" dirty="0">
              <a:solidFill>
                <a:srgbClr val="3D8DFF"/>
              </a:solidFill>
              <a:latin typeface="黑体" panose="02010609060101010101" pitchFamily="49" charset="-122"/>
              <a:ea typeface="黑体" panose="02010609060101010101" pitchFamily="49" charset="-122"/>
              <a:cs typeface="Noto Sans SC"/>
            </a:endParaRPr>
          </a:p>
        </p:txBody>
      </p:sp>
      <p:sp>
        <p:nvSpPr>
          <p:cNvPr id="8" name="Content-Placeholder-15-9">
            <a:extLst>
              <a:ext uri="{FF2B5EF4-FFF2-40B4-BE49-F238E27FC236}">
                <a16:creationId xmlns:a16="http://schemas.microsoft.com/office/drawing/2014/main" id="{8CD1D117-3DF9-4A76-9B76-B938DEF7FDFC}"/>
              </a:ext>
            </a:extLst>
          </p:cNvPr>
          <p:cNvSpPr>
            <a:spLocks noGrp="1"/>
          </p:cNvSpPr>
          <p:nvPr/>
        </p:nvSpPr>
        <p:spPr>
          <a:xfrm>
            <a:off x="4294156" y="2843308"/>
            <a:ext cx="1612868" cy="262414"/>
          </a:xfrm>
          <a:prstGeom prst="rect">
            <a:avLst/>
          </a:prstGeom>
        </p:spPr>
        <p:txBody>
          <a:bodyPr lIns="0" tIns="0" rIns="0" bIns="0">
            <a:noAutofit/>
          </a:bodyPr>
          <a:lstStyle/>
          <a:p>
            <a:pPr algn="l">
              <a:lnSpc>
                <a:spcPct val="105000"/>
              </a:lnSpc>
              <a:buNone/>
              <a:defRPr sz="1600">
                <a:solidFill>
                  <a:srgbClr val="000000"/>
                </a:solidFill>
                <a:latin typeface="Helvetica Neue"/>
                <a:ea typeface="Helvetica Neue"/>
                <a:cs typeface="Helvetica Neue"/>
              </a:defRPr>
            </a:pPr>
            <a:r>
              <a:rPr sz="1650" dirty="0" err="1">
                <a:solidFill>
                  <a:srgbClr val="3D8DFF"/>
                </a:solidFill>
                <a:latin typeface="黑体" panose="02010609060101010101" pitchFamily="49" charset="-122"/>
                <a:ea typeface="黑体" panose="02010609060101010101" pitchFamily="49" charset="-122"/>
                <a:cs typeface="Noto Sans SC"/>
              </a:rPr>
              <a:t>探索</a:t>
            </a:r>
            <a:endParaRPr sz="1650" dirty="0">
              <a:solidFill>
                <a:srgbClr val="3D8DFF"/>
              </a:solidFill>
              <a:latin typeface="黑体" panose="02010609060101010101" pitchFamily="49" charset="-122"/>
              <a:ea typeface="黑体" panose="02010609060101010101" pitchFamily="49" charset="-122"/>
              <a:cs typeface="Noto Sans SC"/>
            </a:endParaRPr>
          </a:p>
        </p:txBody>
      </p:sp>
      <p:sp>
        <p:nvSpPr>
          <p:cNvPr id="9" name="Content-Placeholder-15-10">
            <a:extLst>
              <a:ext uri="{FF2B5EF4-FFF2-40B4-BE49-F238E27FC236}">
                <a16:creationId xmlns:a16="http://schemas.microsoft.com/office/drawing/2014/main" id="{4313F89A-4927-4625-9F0A-CC58BAF22DA3}"/>
              </a:ext>
            </a:extLst>
          </p:cNvPr>
          <p:cNvSpPr>
            <a:spLocks noGrp="1"/>
          </p:cNvSpPr>
          <p:nvPr/>
        </p:nvSpPr>
        <p:spPr>
          <a:xfrm>
            <a:off x="8223218" y="2843308"/>
            <a:ext cx="1612868" cy="262414"/>
          </a:xfrm>
          <a:prstGeom prst="rect">
            <a:avLst/>
          </a:prstGeom>
        </p:spPr>
        <p:txBody>
          <a:bodyPr lIns="0" tIns="0" rIns="0" bIns="0">
            <a:noAutofit/>
          </a:bodyPr>
          <a:lstStyle/>
          <a:p>
            <a:pPr algn="l">
              <a:lnSpc>
                <a:spcPct val="105000"/>
              </a:lnSpc>
              <a:buNone/>
              <a:defRPr sz="1600">
                <a:solidFill>
                  <a:srgbClr val="000000"/>
                </a:solidFill>
                <a:latin typeface="Helvetica Neue"/>
                <a:ea typeface="Helvetica Neue"/>
                <a:cs typeface="Helvetica Neue"/>
              </a:defRPr>
            </a:pPr>
            <a:r>
              <a:rPr sz="1650" dirty="0" err="1">
                <a:solidFill>
                  <a:srgbClr val="3D8DFF"/>
                </a:solidFill>
                <a:latin typeface="黑体" panose="02010609060101010101" pitchFamily="49" charset="-122"/>
                <a:ea typeface="黑体" panose="02010609060101010101" pitchFamily="49" charset="-122"/>
                <a:cs typeface="Noto Sans SC"/>
              </a:rPr>
              <a:t>收敛</a:t>
            </a:r>
            <a:endParaRPr sz="1650" dirty="0">
              <a:solidFill>
                <a:srgbClr val="3D8DFF"/>
              </a:solidFill>
              <a:latin typeface="黑体" panose="02010609060101010101" pitchFamily="49" charset="-122"/>
              <a:ea typeface="黑体" panose="02010609060101010101" pitchFamily="49" charset="-122"/>
              <a:cs typeface="Noto Sans SC"/>
            </a:endParaRPr>
          </a:p>
        </p:txBody>
      </p:sp>
      <p:sp>
        <p:nvSpPr>
          <p:cNvPr id="10" name="Text-Placeholder-16-11">
            <a:extLst>
              <a:ext uri="{FF2B5EF4-FFF2-40B4-BE49-F238E27FC236}">
                <a16:creationId xmlns:a16="http://schemas.microsoft.com/office/drawing/2014/main" id="{4EC50A44-EA32-4D20-877D-364578C6008E}"/>
              </a:ext>
            </a:extLst>
          </p:cNvPr>
          <p:cNvSpPr>
            <a:spLocks noGrp="1"/>
          </p:cNvSpPr>
          <p:nvPr/>
        </p:nvSpPr>
        <p:spPr>
          <a:xfrm>
            <a:off x="4317111" y="3822668"/>
            <a:ext cx="3156109" cy="1586294"/>
          </a:xfrm>
          <a:prstGeom prst="rect">
            <a:avLst/>
          </a:prstGeom>
        </p:spPr>
        <p:txBody>
          <a:bodyPr lIns="0" tIns="0" rIns="0" bIns="0">
            <a:noAutofit/>
          </a:bodyPr>
          <a:lstStyle/>
          <a:p>
            <a:pPr algn="l">
              <a:lnSpc>
                <a:spcPct val="105000"/>
              </a:lnSpc>
              <a:buNone/>
              <a:defRPr sz="2400">
                <a:solidFill>
                  <a:srgbClr val="000000"/>
                </a:solidFill>
                <a:latin typeface="Helvetica Neue"/>
                <a:ea typeface="Helvetica Neue"/>
                <a:cs typeface="Helvetica Neue"/>
              </a:defRPr>
            </a:pPr>
            <a:r>
              <a:rPr sz="21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MC</a:t>
            </a:r>
            <a:r>
              <a:rPr sz="2100" dirty="0" err="1">
                <a:solidFill>
                  <a:srgbClr val="000000"/>
                </a:solidFill>
                <a:latin typeface="黑体" panose="02010609060101010101" pitchFamily="49" charset="-122"/>
                <a:ea typeface="黑体" panose="02010609060101010101" pitchFamily="49" charset="-122"/>
                <a:cs typeface="Noto Sans SC"/>
              </a:rPr>
              <a:t>构象搜索</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err="1">
                <a:solidFill>
                  <a:srgbClr val="222222"/>
                </a:solidFill>
                <a:latin typeface="黑体" panose="02010609060101010101" pitchFamily="49" charset="-122"/>
                <a:ea typeface="黑体" panose="02010609060101010101" pitchFamily="49" charset="-122"/>
                <a:cs typeface="Noto Sans SC"/>
              </a:rPr>
              <a:t>改变键长、键角、二面角与局部坐标</a:t>
            </a:r>
            <a:endParaRPr sz="1725" b="0" dirty="0">
              <a:solidFill>
                <a:srgbClr val="222222"/>
              </a:solidFill>
              <a:latin typeface="黑体" panose="02010609060101010101" pitchFamily="49" charset="-122"/>
              <a:ea typeface="黑体" panose="02010609060101010101" pitchFamily="49" charset="-122"/>
              <a:cs typeface="Noto Sans SC"/>
            </a:endParaRPr>
          </a:p>
        </p:txBody>
      </p:sp>
      <p:sp>
        <p:nvSpPr>
          <p:cNvPr id="11" name="Text-Placeholder-16-12">
            <a:extLst>
              <a:ext uri="{FF2B5EF4-FFF2-40B4-BE49-F238E27FC236}">
                <a16:creationId xmlns:a16="http://schemas.microsoft.com/office/drawing/2014/main" id="{D7F37D49-5865-4694-8923-3E6336C32D39}"/>
              </a:ext>
            </a:extLst>
          </p:cNvPr>
          <p:cNvSpPr>
            <a:spLocks noGrp="1"/>
          </p:cNvSpPr>
          <p:nvPr/>
        </p:nvSpPr>
        <p:spPr>
          <a:xfrm>
            <a:off x="399859" y="3822668"/>
            <a:ext cx="3156109" cy="1586294"/>
          </a:xfrm>
          <a:prstGeom prst="rect">
            <a:avLst/>
          </a:prstGeom>
        </p:spPr>
        <p:txBody>
          <a:bodyPr lIns="0" tIns="0" rIns="0" bIns="0">
            <a:noAutofit/>
          </a:bodyPr>
          <a:lstStyle/>
          <a:p>
            <a:pPr algn="l">
              <a:lnSpc>
                <a:spcPct val="105000"/>
              </a:lnSpc>
              <a:buNone/>
              <a:defRPr sz="2400">
                <a:solidFill>
                  <a:srgbClr val="000000"/>
                </a:solidFill>
                <a:latin typeface="Helvetica Neue"/>
                <a:ea typeface="Helvetica Neue"/>
                <a:cs typeface="Helvetica Neue"/>
              </a:defRPr>
            </a:pPr>
            <a:r>
              <a:rPr sz="2100" dirty="0" err="1">
                <a:solidFill>
                  <a:srgbClr val="000000"/>
                </a:solidFill>
                <a:latin typeface="黑体" panose="02010609060101010101" pitchFamily="49" charset="-122"/>
                <a:ea typeface="黑体" panose="02010609060101010101" pitchFamily="49" charset="-122"/>
                <a:cs typeface="Noto Sans SC"/>
              </a:rPr>
              <a:t>初始全原子模型</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err="1">
                <a:solidFill>
                  <a:srgbClr val="222222"/>
                </a:solidFill>
                <a:latin typeface="黑体" panose="02010609060101010101" pitchFamily="49" charset="-122"/>
                <a:ea typeface="黑体" panose="02010609060101010101" pitchFamily="49" charset="-122"/>
                <a:cs typeface="Noto Sans SC"/>
              </a:rPr>
              <a:t>保留全局骨架作为参考</a:t>
            </a:r>
            <a:endParaRPr sz="1725" b="0" dirty="0">
              <a:solidFill>
                <a:srgbClr val="222222"/>
              </a:solidFill>
              <a:latin typeface="黑体" panose="02010609060101010101" pitchFamily="49" charset="-122"/>
              <a:ea typeface="黑体" panose="02010609060101010101" pitchFamily="49" charset="-122"/>
              <a:cs typeface="Noto Sans SC"/>
            </a:endParaRPr>
          </a:p>
        </p:txBody>
      </p:sp>
      <p:sp>
        <p:nvSpPr>
          <p:cNvPr id="12" name="Text-Placeholder-16-13">
            <a:extLst>
              <a:ext uri="{FF2B5EF4-FFF2-40B4-BE49-F238E27FC236}">
                <a16:creationId xmlns:a16="http://schemas.microsoft.com/office/drawing/2014/main" id="{A5E6F3EF-8B11-4B27-BC2B-CA87FEFCC389}"/>
              </a:ext>
            </a:extLst>
          </p:cNvPr>
          <p:cNvSpPr>
            <a:spLocks noGrp="1"/>
          </p:cNvSpPr>
          <p:nvPr/>
        </p:nvSpPr>
        <p:spPr>
          <a:xfrm>
            <a:off x="8177879" y="3822668"/>
            <a:ext cx="3156109" cy="1586294"/>
          </a:xfrm>
          <a:prstGeom prst="rect">
            <a:avLst/>
          </a:prstGeom>
        </p:spPr>
        <p:txBody>
          <a:bodyPr lIns="0" tIns="0" rIns="0" bIns="0">
            <a:noAutofit/>
          </a:bodyPr>
          <a:lstStyle/>
          <a:p>
            <a:pPr algn="l">
              <a:lnSpc>
                <a:spcPct val="105000"/>
              </a:lnSpc>
              <a:buNone/>
              <a:defRPr sz="2400">
                <a:solidFill>
                  <a:srgbClr val="000000"/>
                </a:solidFill>
                <a:latin typeface="Helvetica Neue"/>
                <a:ea typeface="Helvetica Neue"/>
                <a:cs typeface="Helvetica Neue"/>
              </a:defRPr>
            </a:pPr>
            <a:r>
              <a:rPr sz="2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a:t>
            </a:r>
            <a:r>
              <a:rPr sz="21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BFGS</a:t>
            </a:r>
            <a:r>
              <a:rPr sz="2100" dirty="0" err="1">
                <a:solidFill>
                  <a:srgbClr val="000000"/>
                </a:solidFill>
                <a:latin typeface="黑体" panose="02010609060101010101" pitchFamily="49" charset="-122"/>
                <a:ea typeface="黑体" panose="02010609060101010101" pitchFamily="49" charset="-122"/>
                <a:cs typeface="Noto Sans SC"/>
              </a:rPr>
              <a:t>最小化</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err="1">
                <a:solidFill>
                  <a:srgbClr val="222222"/>
                </a:solidFill>
                <a:latin typeface="黑体" panose="02010609060101010101" pitchFamily="49" charset="-122"/>
                <a:ea typeface="黑体" panose="02010609060101010101" pitchFamily="49" charset="-122"/>
                <a:cs typeface="Noto Sans SC"/>
              </a:rPr>
              <a:t>沿可微能量面快速优化全部原子</a:t>
            </a:r>
            <a:endParaRPr sz="1725" b="0" dirty="0">
              <a:solidFill>
                <a:srgbClr val="222222"/>
              </a:solidFill>
              <a:latin typeface="黑体" panose="02010609060101010101" pitchFamily="49" charset="-122"/>
              <a:ea typeface="黑体" panose="02010609060101010101" pitchFamily="49" charset="-122"/>
              <a:cs typeface="Noto Sans SC"/>
            </a:endParaRPr>
          </a:p>
        </p:txBody>
      </p:sp>
    </p:spTree>
    <p:extLst>
      <p:ext uri="{BB962C8B-B14F-4D97-AF65-F5344CB8AC3E}">
        <p14:creationId xmlns:p14="http://schemas.microsoft.com/office/powerpoint/2010/main" val="89783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B9464-EE77-F003-F89C-98095FA1C963}"/>
            </a:ext>
          </a:extLst>
        </p:cNvPr>
        <p:cNvGrpSpPr/>
        <p:nvPr/>
      </p:nvGrpSpPr>
      <p:grpSpPr>
        <a:xfrm>
          <a:off x="0" y="0"/>
          <a:ext cx="0" cy="0"/>
          <a:chOff x="0" y="0"/>
          <a:chExt cx="0" cy="0"/>
        </a:xfrm>
      </p:grpSpPr>
      <p:sp>
        <p:nvSpPr>
          <p:cNvPr id="4" name="Google-Shape-532-p58-2">
            <a:extLst>
              <a:ext uri="{FF2B5EF4-FFF2-40B4-BE49-F238E27FC236}">
                <a16:creationId xmlns:a16="http://schemas.microsoft.com/office/drawing/2014/main" id="{EAA5F3C8-00E3-8039-1285-020AE84993C3}"/>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4</a:t>
            </a:r>
          </a:p>
        </p:txBody>
      </p:sp>
      <p:sp>
        <p:nvSpPr>
          <p:cNvPr id="2" name="Google-Shape-533-p58-3">
            <a:extLst>
              <a:ext uri="{FF2B5EF4-FFF2-40B4-BE49-F238E27FC236}">
                <a16:creationId xmlns:a16="http://schemas.microsoft.com/office/drawing/2014/main" id="{7170DA0B-970D-C806-EEA0-1946C93465F3}"/>
              </a:ext>
            </a:extLst>
          </p:cNvPr>
          <p:cNvSpPr>
            <a:spLocks noGrp="1"/>
          </p:cNvSpPr>
          <p:nvPr/>
        </p:nvSpPr>
        <p:spPr>
          <a:xfrm>
            <a:off x="393667" y="344043"/>
            <a:ext cx="3333131" cy="619784"/>
          </a:xfrm>
          <a:prstGeom prst="rect">
            <a:avLst/>
          </a:prstGeom>
        </p:spPr>
        <p:txBody>
          <a:bodyPr wrap="square" lIns="0" tIns="0" rIns="0" bIns="0" anchor="t">
            <a:noAutofit/>
          </a:bodyPr>
          <a:lstStyle/>
          <a:p>
            <a:pPr>
              <a:lnSpc>
                <a:spcPct val="105000"/>
              </a:lnSpc>
              <a:defRPr sz="2900">
                <a:solidFill>
                  <a:srgbClr val="000000"/>
                </a:solidFill>
                <a:latin typeface="Helvetica Neue"/>
                <a:ea typeface="Helvetica Neue"/>
                <a:cs typeface="Helvetica Neue"/>
              </a:defRPr>
            </a:pPr>
            <a:r>
              <a:rPr lang="en-US" altLang="zh-CN" sz="360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Training dataset</a:t>
            </a:r>
            <a:endParaRPr sz="3600" dirty="0">
              <a:solidFill>
                <a:srgbClr val="000000"/>
              </a:solidFill>
              <a:latin typeface="Times New Roman" panose="02020603050405020304" pitchFamily="18" charset="0"/>
              <a:ea typeface="Noto Sans SC"/>
              <a:cs typeface="Times New Roman" panose="02020603050405020304" pitchFamily="18" charset="0"/>
            </a:endParaRPr>
          </a:p>
        </p:txBody>
      </p:sp>
      <p:sp>
        <p:nvSpPr>
          <p:cNvPr id="5" name="Google-Shape-534-p58-5">
            <a:extLst>
              <a:ext uri="{FF2B5EF4-FFF2-40B4-BE49-F238E27FC236}">
                <a16:creationId xmlns:a16="http://schemas.microsoft.com/office/drawing/2014/main" id="{957CAE26-9FBA-C769-0C0A-C5D18934CD1B}"/>
              </a:ext>
            </a:extLst>
          </p:cNvPr>
          <p:cNvSpPr>
            <a:spLocks noGrp="1"/>
          </p:cNvSpPr>
          <p:nvPr/>
        </p:nvSpPr>
        <p:spPr>
          <a:xfrm>
            <a:off x="393667" y="1310333"/>
            <a:ext cx="13490385" cy="404785"/>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lang="en-US" sz="1725"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The training dataset of </a:t>
            </a:r>
            <a:r>
              <a:rPr lang="en-US" sz="1725" dirty="0" err="1">
                <a:solidFill>
                  <a:srgbClr val="222222"/>
                </a:solidFill>
                <a:latin typeface="Times New Roman" panose="02020603050405020304" pitchFamily="18" charset="0"/>
                <a:ea typeface="黑体" panose="02010609060101010101" pitchFamily="49" charset="-122"/>
                <a:cs typeface="Times New Roman" panose="02020603050405020304" pitchFamily="18" charset="0"/>
              </a:rPr>
              <a:t>DRfold</a:t>
            </a:r>
            <a:r>
              <a:rPr lang="en-US" sz="1725"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725" dirty="0">
                <a:solidFill>
                  <a:srgbClr val="222222"/>
                </a:solidFill>
                <a:latin typeface="黑体" panose="02010609060101010101" pitchFamily="49" charset="-122"/>
                <a:ea typeface="黑体" panose="02010609060101010101" pitchFamily="49" charset="-122"/>
                <a:cs typeface="Times New Roman" panose="02020603050405020304" pitchFamily="18" charset="0"/>
              </a:rPr>
              <a:t>用于训练碱基配对和碱基堆积相互作用预测模型</a:t>
            </a:r>
            <a:r>
              <a:rPr lang="en-US" altLang="zh-CN" sz="1725" dirty="0">
                <a:solidFill>
                  <a:srgbClr val="222222"/>
                </a:solidFill>
                <a:latin typeface="黑体" panose="02010609060101010101" pitchFamily="49" charset="-122"/>
                <a:ea typeface="黑体" panose="02010609060101010101" pitchFamily="49" charset="-122"/>
                <a:cs typeface="Times New Roman" panose="02020603050405020304" pitchFamily="18" charset="0"/>
              </a:rPr>
              <a:t>+</a:t>
            </a:r>
            <a:r>
              <a:rPr lang="zh-CN" altLang="en-US" sz="1725" dirty="0">
                <a:solidFill>
                  <a:srgbClr val="222222"/>
                </a:solidFill>
                <a:latin typeface="黑体" panose="02010609060101010101" pitchFamily="49" charset="-122"/>
                <a:ea typeface="黑体" panose="02010609060101010101" pitchFamily="49" charset="-122"/>
                <a:cs typeface="Times New Roman" panose="02020603050405020304" pitchFamily="18" charset="0"/>
              </a:rPr>
              <a:t>生成结构片段与统计参数</a:t>
            </a:r>
            <a:r>
              <a:rPr lang="en-US" altLang="zh-CN" sz="110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(3864 from PDB before 2021)</a:t>
            </a:r>
          </a:p>
          <a:p>
            <a:pPr algn="l">
              <a:lnSpc>
                <a:spcPct val="105000"/>
              </a:lnSpc>
              <a:buNone/>
              <a:defRPr sz="2400">
                <a:solidFill>
                  <a:srgbClr val="000000"/>
                </a:solidFill>
                <a:latin typeface="Helvetica Neue"/>
                <a:ea typeface="Helvetica Neue"/>
                <a:cs typeface="Helvetica Neue"/>
              </a:defRPr>
            </a:pPr>
            <a:endParaRPr lang="en-US" sz="1100"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endParaRPr>
          </a:p>
          <a:p>
            <a:pPr algn="l">
              <a:lnSpc>
                <a:spcPct val="105000"/>
              </a:lnSpc>
              <a:buNone/>
              <a:defRPr sz="2400">
                <a:solidFill>
                  <a:srgbClr val="000000"/>
                </a:solidFill>
                <a:latin typeface="Helvetica Neue"/>
                <a:ea typeface="Helvetica Neue"/>
                <a:cs typeface="Helvetica Neue"/>
              </a:defRPr>
            </a:pPr>
            <a:r>
              <a:rPr sz="1725" b="0" dirty="0">
                <a:solidFill>
                  <a:srgbClr val="222222"/>
                </a:solidFill>
                <a:latin typeface="Noto Sans SC"/>
                <a:ea typeface="Noto Sans SC"/>
                <a:cs typeface="Noto Sans SC"/>
              </a:rPr>
              <a:t>
</a:t>
            </a:r>
            <a:endParaRPr sz="1725" b="0" dirty="0">
              <a:solidFill>
                <a:srgbClr val="222222"/>
              </a:solidFill>
              <a:latin typeface="黑体" panose="02010609060101010101" pitchFamily="49" charset="-122"/>
              <a:ea typeface="黑体" panose="02010609060101010101" pitchFamily="49" charset="-122"/>
              <a:cs typeface="Noto Sans SC"/>
            </a:endParaRPr>
          </a:p>
        </p:txBody>
      </p:sp>
      <p:sp>
        <p:nvSpPr>
          <p:cNvPr id="13" name="文本框 12">
            <a:extLst>
              <a:ext uri="{FF2B5EF4-FFF2-40B4-BE49-F238E27FC236}">
                <a16:creationId xmlns:a16="http://schemas.microsoft.com/office/drawing/2014/main" id="{67C20726-E510-F917-517E-57EF54B9F538}"/>
              </a:ext>
            </a:extLst>
          </p:cNvPr>
          <p:cNvSpPr txBox="1"/>
          <p:nvPr/>
        </p:nvSpPr>
        <p:spPr>
          <a:xfrm>
            <a:off x="746350" y="2691900"/>
            <a:ext cx="1171420"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碱基配对</a:t>
            </a:r>
          </a:p>
        </p:txBody>
      </p:sp>
      <p:sp>
        <p:nvSpPr>
          <p:cNvPr id="15" name="文本框 14">
            <a:extLst>
              <a:ext uri="{FF2B5EF4-FFF2-40B4-BE49-F238E27FC236}">
                <a16:creationId xmlns:a16="http://schemas.microsoft.com/office/drawing/2014/main" id="{0B742212-510D-C01A-0032-C454E3FAB5E3}"/>
              </a:ext>
            </a:extLst>
          </p:cNvPr>
          <p:cNvSpPr txBox="1"/>
          <p:nvPr/>
        </p:nvSpPr>
        <p:spPr>
          <a:xfrm>
            <a:off x="746350" y="4881605"/>
            <a:ext cx="1171420" cy="369332"/>
          </a:xfrm>
          <a:prstGeom prst="rect">
            <a:avLst/>
          </a:prstGeom>
          <a:noFill/>
        </p:spPr>
        <p:txBody>
          <a:bodyPr wrap="square" rtlCol="0">
            <a:spAutoFit/>
          </a:bodyPr>
          <a:lstStyle/>
          <a:p>
            <a:r>
              <a:rPr lang="zh-CN" altLang="en-US" dirty="0"/>
              <a:t>碱基堆叠</a:t>
            </a:r>
          </a:p>
        </p:txBody>
      </p:sp>
      <p:sp>
        <p:nvSpPr>
          <p:cNvPr id="18" name="左大括号 17">
            <a:extLst>
              <a:ext uri="{FF2B5EF4-FFF2-40B4-BE49-F238E27FC236}">
                <a16:creationId xmlns:a16="http://schemas.microsoft.com/office/drawing/2014/main" id="{6FBA4D96-E51C-4563-2DEA-91063F781230}"/>
              </a:ext>
            </a:extLst>
          </p:cNvPr>
          <p:cNvSpPr/>
          <p:nvPr/>
        </p:nvSpPr>
        <p:spPr>
          <a:xfrm>
            <a:off x="1883169" y="2187059"/>
            <a:ext cx="316333" cy="137901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99720571-8FE1-75F9-3767-1B04BC84A32B}"/>
              </a:ext>
            </a:extLst>
          </p:cNvPr>
          <p:cNvSpPr txBox="1"/>
          <p:nvPr/>
        </p:nvSpPr>
        <p:spPr>
          <a:xfrm>
            <a:off x="2253871" y="2002393"/>
            <a:ext cx="3919565"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正样本</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被</a:t>
            </a:r>
            <a:r>
              <a:rPr lang="zh-CN" altLang="zh-CN" dirty="0">
                <a:latin typeface="Times New Roman" panose="02020603050405020304" pitchFamily="18" charset="0"/>
                <a:ea typeface="黑体" panose="02010609060101010101" pitchFamily="49" charset="-122"/>
                <a:cs typeface="Times New Roman" panose="02020603050405020304" pitchFamily="18" charset="0"/>
              </a:rPr>
              <a:t>ClaRNA</a:t>
            </a:r>
            <a:r>
              <a:rPr lang="zh-CN" altLang="en-US" dirty="0">
                <a:latin typeface="黑体" panose="02010609060101010101" pitchFamily="49" charset="-122"/>
                <a:ea typeface="黑体" panose="02010609060101010101" pitchFamily="49" charset="-122"/>
              </a:rPr>
              <a:t>判定为碱基配对</a:t>
            </a:r>
          </a:p>
        </p:txBody>
      </p:sp>
      <p:sp>
        <p:nvSpPr>
          <p:cNvPr id="20" name="文本框 19">
            <a:extLst>
              <a:ext uri="{FF2B5EF4-FFF2-40B4-BE49-F238E27FC236}">
                <a16:creationId xmlns:a16="http://schemas.microsoft.com/office/drawing/2014/main" id="{68AED15E-DF6B-0E0B-7505-07A4AEE97377}"/>
              </a:ext>
            </a:extLst>
          </p:cNvPr>
          <p:cNvSpPr txBox="1"/>
          <p:nvPr/>
        </p:nvSpPr>
        <p:spPr>
          <a:xfrm>
            <a:off x="2199500" y="3381407"/>
            <a:ext cx="7977525"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负样本</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没有被</a:t>
            </a:r>
            <a:r>
              <a:rPr lang="zh-CN" altLang="zh-CN" dirty="0">
                <a:latin typeface="Times New Roman" panose="02020603050405020304" pitchFamily="18" charset="0"/>
                <a:ea typeface="黑体" panose="02010609060101010101" pitchFamily="49" charset="-122"/>
                <a:cs typeface="Times New Roman" panose="02020603050405020304" pitchFamily="18" charset="0"/>
              </a:rPr>
              <a:t>ClaRNA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判定为碱基配对 </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C4’</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距离小于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20Å</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latin typeface="Times New Roman" panose="02020603050405020304" pitchFamily="18" charset="0"/>
                <a:ea typeface="黑体" panose="02010609060101010101" pitchFamily="49" charset="-122"/>
                <a:cs typeface="Times New Roman" panose="02020603050405020304" pitchFamily="18" charset="0"/>
              </a:rPr>
              <a:t>-j</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要大于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 </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左大括号 21">
            <a:extLst>
              <a:ext uri="{FF2B5EF4-FFF2-40B4-BE49-F238E27FC236}">
                <a16:creationId xmlns:a16="http://schemas.microsoft.com/office/drawing/2014/main" id="{E301EFF4-D781-3BF1-4356-4634F6177D84}"/>
              </a:ext>
            </a:extLst>
          </p:cNvPr>
          <p:cNvSpPr/>
          <p:nvPr/>
        </p:nvSpPr>
        <p:spPr>
          <a:xfrm>
            <a:off x="1813970" y="4171642"/>
            <a:ext cx="385530" cy="178925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DA752E6-A262-FB55-7B48-4C972B9D7D61}"/>
              </a:ext>
            </a:extLst>
          </p:cNvPr>
          <p:cNvSpPr txBox="1"/>
          <p:nvPr/>
        </p:nvSpPr>
        <p:spPr>
          <a:xfrm>
            <a:off x="2199500" y="3986976"/>
            <a:ext cx="3919565"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正样本</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被</a:t>
            </a:r>
            <a:r>
              <a:rPr lang="zh-CN" altLang="zh-CN" dirty="0">
                <a:latin typeface="Times New Roman" panose="02020603050405020304" pitchFamily="18" charset="0"/>
                <a:ea typeface="黑体" panose="02010609060101010101" pitchFamily="49" charset="-122"/>
                <a:cs typeface="Times New Roman" panose="02020603050405020304" pitchFamily="18" charset="0"/>
              </a:rPr>
              <a:t>ClaRNA</a:t>
            </a:r>
            <a:r>
              <a:rPr lang="zh-CN" altLang="en-US" dirty="0">
                <a:latin typeface="黑体" panose="02010609060101010101" pitchFamily="49" charset="-122"/>
                <a:ea typeface="黑体" panose="02010609060101010101" pitchFamily="49" charset="-122"/>
              </a:rPr>
              <a:t>判定为碱基堆叠</a:t>
            </a:r>
          </a:p>
        </p:txBody>
      </p:sp>
      <p:sp>
        <p:nvSpPr>
          <p:cNvPr id="26" name="文本框 25">
            <a:extLst>
              <a:ext uri="{FF2B5EF4-FFF2-40B4-BE49-F238E27FC236}">
                <a16:creationId xmlns:a16="http://schemas.microsoft.com/office/drawing/2014/main" id="{60F76362-1CF8-965E-3ABA-9727AC4D5B23}"/>
              </a:ext>
            </a:extLst>
          </p:cNvPr>
          <p:cNvSpPr txBox="1"/>
          <p:nvPr/>
        </p:nvSpPr>
        <p:spPr>
          <a:xfrm>
            <a:off x="2253871" y="5776234"/>
            <a:ext cx="7977525"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负样本</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没有被</a:t>
            </a:r>
            <a:r>
              <a:rPr lang="zh-CN" altLang="zh-CN" dirty="0">
                <a:latin typeface="Times New Roman" panose="02020603050405020304" pitchFamily="18" charset="0"/>
                <a:ea typeface="黑体" panose="02010609060101010101" pitchFamily="49" charset="-122"/>
                <a:cs typeface="Times New Roman" panose="02020603050405020304" pitchFamily="18" charset="0"/>
              </a:rPr>
              <a:t>ClaRNA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判定为碱基堆叠</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C4’</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距离小于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15Å</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7881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F30BD-7A51-058D-5B71-D46089D09C0C}"/>
            </a:ext>
          </a:extLst>
        </p:cNvPr>
        <p:cNvGrpSpPr/>
        <p:nvPr/>
      </p:nvGrpSpPr>
      <p:grpSpPr>
        <a:xfrm>
          <a:off x="0" y="0"/>
          <a:ext cx="0" cy="0"/>
          <a:chOff x="0" y="0"/>
          <a:chExt cx="0" cy="0"/>
        </a:xfrm>
      </p:grpSpPr>
      <p:sp>
        <p:nvSpPr>
          <p:cNvPr id="4" name="Google-Shape-532-p58-2">
            <a:extLst>
              <a:ext uri="{FF2B5EF4-FFF2-40B4-BE49-F238E27FC236}">
                <a16:creationId xmlns:a16="http://schemas.microsoft.com/office/drawing/2014/main" id="{32458FAB-64A0-82DC-8A06-373F4ADD5B56}"/>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4</a:t>
            </a:r>
          </a:p>
        </p:txBody>
      </p:sp>
      <p:sp>
        <p:nvSpPr>
          <p:cNvPr id="2" name="Google-Shape-533-p58-3">
            <a:extLst>
              <a:ext uri="{FF2B5EF4-FFF2-40B4-BE49-F238E27FC236}">
                <a16:creationId xmlns:a16="http://schemas.microsoft.com/office/drawing/2014/main" id="{42429F29-8AF9-BA01-F30B-E5402FAC7DB9}"/>
              </a:ext>
            </a:extLst>
          </p:cNvPr>
          <p:cNvSpPr>
            <a:spLocks noGrp="1"/>
          </p:cNvSpPr>
          <p:nvPr/>
        </p:nvSpPr>
        <p:spPr>
          <a:xfrm>
            <a:off x="393667" y="344043"/>
            <a:ext cx="3333131" cy="619784"/>
          </a:xfrm>
          <a:prstGeom prst="rect">
            <a:avLst/>
          </a:prstGeom>
        </p:spPr>
        <p:txBody>
          <a:bodyPr wrap="square" lIns="0" tIns="0" rIns="0" bIns="0" anchor="t">
            <a:noAutofit/>
          </a:bodyPr>
          <a:lstStyle/>
          <a:p>
            <a:pPr>
              <a:lnSpc>
                <a:spcPct val="105000"/>
              </a:lnSpc>
              <a:defRPr sz="2900">
                <a:solidFill>
                  <a:srgbClr val="000000"/>
                </a:solidFill>
                <a:latin typeface="Helvetica Neue"/>
                <a:ea typeface="Helvetica Neue"/>
                <a:cs typeface="Helvetica Neue"/>
              </a:defRPr>
            </a:pPr>
            <a:r>
              <a:rPr lang="en-US" altLang="zh-CN" sz="360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Training dataset</a:t>
            </a:r>
            <a:endParaRPr sz="3600" dirty="0">
              <a:solidFill>
                <a:srgbClr val="000000"/>
              </a:solidFill>
              <a:latin typeface="Times New Roman" panose="02020603050405020304" pitchFamily="18" charset="0"/>
              <a:ea typeface="Noto Sans SC"/>
              <a:cs typeface="Times New Roman" panose="02020603050405020304" pitchFamily="18" charset="0"/>
            </a:endParaRPr>
          </a:p>
        </p:txBody>
      </p:sp>
      <p:sp>
        <p:nvSpPr>
          <p:cNvPr id="5" name="Google-Shape-534-p58-5">
            <a:extLst>
              <a:ext uri="{FF2B5EF4-FFF2-40B4-BE49-F238E27FC236}">
                <a16:creationId xmlns:a16="http://schemas.microsoft.com/office/drawing/2014/main" id="{D5A135E7-FB10-C592-D0D2-F8088B0A27D4}"/>
              </a:ext>
            </a:extLst>
          </p:cNvPr>
          <p:cNvSpPr>
            <a:spLocks noGrp="1"/>
          </p:cNvSpPr>
          <p:nvPr/>
        </p:nvSpPr>
        <p:spPr>
          <a:xfrm>
            <a:off x="393667" y="1310333"/>
            <a:ext cx="13490385" cy="404785"/>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lang="en-US" sz="1725"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The training dataset of </a:t>
            </a:r>
            <a:r>
              <a:rPr lang="en-US" sz="1725" dirty="0" err="1">
                <a:solidFill>
                  <a:srgbClr val="222222"/>
                </a:solidFill>
                <a:latin typeface="Times New Roman" panose="02020603050405020304" pitchFamily="18" charset="0"/>
                <a:ea typeface="黑体" panose="02010609060101010101" pitchFamily="49" charset="-122"/>
                <a:cs typeface="Times New Roman" panose="02020603050405020304" pitchFamily="18" charset="0"/>
              </a:rPr>
              <a:t>DRfold</a:t>
            </a:r>
            <a:r>
              <a:rPr lang="en-US" sz="1725"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725" dirty="0">
                <a:solidFill>
                  <a:srgbClr val="222222"/>
                </a:solidFill>
                <a:latin typeface="黑体" panose="02010609060101010101" pitchFamily="49" charset="-122"/>
                <a:ea typeface="黑体" panose="02010609060101010101" pitchFamily="49" charset="-122"/>
                <a:cs typeface="Times New Roman" panose="02020603050405020304" pitchFamily="18" charset="0"/>
              </a:rPr>
              <a:t>用于训练碱基配对和碱基堆积相互作用预测模型</a:t>
            </a:r>
            <a:r>
              <a:rPr lang="en-US" altLang="zh-CN" sz="1725" dirty="0">
                <a:solidFill>
                  <a:srgbClr val="222222"/>
                </a:solidFill>
                <a:latin typeface="黑体" panose="02010609060101010101" pitchFamily="49" charset="-122"/>
                <a:ea typeface="黑体" panose="02010609060101010101" pitchFamily="49" charset="-122"/>
                <a:cs typeface="Times New Roman" panose="02020603050405020304" pitchFamily="18" charset="0"/>
              </a:rPr>
              <a:t>+</a:t>
            </a:r>
            <a:r>
              <a:rPr lang="zh-CN" altLang="en-US" sz="1725" dirty="0">
                <a:solidFill>
                  <a:srgbClr val="222222"/>
                </a:solidFill>
                <a:latin typeface="黑体" panose="02010609060101010101" pitchFamily="49" charset="-122"/>
                <a:ea typeface="黑体" panose="02010609060101010101" pitchFamily="49" charset="-122"/>
                <a:cs typeface="Times New Roman" panose="02020603050405020304" pitchFamily="18" charset="0"/>
              </a:rPr>
              <a:t>生成结构片段与统计参数</a:t>
            </a:r>
            <a:r>
              <a:rPr lang="en-US" altLang="zh-CN" sz="110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(3864 from PDB before 2021)</a:t>
            </a:r>
          </a:p>
          <a:p>
            <a:pPr algn="l">
              <a:lnSpc>
                <a:spcPct val="105000"/>
              </a:lnSpc>
              <a:buNone/>
              <a:defRPr sz="2400">
                <a:solidFill>
                  <a:srgbClr val="000000"/>
                </a:solidFill>
                <a:latin typeface="Helvetica Neue"/>
                <a:ea typeface="Helvetica Neue"/>
                <a:cs typeface="Helvetica Neue"/>
              </a:defRPr>
            </a:pPr>
            <a:endParaRPr lang="en-US" sz="1100"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endParaRPr>
          </a:p>
          <a:p>
            <a:pPr algn="l">
              <a:lnSpc>
                <a:spcPct val="105000"/>
              </a:lnSpc>
              <a:buNone/>
              <a:defRPr sz="2400">
                <a:solidFill>
                  <a:srgbClr val="000000"/>
                </a:solidFill>
                <a:latin typeface="Helvetica Neue"/>
                <a:ea typeface="Helvetica Neue"/>
                <a:cs typeface="Helvetica Neue"/>
              </a:defRPr>
            </a:pPr>
            <a:r>
              <a:rPr sz="1725" b="0" dirty="0">
                <a:solidFill>
                  <a:srgbClr val="222222"/>
                </a:solidFill>
                <a:latin typeface="Noto Sans SC"/>
                <a:ea typeface="Noto Sans SC"/>
                <a:cs typeface="Noto Sans SC"/>
              </a:rPr>
              <a:t>
</a:t>
            </a:r>
            <a:endParaRPr sz="1725" b="0" dirty="0">
              <a:solidFill>
                <a:srgbClr val="222222"/>
              </a:solidFill>
              <a:latin typeface="黑体" panose="02010609060101010101" pitchFamily="49" charset="-122"/>
              <a:ea typeface="黑体" panose="02010609060101010101" pitchFamily="49" charset="-122"/>
              <a:cs typeface="Noto Sans SC"/>
            </a:endParaRPr>
          </a:p>
        </p:txBody>
      </p:sp>
      <p:sp>
        <p:nvSpPr>
          <p:cNvPr id="3" name="文本框 2">
            <a:extLst>
              <a:ext uri="{FF2B5EF4-FFF2-40B4-BE49-F238E27FC236}">
                <a16:creationId xmlns:a16="http://schemas.microsoft.com/office/drawing/2014/main" id="{EDAAC590-86CF-2BCD-484B-86AD8EB2C921}"/>
              </a:ext>
            </a:extLst>
          </p:cNvPr>
          <p:cNvSpPr txBox="1"/>
          <p:nvPr/>
        </p:nvSpPr>
        <p:spPr>
          <a:xfrm>
            <a:off x="393667" y="1813972"/>
            <a:ext cx="226056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结构片段与统计参数</a:t>
            </a:r>
          </a:p>
        </p:txBody>
      </p:sp>
      <p:sp>
        <p:nvSpPr>
          <p:cNvPr id="6" name="文本框 5">
            <a:extLst>
              <a:ext uri="{FF2B5EF4-FFF2-40B4-BE49-F238E27FC236}">
                <a16:creationId xmlns:a16="http://schemas.microsoft.com/office/drawing/2014/main" id="{87FFFF65-1E29-0E4C-4B41-E02B219FC09C}"/>
              </a:ext>
            </a:extLst>
          </p:cNvPr>
          <p:cNvSpPr txBox="1"/>
          <p:nvPr/>
        </p:nvSpPr>
        <p:spPr>
          <a:xfrm>
            <a:off x="215730" y="3612015"/>
            <a:ext cx="431178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Resolution&lt;=2.5Å from the training dataset</a:t>
            </a:r>
            <a:endParaRPr lang="zh-CN" altLang="en-US" dirty="0">
              <a:latin typeface="Times New Roman" panose="02020603050405020304" pitchFamily="18" charset="0"/>
              <a:cs typeface="Times New Roman" panose="02020603050405020304" pitchFamily="18" charset="0"/>
            </a:endParaRPr>
          </a:p>
        </p:txBody>
      </p:sp>
      <p:sp>
        <p:nvSpPr>
          <p:cNvPr id="7" name="左大括号 6">
            <a:extLst>
              <a:ext uri="{FF2B5EF4-FFF2-40B4-BE49-F238E27FC236}">
                <a16:creationId xmlns:a16="http://schemas.microsoft.com/office/drawing/2014/main" id="{9EA9BFE6-8E85-156D-4C76-1901E78A0836}"/>
              </a:ext>
            </a:extLst>
          </p:cNvPr>
          <p:cNvSpPr/>
          <p:nvPr/>
        </p:nvSpPr>
        <p:spPr>
          <a:xfrm>
            <a:off x="4527516" y="2266914"/>
            <a:ext cx="163109" cy="305953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E7F195A-5D0B-ABFD-C300-3F88EB4213F2}"/>
              </a:ext>
            </a:extLst>
          </p:cNvPr>
          <p:cNvSpPr txBox="1"/>
          <p:nvPr/>
        </p:nvSpPr>
        <p:spPr>
          <a:xfrm>
            <a:off x="4690625" y="2061624"/>
            <a:ext cx="7834184" cy="338554"/>
          </a:xfrm>
          <a:prstGeom prst="rect">
            <a:avLst/>
          </a:prstGeom>
          <a:noFill/>
        </p:spPr>
        <p:txBody>
          <a:bodyPr wrap="squar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statistical parameters for bond lengths, bond angles, torsion angles, and hydrogen bonding</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381ADF44-E66C-2716-BDF9-B7071A3CA8E0}"/>
              </a:ext>
            </a:extLst>
          </p:cNvPr>
          <p:cNvSpPr txBox="1"/>
          <p:nvPr/>
        </p:nvSpPr>
        <p:spPr>
          <a:xfrm>
            <a:off x="4690624" y="5141781"/>
            <a:ext cx="769084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structure fragments for base-pairs, base-stacking, and single nucleotides     150  50  150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7618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Number-Placeholder-1-4">
            <a:extLst>
              <a:ext uri="{FF2B5EF4-FFF2-40B4-BE49-F238E27FC236}">
                <a16:creationId xmlns:a16="http://schemas.microsoft.com/office/drawing/2014/main" id="{3D62DB60-324D-4247-B203-1DA4A225EC79}"/>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10</a:t>
            </a:r>
          </a:p>
        </p:txBody>
      </p:sp>
      <p:sp>
        <p:nvSpPr>
          <p:cNvPr id="5" name="Title-2-5">
            <a:extLst>
              <a:ext uri="{FF2B5EF4-FFF2-40B4-BE49-F238E27FC236}">
                <a16:creationId xmlns:a16="http://schemas.microsoft.com/office/drawing/2014/main" id="{F5038ED0-7048-44E8-A3D3-0EFF52ACB2D9}"/>
              </a:ext>
            </a:extLst>
          </p:cNvPr>
          <p:cNvSpPr>
            <a:spLocks noGrp="1"/>
          </p:cNvSpPr>
          <p:nvPr/>
        </p:nvSpPr>
        <p:spPr>
          <a:xfrm>
            <a:off x="393668" y="344043"/>
            <a:ext cx="11404568" cy="1047464"/>
          </a:xfrm>
          <a:prstGeom prst="rect">
            <a:avLst/>
          </a:prstGeom>
        </p:spPr>
        <p:txBody>
          <a:bodyPr lIns="0" tIns="0" rIns="0" bIns="0" anchor="t">
            <a:normAutofit/>
          </a:bodyPr>
          <a:lstStyle/>
          <a:p>
            <a:pPr algn="l">
              <a:lnSpc>
                <a:spcPct val="105000"/>
              </a:lnSpc>
              <a:buNone/>
              <a:defRPr sz="2900">
                <a:solidFill>
                  <a:srgbClr val="000000"/>
                </a:solidFill>
                <a:latin typeface="Helvetica Neue"/>
                <a:ea typeface="Helvetica Neue"/>
                <a:cs typeface="Helvetica Neue"/>
              </a:defRPr>
            </a:pPr>
            <a:endParaRPr sz="3600" b="0" dirty="0">
              <a:solidFill>
                <a:srgbClr val="000000"/>
              </a:solidFill>
              <a:latin typeface="黑体" panose="02010609060101010101" pitchFamily="49" charset="-122"/>
              <a:ea typeface="黑体" panose="02010609060101010101" pitchFamily="49" charset="-122"/>
              <a:cs typeface="Noto Sans SC"/>
            </a:endParaRPr>
          </a:p>
        </p:txBody>
      </p:sp>
      <p:sp>
        <p:nvSpPr>
          <p:cNvPr id="14" name="文本框 13">
            <a:extLst>
              <a:ext uri="{FF2B5EF4-FFF2-40B4-BE49-F238E27FC236}">
                <a16:creationId xmlns:a16="http://schemas.microsoft.com/office/drawing/2014/main" id="{61B9350B-EB7E-265C-0FA0-FBB7033638A7}"/>
              </a:ext>
            </a:extLst>
          </p:cNvPr>
          <p:cNvSpPr txBox="1"/>
          <p:nvPr/>
        </p:nvSpPr>
        <p:spPr>
          <a:xfrm>
            <a:off x="265157" y="344043"/>
            <a:ext cx="4005337" cy="646331"/>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Three test datasets</a:t>
            </a:r>
            <a:endParaRPr lang="zh-CN" altLang="en-US" sz="36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5DCB9202-A1E4-A0F2-3B6D-999E099FE898}"/>
              </a:ext>
            </a:extLst>
          </p:cNvPr>
          <p:cNvSpPr txBox="1"/>
          <p:nvPr/>
        </p:nvSpPr>
        <p:spPr>
          <a:xfrm>
            <a:off x="393668" y="1255446"/>
            <a:ext cx="11221683" cy="3693319"/>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benchmark dataset in this study</a:t>
            </a:r>
            <a:r>
              <a:rPr lang="en-US" altLang="zh-CN" dirty="0">
                <a:latin typeface="Times New Roman" panose="02020603050405020304" pitchFamily="18" charset="0"/>
                <a:cs typeface="Times New Roman" panose="02020603050405020304" pitchFamily="18" charset="0"/>
              </a:rPr>
              <a:t>   63 </a:t>
            </a:r>
            <a:r>
              <a:rPr lang="zh-CN" altLang="zh-CN" dirty="0">
                <a:latin typeface="Times New Roman" panose="02020603050405020304" pitchFamily="18" charset="0"/>
                <a:cs typeface="Times New Roman" panose="02020603050405020304" pitchFamily="18" charset="0"/>
              </a:rPr>
              <a:t>RNA structures</a:t>
            </a:r>
            <a:r>
              <a:rPr lang="en-US" altLang="zh-CN" dirty="0">
                <a:latin typeface="Times New Roman" panose="02020603050405020304" pitchFamily="18" charset="0"/>
                <a:cs typeface="Times New Roman" panose="02020603050405020304" pitchFamily="18" charset="0"/>
              </a:rPr>
              <a:t> from PDB after 2022    sequences length:32-395</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2.</a:t>
            </a:r>
            <a:r>
              <a:rPr lang="zh-CN" altLang="zh-CN" dirty="0">
                <a:latin typeface="Times New Roman" panose="02020603050405020304" pitchFamily="18" charset="0"/>
                <a:cs typeface="Times New Roman" panose="02020603050405020304" pitchFamily="18" charset="0"/>
              </a:rPr>
              <a:t>Cryo-EM dataset</a:t>
            </a:r>
            <a:r>
              <a:rPr lang="en-US" altLang="zh-CN" dirty="0">
                <a:latin typeface="Times New Roman" panose="02020603050405020304" pitchFamily="18" charset="0"/>
                <a:cs typeface="Times New Roman" panose="02020603050405020304" pitchFamily="18" charset="0"/>
              </a:rPr>
              <a:t>                         15 RNA structures  from  </a:t>
            </a:r>
            <a:r>
              <a:rPr lang="zh-CN" altLang="zh-CN" dirty="0">
                <a:latin typeface="Times New Roman" panose="02020603050405020304" pitchFamily="18" charset="0"/>
                <a:cs typeface="Times New Roman" panose="02020603050405020304" pitchFamily="18" charset="0"/>
              </a:rPr>
              <a:t>a subset of the EMRNA test dataset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3.</a:t>
            </a:r>
            <a:r>
              <a:rPr lang="zh-CN" altLang="zh-CN" dirty="0">
                <a:latin typeface="Times New Roman" panose="02020603050405020304" pitchFamily="18" charset="0"/>
                <a:cs typeface="Times New Roman" panose="02020603050405020304" pitchFamily="18" charset="0"/>
              </a:rPr>
              <a:t>CASP16 dataset</a:t>
            </a: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16 RNA monomer targets</a:t>
            </a:r>
            <a:r>
              <a:rPr lang="en-US" altLang="zh-CN" dirty="0">
                <a:latin typeface="Times New Roman" panose="02020603050405020304" pitchFamily="18" charset="0"/>
                <a:cs typeface="Times New Roman" panose="02020603050405020304" pitchFamily="18" charset="0"/>
              </a:rPr>
              <a:t> from </a:t>
            </a:r>
            <a:r>
              <a:rPr lang="zh-CN" altLang="zh-CN" dirty="0">
                <a:latin typeface="Times New Roman" panose="02020603050405020304" pitchFamily="18" charset="0"/>
                <a:cs typeface="Times New Roman" panose="02020603050405020304" pitchFamily="18" charset="0"/>
              </a:rPr>
              <a:t>a subset of monomer targets from CASP16</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0436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EB3304C7-2FF4-4944-92E8-42FCA3106D9A}"/>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12</a:t>
            </a:r>
          </a:p>
        </p:txBody>
      </p:sp>
      <p:sp>
        <p:nvSpPr>
          <p:cNvPr id="2" name="Google-Shape-533-p58-3">
            <a:extLst>
              <a:ext uri="{FF2B5EF4-FFF2-40B4-BE49-F238E27FC236}">
                <a16:creationId xmlns:a16="http://schemas.microsoft.com/office/drawing/2014/main" id="{7AD2C432-78A9-43E1-8181-CEB455B04105}"/>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dirty="0" err="1">
                <a:solidFill>
                  <a:srgbClr val="000000"/>
                </a:solidFill>
                <a:latin typeface="黑体" panose="02010609060101010101" pitchFamily="49" charset="-122"/>
                <a:ea typeface="黑体" panose="02010609060101010101" pitchFamily="49" charset="-122"/>
                <a:cs typeface="Noto Sans SC"/>
              </a:rPr>
              <a:t>粗粒度输入提升畸变鲁棒性</a:t>
            </a:r>
            <a:endParaRPr sz="3600" b="0" dirty="0">
              <a:solidFill>
                <a:srgbClr val="000000"/>
              </a:solidFill>
              <a:latin typeface="黑体" panose="02010609060101010101" pitchFamily="49" charset="-122"/>
              <a:ea typeface="黑体" panose="02010609060101010101" pitchFamily="49" charset="-122"/>
              <a:cs typeface="Noto Sans SC"/>
            </a:endParaRPr>
          </a:p>
        </p:txBody>
      </p:sp>
      <p:sp>
        <p:nvSpPr>
          <p:cNvPr id="5" name="Google-Shape-534-p58-5">
            <a:extLst>
              <a:ext uri="{FF2B5EF4-FFF2-40B4-BE49-F238E27FC236}">
                <a16:creationId xmlns:a16="http://schemas.microsoft.com/office/drawing/2014/main" id="{877C2FB5-1E8C-4E3B-B830-F190440605C7}"/>
              </a:ext>
            </a:extLst>
          </p:cNvPr>
          <p:cNvSpPr>
            <a:spLocks noGrp="1"/>
          </p:cNvSpPr>
          <p:nvPr/>
        </p:nvSpPr>
        <p:spPr>
          <a:xfrm>
            <a:off x="383191" y="1251020"/>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dirty="0" err="1">
                <a:solidFill>
                  <a:srgbClr val="000000"/>
                </a:solidFill>
                <a:latin typeface="黑体" panose="02010609060101010101" pitchFamily="49" charset="-122"/>
                <a:ea typeface="黑体" panose="02010609060101010101" pitchFamily="49" charset="-122"/>
                <a:cs typeface="Noto Sans SC"/>
              </a:rPr>
              <a:t>关键对比</a:t>
            </a:r>
            <a:r>
              <a:rPr sz="2100" b="1" dirty="0">
                <a:solidFill>
                  <a:srgbClr val="000000"/>
                </a:solidFill>
                <a:latin typeface="Noto Sans SC"/>
                <a:ea typeface="Noto Sans SC"/>
                <a:cs typeface="Noto Sans SC"/>
              </a:rPr>
              <a:t>
</a:t>
            </a:r>
          </a:p>
          <a:p>
            <a:pPr algn="l">
              <a:lnSpc>
                <a:spcPct val="105000"/>
              </a:lnSpc>
              <a:buNone/>
              <a:defRPr sz="2400">
                <a:solidFill>
                  <a:srgbClr val="000000"/>
                </a:solidFill>
                <a:latin typeface="Helvetica Neue"/>
                <a:ea typeface="Helvetica Neue"/>
                <a:cs typeface="Helvetica Neue"/>
              </a:defRPr>
            </a:pPr>
            <a:r>
              <a:rPr sz="1725" b="0" dirty="0" err="1">
                <a:solidFill>
                  <a:srgbClr val="222222"/>
                </a:solidFill>
                <a:latin typeface="黑体" panose="02010609060101010101" pitchFamily="49" charset="-122"/>
                <a:ea typeface="黑体" panose="02010609060101010101" pitchFamily="49" charset="-122"/>
                <a:cs typeface="Noto Sans SC"/>
              </a:rPr>
              <a:t>天然结构：</a:t>
            </a:r>
            <a:r>
              <a:rPr sz="1725" b="0" dirty="0" err="1">
                <a:solidFill>
                  <a:srgbClr val="222222"/>
                </a:solidFill>
                <a:latin typeface="Times New Roman" panose="02020603050405020304" pitchFamily="18" charset="0"/>
                <a:ea typeface="黑体" panose="02010609060101010101" pitchFamily="49" charset="-122"/>
                <a:cs typeface="Times New Roman" panose="02020603050405020304" pitchFamily="18" charset="0"/>
              </a:rPr>
              <a:t>backbone</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 </a:t>
            </a:r>
            <a:r>
              <a:rPr sz="1725" b="0" dirty="0" err="1">
                <a:solidFill>
                  <a:srgbClr val="222222"/>
                </a:solidFill>
                <a:latin typeface="Times New Roman" panose="02020603050405020304" pitchFamily="18" charset="0"/>
                <a:ea typeface="黑体" panose="02010609060101010101" pitchFamily="49" charset="-122"/>
                <a:cs typeface="Times New Roman" panose="02020603050405020304" pitchFamily="18" charset="0"/>
              </a:rPr>
              <a:t>frame</a:t>
            </a:r>
            <a:r>
              <a:rPr sz="1725" b="0" dirty="0" err="1">
                <a:solidFill>
                  <a:srgbClr val="222222"/>
                </a:solidFill>
                <a:latin typeface="黑体" panose="02010609060101010101" pitchFamily="49" charset="-122"/>
                <a:ea typeface="黑体" panose="02010609060101010101" pitchFamily="49" charset="-122"/>
                <a:cs typeface="Noto Sans SC"/>
              </a:rPr>
              <a:t>更准确</a:t>
            </a:r>
            <a:r>
              <a:rPr sz="1725" b="0" dirty="0">
                <a:solidFill>
                  <a:srgbClr val="222222"/>
                </a:solidFill>
                <a:latin typeface="黑体" panose="02010609060101010101" pitchFamily="49" charset="-122"/>
                <a:ea typeface="黑体" panose="02010609060101010101" pitchFamily="49" charset="-122"/>
                <a:cs typeface="Noto Sans SC"/>
              </a:rPr>
              <a:t>。
严重畸变的</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EMRNA：C4′ </a:t>
            </a:r>
            <a:r>
              <a:rPr sz="1725" b="0" dirty="0">
                <a:solidFill>
                  <a:srgbClr val="222222"/>
                </a:solidFill>
                <a:latin typeface="黑体" panose="02010609060101010101" pitchFamily="49" charset="-122"/>
                <a:ea typeface="黑体" panose="02010609060101010101" pitchFamily="49" charset="-122"/>
                <a:cs typeface="Noto Sans SC"/>
              </a:rPr>
              <a:t>在配对和堆叠上分别达到0.745 与0.759，明显优于</a:t>
            </a:r>
            <a:r>
              <a:rPr sz="1725" b="0" dirty="0">
                <a:solidFill>
                  <a:srgbClr val="222222"/>
                </a:solidFill>
                <a:latin typeface="Times New Roman" panose="02020603050405020304" pitchFamily="18" charset="0"/>
                <a:ea typeface="黑体" panose="02010609060101010101" pitchFamily="49" charset="-122"/>
                <a:cs typeface="Times New Roman" panose="02020603050405020304" pitchFamily="18" charset="0"/>
              </a:rPr>
              <a:t>frame</a:t>
            </a:r>
            <a:r>
              <a:rPr sz="1725" b="0" dirty="0">
                <a:solidFill>
                  <a:srgbClr val="222222"/>
                </a:solidFill>
                <a:latin typeface="黑体" panose="02010609060101010101" pitchFamily="49" charset="-122"/>
                <a:ea typeface="黑体" panose="02010609060101010101" pitchFamily="49" charset="-122"/>
                <a:cs typeface="Noto Sans SC"/>
              </a:rPr>
              <a:t>。</a:t>
            </a:r>
          </a:p>
        </p:txBody>
      </p:sp>
      <p:pic>
        <p:nvPicPr>
          <p:cNvPr id="11" name="图片 10"/>
          <p:cNvPicPr>
            <a:picLocks noChangeAspect="1"/>
          </p:cNvPicPr>
          <p:nvPr/>
        </p:nvPicPr>
        <p:blipFill>
          <a:blip r:embed="rId3"/>
          <a:stretch/>
        </p:blipFill>
        <p:spPr>
          <a:xfrm>
            <a:off x="393668" y="2801497"/>
            <a:ext cx="6613305" cy="3779032"/>
          </a:xfrm>
          <a:prstGeom prst="rect">
            <a:avLst/>
          </a:prstGeom>
        </p:spPr>
      </p:pic>
    </p:spTree>
    <p:extLst>
      <p:ext uri="{BB962C8B-B14F-4D97-AF65-F5344CB8AC3E}">
        <p14:creationId xmlns:p14="http://schemas.microsoft.com/office/powerpoint/2010/main" val="174455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8B6D56CB-092F-4850-B3EF-704C7854FCC8}"/>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13</a:t>
            </a:r>
          </a:p>
        </p:txBody>
      </p:sp>
      <p:sp>
        <p:nvSpPr>
          <p:cNvPr id="2" name="Google-Shape-533-p58-3">
            <a:extLst>
              <a:ext uri="{FF2B5EF4-FFF2-40B4-BE49-F238E27FC236}">
                <a16:creationId xmlns:a16="http://schemas.microsoft.com/office/drawing/2014/main" id="{BE6A24FE-B1CC-4C75-989F-2C11690A8788}"/>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dirty="0" err="1">
                <a:solidFill>
                  <a:srgbClr val="000000"/>
                </a:solidFill>
                <a:latin typeface="Noto Sans SC"/>
                <a:ea typeface="Noto Sans SC"/>
                <a:cs typeface="Noto Sans SC"/>
              </a:rPr>
              <a:t>局部错误减少，全局折叠保留</a:t>
            </a:r>
            <a:endParaRPr sz="3600" b="0" dirty="0">
              <a:solidFill>
                <a:srgbClr val="000000"/>
              </a:solidFill>
              <a:latin typeface="Noto Sans SC"/>
              <a:ea typeface="Noto Sans SC"/>
              <a:cs typeface="Noto Sans SC"/>
            </a:endParaRPr>
          </a:p>
        </p:txBody>
      </p:sp>
      <p:sp>
        <p:nvSpPr>
          <p:cNvPr id="5" name="Google-Shape-534-p58-5">
            <a:extLst>
              <a:ext uri="{FF2B5EF4-FFF2-40B4-BE49-F238E27FC236}">
                <a16:creationId xmlns:a16="http://schemas.microsoft.com/office/drawing/2014/main" id="{A1801711-82E6-48E2-86AC-BCF2F6E58664}"/>
              </a:ext>
            </a:extLst>
          </p:cNvPr>
          <p:cNvSpPr>
            <a:spLocks noGrp="1"/>
          </p:cNvSpPr>
          <p:nvPr/>
        </p:nvSpPr>
        <p:spPr>
          <a:xfrm>
            <a:off x="393668" y="2031968"/>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a:solidFill>
                  <a:srgbClr val="000000"/>
                </a:solidFill>
                <a:latin typeface="Noto Sans SC"/>
                <a:ea typeface="Noto Sans SC"/>
                <a:cs typeface="Noto Sans SC"/>
              </a:rPr>
              <a:t>Benchmark结果
</a:t>
            </a:r>
          </a:p>
          <a:p>
            <a:pPr algn="l">
              <a:lnSpc>
                <a:spcPct val="105000"/>
              </a:lnSpc>
              <a:buNone/>
              <a:defRPr sz="2400">
                <a:solidFill>
                  <a:srgbClr val="000000"/>
                </a:solidFill>
                <a:latin typeface="Helvetica Neue"/>
                <a:ea typeface="Helvetica Neue"/>
                <a:cs typeface="Helvetica Neue"/>
              </a:defRPr>
            </a:pPr>
            <a:r>
              <a:rPr sz="1725" b="0">
                <a:solidFill>
                  <a:srgbClr val="222222"/>
                </a:solidFill>
                <a:latin typeface="Noto Sans SC"/>
                <a:ea typeface="Noto Sans SC"/>
                <a:cs typeface="Noto Sans SC"/>
              </a:rPr>
              <a:t>Clashscore：116 → 8.16
键长偏差：0.0470 → 0.0143 Å
键角偏差：8.28° → 1.67°
16项指标中13项改善</a:t>
            </a:r>
          </a:p>
        </p:txBody>
      </p:sp>
      <p:pic>
        <p:nvPicPr>
          <p:cNvPr id="11" name="图片 10"/>
          <p:cNvPicPr>
            <a:picLocks noChangeAspect="1"/>
          </p:cNvPicPr>
          <p:nvPr/>
        </p:nvPicPr>
        <p:blipFill>
          <a:blip r:embed="rId3"/>
          <a:stretch/>
        </p:blipFill>
        <p:spPr>
          <a:xfrm>
            <a:off x="4908175" y="900616"/>
            <a:ext cx="4974781" cy="5957384"/>
          </a:xfrm>
          <a:prstGeom prst="rect">
            <a:avLst/>
          </a:prstGeom>
        </p:spPr>
      </p:pic>
    </p:spTree>
    <p:extLst>
      <p:ext uri="{BB962C8B-B14F-4D97-AF65-F5344CB8AC3E}">
        <p14:creationId xmlns:p14="http://schemas.microsoft.com/office/powerpoint/2010/main" val="1499561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E7F63235-EE1E-41CF-B8B6-2CA93E89F4EC}"/>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14</a:t>
            </a:r>
          </a:p>
        </p:txBody>
      </p:sp>
      <p:sp>
        <p:nvSpPr>
          <p:cNvPr id="2" name="Google-Shape-533-p58-3">
            <a:extLst>
              <a:ext uri="{FF2B5EF4-FFF2-40B4-BE49-F238E27FC236}">
                <a16:creationId xmlns:a16="http://schemas.microsoft.com/office/drawing/2014/main" id="{CF7E51AF-9F5D-4DE7-94C6-9E373CE1226D}"/>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a:solidFill>
                  <a:srgbClr val="000000"/>
                </a:solidFill>
                <a:latin typeface="Noto Sans SC"/>
                <a:ea typeface="Noto Sans SC"/>
                <a:cs typeface="Noto Sans SC"/>
              </a:rPr>
              <a:t>局部修复与拓扑保持兼得</a:t>
            </a:r>
          </a:p>
        </p:txBody>
      </p:sp>
      <p:sp>
        <p:nvSpPr>
          <p:cNvPr id="5" name="Google-Shape-534-p58-5">
            <a:extLst>
              <a:ext uri="{FF2B5EF4-FFF2-40B4-BE49-F238E27FC236}">
                <a16:creationId xmlns:a16="http://schemas.microsoft.com/office/drawing/2014/main" id="{9CFEE811-0514-4EA6-9E3D-99313EED2BE8}"/>
              </a:ext>
            </a:extLst>
          </p:cNvPr>
          <p:cNvSpPr>
            <a:spLocks noGrp="1"/>
          </p:cNvSpPr>
          <p:nvPr/>
        </p:nvSpPr>
        <p:spPr>
          <a:xfrm>
            <a:off x="393668" y="2031968"/>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a:solidFill>
                  <a:srgbClr val="000000"/>
                </a:solidFill>
                <a:latin typeface="Noto Sans SC"/>
                <a:ea typeface="Noto Sans SC"/>
                <a:cs typeface="Noto Sans SC"/>
              </a:rPr>
              <a:t>对照结论
</a:t>
            </a:r>
          </a:p>
          <a:p>
            <a:pPr algn="l">
              <a:lnSpc>
                <a:spcPct val="105000"/>
              </a:lnSpc>
              <a:buNone/>
              <a:defRPr sz="2400">
                <a:solidFill>
                  <a:srgbClr val="000000"/>
                </a:solidFill>
                <a:latin typeface="Helvetica Neue"/>
                <a:ea typeface="Helvetica Neue"/>
                <a:cs typeface="Helvetica Neue"/>
              </a:defRPr>
            </a:pPr>
            <a:r>
              <a:rPr sz="1725" b="0">
                <a:solidFill>
                  <a:srgbClr val="222222"/>
                </a:solidFill>
                <a:latin typeface="Noto Sans SC"/>
                <a:ea typeface="Noto Sans SC"/>
                <a:cs typeface="Noto Sans SC"/>
              </a:rPr>
              <a:t>RNArefine 在 16 项指标中有 11 项最好。MD 能减少碰撞，却可能破坏 TM-score 与 INF；QRNAS 保持拓扑，但局部几何改善较弱。</a:t>
            </a:r>
          </a:p>
        </p:txBody>
      </p:sp>
      <p:pic>
        <p:nvPicPr>
          <p:cNvPr id="11" name="图片 10"/>
          <p:cNvPicPr>
            <a:picLocks noChangeAspect="1"/>
          </p:cNvPicPr>
          <p:nvPr/>
        </p:nvPicPr>
        <p:blipFill>
          <a:blip r:embed="rId3"/>
          <a:stretch/>
        </p:blipFill>
        <p:spPr>
          <a:xfrm>
            <a:off x="6545940" y="1238250"/>
            <a:ext cx="4985999" cy="4667250"/>
          </a:xfrm>
          <a:prstGeom prst="rect">
            <a:avLst/>
          </a:prstGeom>
        </p:spPr>
      </p:pic>
    </p:spTree>
    <p:extLst>
      <p:ext uri="{BB962C8B-B14F-4D97-AF65-F5344CB8AC3E}">
        <p14:creationId xmlns:p14="http://schemas.microsoft.com/office/powerpoint/2010/main" val="2103867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Rectangle-5-1">
            <a:extLst>
              <a:ext uri="{FF2B5EF4-FFF2-40B4-BE49-F238E27FC236}">
                <a16:creationId xmlns:a16="http://schemas.microsoft.com/office/drawing/2014/main" id="{564BD60C-12A8-47AF-81F9-3F458A13E765}"/>
              </a:ext>
            </a:extLst>
          </p:cNvPr>
          <p:cNvSpPr>
            <a:spLocks noGrp="1"/>
          </p:cNvSpPr>
          <p:nvPr/>
        </p:nvSpPr>
        <p:spPr>
          <a:xfrm>
            <a:off x="393668" y="3022568"/>
            <a:ext cx="3568732" cy="2971800"/>
          </a:xfrm>
          <a:prstGeom prst="roundRect">
            <a:avLst>
              <a:gd name="adj" fmla="val 2564"/>
            </a:avLst>
          </a:prstGeom>
          <a:solidFill>
            <a:srgbClr val="F2F2F2"/>
          </a:solidFill>
        </p:spPr>
        <p:txBody>
          <a:bodyPr/>
          <a:lstStyle/>
          <a:p>
            <a:endParaRPr lang="zh-CN" altLang="en-US"/>
          </a:p>
        </p:txBody>
      </p:sp>
      <p:sp>
        <p:nvSpPr>
          <p:cNvPr id="2" name="Rounded-Rectangle-6-2">
            <a:extLst>
              <a:ext uri="{FF2B5EF4-FFF2-40B4-BE49-F238E27FC236}">
                <a16:creationId xmlns:a16="http://schemas.microsoft.com/office/drawing/2014/main" id="{ADF02084-0455-4E87-901D-B9518C1850CD}"/>
              </a:ext>
            </a:extLst>
          </p:cNvPr>
          <p:cNvSpPr>
            <a:spLocks noGrp="1"/>
          </p:cNvSpPr>
          <p:nvPr/>
        </p:nvSpPr>
        <p:spPr>
          <a:xfrm>
            <a:off x="4311682" y="3022568"/>
            <a:ext cx="3568732" cy="2971800"/>
          </a:xfrm>
          <a:prstGeom prst="roundRect">
            <a:avLst>
              <a:gd name="adj" fmla="val 2564"/>
            </a:avLst>
          </a:prstGeom>
          <a:solidFill>
            <a:srgbClr val="F2F2F2"/>
          </a:solidFill>
        </p:spPr>
        <p:txBody>
          <a:bodyPr/>
          <a:lstStyle/>
          <a:p>
            <a:endParaRPr lang="zh-CN" altLang="en-US"/>
          </a:p>
        </p:txBody>
      </p:sp>
      <p:sp>
        <p:nvSpPr>
          <p:cNvPr id="3" name="Rounded-Rectangle-7-3">
            <a:extLst>
              <a:ext uri="{FF2B5EF4-FFF2-40B4-BE49-F238E27FC236}">
                <a16:creationId xmlns:a16="http://schemas.microsoft.com/office/drawing/2014/main" id="{1CED88FD-391F-449B-AE6C-320E89E989ED}"/>
              </a:ext>
            </a:extLst>
          </p:cNvPr>
          <p:cNvSpPr>
            <a:spLocks noGrp="1"/>
          </p:cNvSpPr>
          <p:nvPr/>
        </p:nvSpPr>
        <p:spPr>
          <a:xfrm>
            <a:off x="8232267" y="3022568"/>
            <a:ext cx="3568732" cy="2971800"/>
          </a:xfrm>
          <a:prstGeom prst="roundRect">
            <a:avLst>
              <a:gd name="adj" fmla="val 2564"/>
            </a:avLst>
          </a:prstGeom>
          <a:solidFill>
            <a:srgbClr val="F2F2F2"/>
          </a:solidFill>
        </p:spPr>
        <p:txBody>
          <a:bodyPr/>
          <a:lstStyle/>
          <a:p>
            <a:endParaRPr lang="zh-CN" altLang="en-US"/>
          </a:p>
        </p:txBody>
      </p:sp>
      <p:sp>
        <p:nvSpPr>
          <p:cNvPr id="4" name="Slide-Number-Placeholder-1-4">
            <a:extLst>
              <a:ext uri="{FF2B5EF4-FFF2-40B4-BE49-F238E27FC236}">
                <a16:creationId xmlns:a16="http://schemas.microsoft.com/office/drawing/2014/main" id="{0626BE27-353F-4CCE-94D7-761FA886A455}"/>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15</a:t>
            </a:r>
          </a:p>
        </p:txBody>
      </p:sp>
      <p:sp>
        <p:nvSpPr>
          <p:cNvPr id="5" name="Title-2-5">
            <a:extLst>
              <a:ext uri="{FF2B5EF4-FFF2-40B4-BE49-F238E27FC236}">
                <a16:creationId xmlns:a16="http://schemas.microsoft.com/office/drawing/2014/main" id="{8E48A088-0570-49CC-86CF-720E6BE80A04}"/>
              </a:ext>
            </a:extLst>
          </p:cNvPr>
          <p:cNvSpPr>
            <a:spLocks noGrp="1"/>
          </p:cNvSpPr>
          <p:nvPr/>
        </p:nvSpPr>
        <p:spPr>
          <a:xfrm>
            <a:off x="393668" y="344043"/>
            <a:ext cx="11404568" cy="1047464"/>
          </a:xfrm>
          <a:prstGeom prst="rect">
            <a:avLst/>
          </a:prstGeom>
        </p:spPr>
        <p:txBody>
          <a:bodyPr lIns="0" tIns="0" rIns="0" bIns="0" anchor="t">
            <a:normAutofit/>
          </a:bodyPr>
          <a:lstStyle/>
          <a:p>
            <a:pPr algn="l">
              <a:lnSpc>
                <a:spcPct val="105000"/>
              </a:lnSpc>
              <a:buNone/>
              <a:defRPr sz="2900">
                <a:solidFill>
                  <a:srgbClr val="000000"/>
                </a:solidFill>
                <a:latin typeface="Helvetica Neue"/>
                <a:ea typeface="Helvetica Neue"/>
                <a:cs typeface="Helvetica Neue"/>
              </a:defRPr>
            </a:pPr>
            <a:r>
              <a:rPr sz="3600" b="0">
                <a:solidFill>
                  <a:srgbClr val="000000"/>
                </a:solidFill>
                <a:latin typeface="Noto Sans SC"/>
                <a:ea typeface="Noto Sans SC"/>
                <a:cs typeface="Noto Sans SC"/>
              </a:rPr>
              <a:t>消融实验表明：相互作用约束和两阶段优化都不可替代</a:t>
            </a:r>
          </a:p>
        </p:txBody>
      </p:sp>
      <p:sp>
        <p:nvSpPr>
          <p:cNvPr id="6" name="Content-Placeholder-9-6">
            <a:extLst>
              <a:ext uri="{FF2B5EF4-FFF2-40B4-BE49-F238E27FC236}">
                <a16:creationId xmlns:a16="http://schemas.microsoft.com/office/drawing/2014/main" id="{C181E1D4-2C60-4E5A-B947-89AE6D4642E9}"/>
              </a:ext>
            </a:extLst>
          </p:cNvPr>
          <p:cNvSpPr>
            <a:spLocks noGrp="1"/>
          </p:cNvSpPr>
          <p:nvPr/>
        </p:nvSpPr>
        <p:spPr>
          <a:xfrm>
            <a:off x="702374" y="4900613"/>
            <a:ext cx="2949607" cy="819150"/>
          </a:xfrm>
          <a:prstGeom prst="rect">
            <a:avLst/>
          </a:prstGeom>
        </p:spPr>
        <p:txBody>
          <a:bodyPr lIns="91440" tIns="45720" rIns="91440" bIns="45720">
            <a:normAutofit/>
          </a:bodyPr>
          <a:lstStyle/>
          <a:p>
            <a:pPr algn="l">
              <a:lnSpc>
                <a:spcPct val="105000"/>
              </a:lnSpc>
              <a:buNone/>
              <a:defRPr sz="2400">
                <a:solidFill>
                  <a:srgbClr val="000000"/>
                </a:solidFill>
                <a:latin typeface="Helvetica Neue"/>
                <a:ea typeface="Helvetica Neue"/>
                <a:cs typeface="Helvetica Neue"/>
              </a:defRPr>
            </a:pPr>
            <a:r>
              <a:rPr sz="1800" b="1">
                <a:solidFill>
                  <a:srgbClr val="000000"/>
                </a:solidFill>
                <a:latin typeface="Noto Sans SC"/>
                <a:ea typeface="Noto Sans SC"/>
                <a:cs typeface="Noto Sans SC"/>
              </a:rPr>
              <a:t>MC only
负责探索</a:t>
            </a:r>
          </a:p>
        </p:txBody>
      </p:sp>
      <p:sp>
        <p:nvSpPr>
          <p:cNvPr id="7" name="Content-Placeholder-10-7">
            <a:extLst>
              <a:ext uri="{FF2B5EF4-FFF2-40B4-BE49-F238E27FC236}">
                <a16:creationId xmlns:a16="http://schemas.microsoft.com/office/drawing/2014/main" id="{C94F8A27-5FD2-4BD6-ACCA-56B18CF16A05}"/>
              </a:ext>
            </a:extLst>
          </p:cNvPr>
          <p:cNvSpPr>
            <a:spLocks noGrp="1"/>
          </p:cNvSpPr>
          <p:nvPr/>
        </p:nvSpPr>
        <p:spPr>
          <a:xfrm>
            <a:off x="8541830" y="4900613"/>
            <a:ext cx="2949607" cy="819150"/>
          </a:xfrm>
          <a:prstGeom prst="rect">
            <a:avLst/>
          </a:prstGeom>
        </p:spPr>
        <p:txBody>
          <a:bodyPr lIns="91440" tIns="45720" rIns="91440" bIns="45720">
            <a:normAutofit/>
          </a:bodyPr>
          <a:lstStyle/>
          <a:p>
            <a:pPr algn="l">
              <a:lnSpc>
                <a:spcPct val="105000"/>
              </a:lnSpc>
              <a:buNone/>
              <a:defRPr sz="2400">
                <a:solidFill>
                  <a:srgbClr val="000000"/>
                </a:solidFill>
                <a:latin typeface="Helvetica Neue"/>
                <a:ea typeface="Helvetica Neue"/>
                <a:cs typeface="Helvetica Neue"/>
              </a:defRPr>
            </a:pPr>
            <a:r>
              <a:rPr sz="1800" b="1">
                <a:solidFill>
                  <a:srgbClr val="000000"/>
                </a:solidFill>
                <a:latin typeface="Noto Sans SC"/>
                <a:ea typeface="Noto Sans SC"/>
                <a:cs typeface="Noto Sans SC"/>
              </a:rPr>
              <a:t>MC + L-BFGS
综合得分最高</a:t>
            </a:r>
          </a:p>
        </p:txBody>
      </p:sp>
      <p:sp>
        <p:nvSpPr>
          <p:cNvPr id="8" name="Content-Placeholder-11-8">
            <a:extLst>
              <a:ext uri="{FF2B5EF4-FFF2-40B4-BE49-F238E27FC236}">
                <a16:creationId xmlns:a16="http://schemas.microsoft.com/office/drawing/2014/main" id="{A5389E66-2643-48CA-8C74-6222D64FC6C0}"/>
              </a:ext>
            </a:extLst>
          </p:cNvPr>
          <p:cNvSpPr>
            <a:spLocks noGrp="1"/>
          </p:cNvSpPr>
          <p:nvPr/>
        </p:nvSpPr>
        <p:spPr>
          <a:xfrm>
            <a:off x="4621244" y="4900613"/>
            <a:ext cx="2949607" cy="819150"/>
          </a:xfrm>
          <a:prstGeom prst="rect">
            <a:avLst/>
          </a:prstGeom>
        </p:spPr>
        <p:txBody>
          <a:bodyPr lIns="91440" tIns="45720" rIns="91440" bIns="45720">
            <a:normAutofit/>
          </a:bodyPr>
          <a:lstStyle/>
          <a:p>
            <a:pPr algn="l">
              <a:lnSpc>
                <a:spcPct val="105000"/>
              </a:lnSpc>
              <a:buNone/>
              <a:defRPr sz="2400">
                <a:solidFill>
                  <a:srgbClr val="000000"/>
                </a:solidFill>
                <a:latin typeface="Helvetica Neue"/>
                <a:ea typeface="Helvetica Neue"/>
                <a:cs typeface="Helvetica Neue"/>
              </a:defRPr>
            </a:pPr>
            <a:r>
              <a:rPr sz="1800" b="1">
                <a:solidFill>
                  <a:srgbClr val="000000"/>
                </a:solidFill>
                <a:latin typeface="Noto Sans SC"/>
                <a:ea typeface="Noto Sans SC"/>
                <a:cs typeface="Noto Sans SC"/>
              </a:rPr>
              <a:t>L-BFGS only
负责收敛</a:t>
            </a:r>
          </a:p>
        </p:txBody>
      </p:sp>
      <p:sp>
        <p:nvSpPr>
          <p:cNvPr id="9" name="Content-Placeholder-9-9">
            <a:extLst>
              <a:ext uri="{FF2B5EF4-FFF2-40B4-BE49-F238E27FC236}">
                <a16:creationId xmlns:a16="http://schemas.microsoft.com/office/drawing/2014/main" id="{066D757C-D695-4573-822F-4A813FF6D606}"/>
              </a:ext>
            </a:extLst>
          </p:cNvPr>
          <p:cNvSpPr>
            <a:spLocks noGrp="1"/>
          </p:cNvSpPr>
          <p:nvPr/>
        </p:nvSpPr>
        <p:spPr>
          <a:xfrm>
            <a:off x="702374" y="3429000"/>
            <a:ext cx="2940082" cy="1359313"/>
          </a:xfrm>
          <a:prstGeom prst="rect">
            <a:avLst/>
          </a:prstGeom>
        </p:spPr>
        <p:txBody>
          <a:bodyPr lIns="0" tIns="0" rIns="0" bIns="0" anchor="b">
            <a:normAutofit/>
          </a:bodyPr>
          <a:lstStyle/>
          <a:p>
            <a:pPr algn="l">
              <a:lnSpc>
                <a:spcPct val="105000"/>
              </a:lnSpc>
              <a:buNone/>
              <a:defRPr sz="2400">
                <a:solidFill>
                  <a:srgbClr val="000000"/>
                </a:solidFill>
                <a:latin typeface="Helvetica Neue"/>
                <a:ea typeface="Helvetica Neue"/>
                <a:cs typeface="Helvetica Neue"/>
              </a:defRPr>
            </a:pPr>
            <a:r>
              <a:rPr sz="4350" b="1">
                <a:solidFill>
                  <a:srgbClr val="3D8DFF"/>
                </a:solidFill>
                <a:latin typeface="Noto Sans SC"/>
                <a:ea typeface="Noto Sans SC"/>
                <a:cs typeface="Noto Sans SC"/>
              </a:rPr>
              <a:t>0.808</a:t>
            </a:r>
          </a:p>
        </p:txBody>
      </p:sp>
      <p:sp>
        <p:nvSpPr>
          <p:cNvPr id="10" name="Content-Placeholder-9-10">
            <a:extLst>
              <a:ext uri="{FF2B5EF4-FFF2-40B4-BE49-F238E27FC236}">
                <a16:creationId xmlns:a16="http://schemas.microsoft.com/office/drawing/2014/main" id="{2E8548F3-442C-4E8C-A9EC-DAEA24EB6CB9}"/>
              </a:ext>
            </a:extLst>
          </p:cNvPr>
          <p:cNvSpPr>
            <a:spLocks noGrp="1"/>
          </p:cNvSpPr>
          <p:nvPr/>
        </p:nvSpPr>
        <p:spPr>
          <a:xfrm>
            <a:off x="4612958" y="3429000"/>
            <a:ext cx="2940082" cy="1359313"/>
          </a:xfrm>
          <a:prstGeom prst="rect">
            <a:avLst/>
          </a:prstGeom>
        </p:spPr>
        <p:txBody>
          <a:bodyPr lIns="0" tIns="0" rIns="0" bIns="0" anchor="b">
            <a:normAutofit/>
          </a:bodyPr>
          <a:lstStyle/>
          <a:p>
            <a:pPr algn="l">
              <a:lnSpc>
                <a:spcPct val="105000"/>
              </a:lnSpc>
              <a:buNone/>
              <a:defRPr sz="2400">
                <a:solidFill>
                  <a:srgbClr val="000000"/>
                </a:solidFill>
                <a:latin typeface="Helvetica Neue"/>
                <a:ea typeface="Helvetica Neue"/>
                <a:cs typeface="Helvetica Neue"/>
              </a:defRPr>
            </a:pPr>
            <a:r>
              <a:rPr sz="4350" b="1">
                <a:solidFill>
                  <a:srgbClr val="3D8DFF"/>
                </a:solidFill>
                <a:latin typeface="Noto Sans SC"/>
                <a:ea typeface="Noto Sans SC"/>
                <a:cs typeface="Noto Sans SC"/>
              </a:rPr>
              <a:t>1.19</a:t>
            </a:r>
          </a:p>
        </p:txBody>
      </p:sp>
      <p:sp>
        <p:nvSpPr>
          <p:cNvPr id="11" name="Content-Placeholder-9-11">
            <a:extLst>
              <a:ext uri="{FF2B5EF4-FFF2-40B4-BE49-F238E27FC236}">
                <a16:creationId xmlns:a16="http://schemas.microsoft.com/office/drawing/2014/main" id="{6A9717F3-5AEB-46BF-8AD7-E2CCF5707062}"/>
              </a:ext>
            </a:extLst>
          </p:cNvPr>
          <p:cNvSpPr>
            <a:spLocks noGrp="1"/>
          </p:cNvSpPr>
          <p:nvPr/>
        </p:nvSpPr>
        <p:spPr>
          <a:xfrm>
            <a:off x="8562404" y="3429000"/>
            <a:ext cx="2940082" cy="1359313"/>
          </a:xfrm>
          <a:prstGeom prst="rect">
            <a:avLst/>
          </a:prstGeom>
        </p:spPr>
        <p:txBody>
          <a:bodyPr lIns="0" tIns="0" rIns="0" bIns="0" anchor="b">
            <a:normAutofit/>
          </a:bodyPr>
          <a:lstStyle/>
          <a:p>
            <a:pPr algn="l">
              <a:lnSpc>
                <a:spcPct val="105000"/>
              </a:lnSpc>
              <a:buNone/>
              <a:defRPr sz="2400">
                <a:solidFill>
                  <a:srgbClr val="000000"/>
                </a:solidFill>
                <a:latin typeface="Helvetica Neue"/>
                <a:ea typeface="Helvetica Neue"/>
                <a:cs typeface="Helvetica Neue"/>
              </a:defRPr>
            </a:pPr>
            <a:r>
              <a:rPr sz="4350" b="1">
                <a:solidFill>
                  <a:srgbClr val="3D8DFF"/>
                </a:solidFill>
                <a:latin typeface="Noto Sans SC"/>
                <a:ea typeface="Noto Sans SC"/>
                <a:cs typeface="Noto Sans SC"/>
              </a:rPr>
              <a:t>1.31</a:t>
            </a:r>
          </a:p>
        </p:txBody>
      </p:sp>
      <p:sp>
        <p:nvSpPr>
          <p:cNvPr id="12" name="Content-Placeholder-15-12">
            <a:extLst>
              <a:ext uri="{FF2B5EF4-FFF2-40B4-BE49-F238E27FC236}">
                <a16:creationId xmlns:a16="http://schemas.microsoft.com/office/drawing/2014/main" id="{B408EC68-E68F-4182-A3FE-CC13AEC42EF1}"/>
              </a:ext>
            </a:extLst>
          </p:cNvPr>
          <p:cNvSpPr>
            <a:spLocks noGrp="1"/>
          </p:cNvSpPr>
          <p:nvPr/>
        </p:nvSpPr>
        <p:spPr>
          <a:xfrm>
            <a:off x="393668" y="1138333"/>
            <a:ext cx="11404568" cy="1599438"/>
          </a:xfrm>
          <a:prstGeom prst="rect">
            <a:avLst/>
          </a:prstGeom>
        </p:spPr>
        <p:txBody>
          <a:bodyPr lIns="0" tIns="0" rIns="0" bIns="0">
            <a:noAutofit/>
          </a:bodyPr>
          <a:lstStyle/>
          <a:p>
            <a:pPr algn="l">
              <a:lnSpc>
                <a:spcPct val="105000"/>
              </a:lnSpc>
              <a:buNone/>
              <a:defRPr sz="1600">
                <a:solidFill>
                  <a:srgbClr val="000000"/>
                </a:solidFill>
                <a:latin typeface="Helvetica Neue"/>
                <a:ea typeface="Helvetica Neue"/>
                <a:cs typeface="Helvetica Neue"/>
              </a:defRPr>
            </a:pPr>
            <a:r>
              <a:rPr sz="1875" b="1">
                <a:solidFill>
                  <a:srgbClr val="000000"/>
                </a:solidFill>
                <a:latin typeface="Noto Sans SC"/>
                <a:ea typeface="Noto Sans SC"/>
                <a:cs typeface="Noto Sans SC"/>
              </a:rPr>
              <a:t>两条证据
</a:t>
            </a:r>
          </a:p>
          <a:p>
            <a:pPr algn="l">
              <a:lnSpc>
                <a:spcPct val="105000"/>
              </a:lnSpc>
              <a:buNone/>
              <a:defRPr sz="1600">
                <a:solidFill>
                  <a:srgbClr val="000000"/>
                </a:solidFill>
                <a:latin typeface="Helvetica Neue"/>
                <a:ea typeface="Helvetica Neue"/>
                <a:cs typeface="Helvetica Neue"/>
              </a:defRPr>
            </a:pPr>
            <a:r>
              <a:rPr sz="1575" b="0">
                <a:solidFill>
                  <a:srgbClr val="222222"/>
                </a:solidFill>
                <a:latin typeface="Noto Sans SC"/>
                <a:ea typeface="Noto Sans SC"/>
                <a:cs typeface="Noto Sans SC"/>
              </a:rPr>
              <a:t>去掉相互作用能量会进一步减少碰撞，却降低 TM-score、GDT-TS、INF 与 HB-score；只做一个优化阶段也不够。</a:t>
            </a:r>
          </a:p>
        </p:txBody>
      </p:sp>
    </p:spTree>
    <p:extLst>
      <p:ext uri="{BB962C8B-B14F-4D97-AF65-F5344CB8AC3E}">
        <p14:creationId xmlns:p14="http://schemas.microsoft.com/office/powerpoint/2010/main" val="1414578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3EDB7317-8F5F-4C8E-932E-F39CDAF196F8}"/>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16</a:t>
            </a:r>
          </a:p>
        </p:txBody>
      </p:sp>
      <p:sp>
        <p:nvSpPr>
          <p:cNvPr id="2" name="Google-Shape-533-p58-3">
            <a:extLst>
              <a:ext uri="{FF2B5EF4-FFF2-40B4-BE49-F238E27FC236}">
                <a16:creationId xmlns:a16="http://schemas.microsoft.com/office/drawing/2014/main" id="{F06352F2-ED50-4918-AF0D-B2C3773215E8}"/>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a:solidFill>
                  <a:srgbClr val="000000"/>
                </a:solidFill>
                <a:latin typeface="Noto Sans SC"/>
                <a:ea typeface="Noto Sans SC"/>
                <a:cs typeface="Noto Sans SC"/>
              </a:rPr>
              <a:t>高度畸变模型也能被修复</a:t>
            </a:r>
          </a:p>
        </p:txBody>
      </p:sp>
      <p:sp>
        <p:nvSpPr>
          <p:cNvPr id="3" name="Picture-3-4-backing">
            <a:extLst>
              <a:ext uri="{FF2B5EF4-FFF2-40B4-BE49-F238E27FC236}">
                <a16:creationId xmlns:a16="http://schemas.microsoft.com/office/drawing/2014/main" id="{90BD3FD9-48AF-417C-923A-7E767B4276F1}"/>
              </a:ext>
            </a:extLst>
          </p:cNvPr>
          <p:cNvSpPr>
            <a:spLocks noGrp="1"/>
          </p:cNvSpPr>
          <p:nvPr/>
        </p:nvSpPr>
        <p:spPr>
          <a:xfrm>
            <a:off x="6269069" y="396431"/>
            <a:ext cx="5539740" cy="5602034"/>
          </a:xfrm>
          <a:prstGeom prst="roundRect">
            <a:avLst>
              <a:gd name="adj" fmla="val 1376"/>
            </a:avLst>
          </a:prstGeom>
          <a:solidFill>
            <a:srgbClr val="EAF5FB"/>
          </a:solidFill>
          <a:ln w="9525">
            <a:solidFill>
              <a:srgbClr val="B8BCC4"/>
            </a:solidFill>
            <a:prstDash val="solid"/>
          </a:ln>
        </p:spPr>
        <p:txBody>
          <a:bodyPr/>
          <a:lstStyle/>
          <a:p>
            <a:endParaRPr lang="zh-CN" altLang="en-US"/>
          </a:p>
        </p:txBody>
      </p:sp>
      <p:sp>
        <p:nvSpPr>
          <p:cNvPr id="5" name="Google-Shape-534-p58-5">
            <a:extLst>
              <a:ext uri="{FF2B5EF4-FFF2-40B4-BE49-F238E27FC236}">
                <a16:creationId xmlns:a16="http://schemas.microsoft.com/office/drawing/2014/main" id="{2808EDC2-CC3A-4D81-BA69-4BA4CD31C790}"/>
              </a:ext>
            </a:extLst>
          </p:cNvPr>
          <p:cNvSpPr>
            <a:spLocks noGrp="1"/>
          </p:cNvSpPr>
          <p:nvPr/>
        </p:nvSpPr>
        <p:spPr>
          <a:xfrm>
            <a:off x="393668" y="2031968"/>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a:solidFill>
                  <a:srgbClr val="000000"/>
                </a:solidFill>
                <a:latin typeface="Noto Sans SC"/>
                <a:ea typeface="Noto Sans SC"/>
                <a:cs typeface="Noto Sans SC"/>
              </a:rPr>
              <a:t>EMRNA结果
</a:t>
            </a:r>
          </a:p>
          <a:p>
            <a:pPr algn="l">
              <a:lnSpc>
                <a:spcPct val="105000"/>
              </a:lnSpc>
              <a:buNone/>
              <a:defRPr sz="2400">
                <a:solidFill>
                  <a:srgbClr val="000000"/>
                </a:solidFill>
                <a:latin typeface="Helvetica Neue"/>
                <a:ea typeface="Helvetica Neue"/>
                <a:cs typeface="Helvetica Neue"/>
              </a:defRPr>
            </a:pPr>
            <a:r>
              <a:rPr sz="1725" b="0">
                <a:solidFill>
                  <a:srgbClr val="222222"/>
                </a:solidFill>
                <a:latin typeface="Noto Sans SC"/>
                <a:ea typeface="Noto Sans SC"/>
                <a:cs typeface="Noto Sans SC"/>
              </a:rPr>
              <a:t>Clashscore：176 → 9.04 / 5.53
断裂的共价链恢复连续
局部几何和整体 TM-score 同时改善</a:t>
            </a:r>
          </a:p>
        </p:txBody>
      </p:sp>
      <p:pic>
        <p:nvPicPr>
          <p:cNvPr id="11" name="图片 10"/>
          <p:cNvPicPr>
            <a:picLocks noChangeAspect="1"/>
          </p:cNvPicPr>
          <p:nvPr/>
        </p:nvPicPr>
        <p:blipFill>
          <a:blip r:embed="rId3"/>
          <a:stretch/>
        </p:blipFill>
        <p:spPr>
          <a:xfrm>
            <a:off x="6687394" y="1238250"/>
            <a:ext cx="4703091" cy="4667250"/>
          </a:xfrm>
          <a:prstGeom prst="rect">
            <a:avLst/>
          </a:prstGeom>
        </p:spPr>
      </p:pic>
    </p:spTree>
    <p:extLst>
      <p:ext uri="{BB962C8B-B14F-4D97-AF65-F5344CB8AC3E}">
        <p14:creationId xmlns:p14="http://schemas.microsoft.com/office/powerpoint/2010/main" val="771463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Shape-532-p58-2">
            <a:extLst>
              <a:ext uri="{FF2B5EF4-FFF2-40B4-BE49-F238E27FC236}">
                <a16:creationId xmlns:a16="http://schemas.microsoft.com/office/drawing/2014/main" id="{5460346E-24D0-4B49-89FD-14AC6EFF5BFC}"/>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17</a:t>
            </a:r>
          </a:p>
        </p:txBody>
      </p:sp>
      <p:sp>
        <p:nvSpPr>
          <p:cNvPr id="2" name="Google-Shape-533-p58-3">
            <a:extLst>
              <a:ext uri="{FF2B5EF4-FFF2-40B4-BE49-F238E27FC236}">
                <a16:creationId xmlns:a16="http://schemas.microsoft.com/office/drawing/2014/main" id="{83C10224-6E31-41EA-B034-1E089F9EA1D3}"/>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5000"/>
              </a:lnSpc>
              <a:buNone/>
              <a:defRPr sz="2900">
                <a:solidFill>
                  <a:srgbClr val="000000"/>
                </a:solidFill>
                <a:latin typeface="Helvetica Neue"/>
                <a:ea typeface="Helvetica Neue"/>
                <a:cs typeface="Helvetica Neue"/>
              </a:defRPr>
            </a:pPr>
            <a:r>
              <a:rPr sz="3600" b="0">
                <a:solidFill>
                  <a:srgbClr val="000000"/>
                </a:solidFill>
                <a:latin typeface="Noto Sans SC"/>
                <a:ea typeface="Noto Sans SC"/>
                <a:cs typeface="Noto Sans SC"/>
              </a:rPr>
              <a:t>CASP16模型局部质量提升</a:t>
            </a:r>
          </a:p>
        </p:txBody>
      </p:sp>
      <p:sp>
        <p:nvSpPr>
          <p:cNvPr id="3" name="Picture-3-4-backing">
            <a:extLst>
              <a:ext uri="{FF2B5EF4-FFF2-40B4-BE49-F238E27FC236}">
                <a16:creationId xmlns:a16="http://schemas.microsoft.com/office/drawing/2014/main" id="{95E1C6DC-38E0-4A84-8DD7-D9E05AD6E772}"/>
              </a:ext>
            </a:extLst>
          </p:cNvPr>
          <p:cNvSpPr>
            <a:spLocks noGrp="1"/>
          </p:cNvSpPr>
          <p:nvPr/>
        </p:nvSpPr>
        <p:spPr>
          <a:xfrm>
            <a:off x="6269069" y="396431"/>
            <a:ext cx="5539740" cy="5602034"/>
          </a:xfrm>
          <a:prstGeom prst="roundRect">
            <a:avLst>
              <a:gd name="adj" fmla="val 1376"/>
            </a:avLst>
          </a:prstGeom>
          <a:solidFill>
            <a:srgbClr val="EAF5FB"/>
          </a:solidFill>
          <a:ln w="9525">
            <a:solidFill>
              <a:srgbClr val="B8BCC4"/>
            </a:solidFill>
            <a:prstDash val="solid"/>
          </a:ln>
        </p:spPr>
        <p:txBody>
          <a:bodyPr/>
          <a:lstStyle/>
          <a:p>
            <a:endParaRPr lang="zh-CN" altLang="en-US"/>
          </a:p>
        </p:txBody>
      </p:sp>
      <p:sp>
        <p:nvSpPr>
          <p:cNvPr id="5" name="Google-Shape-534-p58-5">
            <a:extLst>
              <a:ext uri="{FF2B5EF4-FFF2-40B4-BE49-F238E27FC236}">
                <a16:creationId xmlns:a16="http://schemas.microsoft.com/office/drawing/2014/main" id="{62F7C497-FE99-45AA-B01D-B54A22B35042}"/>
              </a:ext>
            </a:extLst>
          </p:cNvPr>
          <p:cNvSpPr>
            <a:spLocks noGrp="1"/>
          </p:cNvSpPr>
          <p:nvPr/>
        </p:nvSpPr>
        <p:spPr>
          <a:xfrm>
            <a:off x="393668" y="2031968"/>
            <a:ext cx="5537168" cy="3962400"/>
          </a:xfrm>
          <a:prstGeom prst="rect">
            <a:avLst/>
          </a:prstGeom>
        </p:spPr>
        <p:txBody>
          <a:bodyPr wrap="square" lIns="0" tIns="0" rIns="0" bIns="0" anchor="t">
            <a:noAutofit/>
          </a:bodyPr>
          <a:lstStyle/>
          <a:p>
            <a:pPr algn="l">
              <a:lnSpc>
                <a:spcPct val="105000"/>
              </a:lnSpc>
              <a:buNone/>
              <a:defRPr sz="2400">
                <a:solidFill>
                  <a:srgbClr val="000000"/>
                </a:solidFill>
                <a:latin typeface="Helvetica Neue"/>
                <a:ea typeface="Helvetica Neue"/>
                <a:cs typeface="Helvetica Neue"/>
              </a:defRPr>
            </a:pPr>
            <a:r>
              <a:rPr sz="2100" b="1">
                <a:solidFill>
                  <a:srgbClr val="000000"/>
                </a:solidFill>
                <a:latin typeface="Noto Sans SC"/>
                <a:ea typeface="Noto Sans SC"/>
                <a:cs typeface="Noto Sans SC"/>
              </a:rPr>
              <a:t>跨方法泛化
</a:t>
            </a:r>
          </a:p>
          <a:p>
            <a:pPr algn="l">
              <a:lnSpc>
                <a:spcPct val="105000"/>
              </a:lnSpc>
              <a:buNone/>
              <a:defRPr sz="2400">
                <a:solidFill>
                  <a:srgbClr val="000000"/>
                </a:solidFill>
                <a:latin typeface="Helvetica Neue"/>
                <a:ea typeface="Helvetica Neue"/>
                <a:cs typeface="Helvetica Neue"/>
              </a:defRPr>
            </a:pPr>
            <a:r>
              <a:rPr sz="1725" b="0">
                <a:solidFill>
                  <a:srgbClr val="222222"/>
                </a:solidFill>
                <a:latin typeface="Noto Sans SC"/>
                <a:ea typeface="Noto Sans SC"/>
                <a:cs typeface="Noto Sans SC"/>
              </a:rPr>
              <a:t>前30个参赛组中有28组的估计排名分数提高；前15组全部提高。收益集中在全局折叠较好、局部质量较弱的模型。</a:t>
            </a:r>
          </a:p>
        </p:txBody>
      </p:sp>
      <p:pic>
        <p:nvPicPr>
          <p:cNvPr id="11" name="图片 10"/>
          <p:cNvPicPr>
            <a:picLocks noChangeAspect="1"/>
          </p:cNvPicPr>
          <p:nvPr/>
        </p:nvPicPr>
        <p:blipFill>
          <a:blip r:embed="rId3"/>
          <a:stretch/>
        </p:blipFill>
        <p:spPr>
          <a:xfrm>
            <a:off x="6269069" y="1476913"/>
            <a:ext cx="5539740" cy="4142300"/>
          </a:xfrm>
          <a:prstGeom prst="rect">
            <a:avLst/>
          </a:prstGeom>
        </p:spPr>
      </p:pic>
    </p:spTree>
    <p:extLst>
      <p:ext uri="{BB962C8B-B14F-4D97-AF65-F5344CB8AC3E}">
        <p14:creationId xmlns:p14="http://schemas.microsoft.com/office/powerpoint/2010/main" val="535804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TotalTime>
  <Words>1195</Words>
  <Application>Microsoft Office PowerPoint</Application>
  <DocSecurity>0</DocSecurity>
  <PresentationFormat>宽屏</PresentationFormat>
  <Paragraphs>145</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Noto Sans SC</vt:lpstr>
      <vt:lpstr>黑体</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庭浩 夏</cp:lastModifiedBy>
  <cp:revision>103</cp:revision>
  <dcterms:created xsi:type="dcterms:W3CDTF">2026-07-28T14:00:28Z</dcterms:created>
  <dcterms:modified xsi:type="dcterms:W3CDTF">2026-08-03T10:30:05Z</dcterms:modified>
</cp:coreProperties>
</file>